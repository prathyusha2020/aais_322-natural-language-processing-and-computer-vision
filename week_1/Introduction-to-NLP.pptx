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Data</c:v>
                </c:pt>
              </c:strCache>
            </c:strRef>
          </c:tx>
          <c:spPr>
            <a:solidFill>
              <a:schemeClr val="accent1"/>
            </a:solidFill>
            <a:ln w="9525" cap="flat">
              <a:solidFill>
                <a:srgbClr val="F9F9F9"/>
              </a:solidFill>
              <a:prstDash val="solid"/>
              <a:round/>
            </a:ln>
            <a:effectLst/>
          </c:spPr>
          <c:dPt>
            <c:idx val="0"/>
            <c:bubble3D val="0"/>
            <c:spPr>
              <a:solidFill>
                <a:srgbClr val="2EC4B6"/>
              </a:solidFill>
              <a:effectLst/>
            </c:spPr>
          </c:dPt>
          <c:dPt>
            <c:idx val="1"/>
            <c:bubble3D val="0"/>
            <c:spPr>
              <a:solidFill>
                <a:srgbClr val="E2E8F2"/>
              </a:solidFill>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Unstructured text</c:v>
                </c:pt>
                <c:pt idx="1">
                  <c:v>Structured data</c:v>
                </c:pt>
              </c:strCache>
            </c:strRef>
          </c:cat>
          <c:val>
            <c:numRef>
              <c:f>Sheet1!$B$2:$B$3</c:f>
              <c:numCache>
                <c:ptCount val="2"/>
                <c:pt idx="0">
                  <c:v>80</c:v>
                </c:pt>
                <c:pt idx="1">
                  <c:v>20</c:v>
                </c:pt>
              </c:numCache>
            </c:numRef>
          </c:val>
        </c:ser>
        <c:firstSliceAng val="0"/>
        <c:holeSize val="66"/>
      </c:doughnutChart>
      <c:spPr>
        <a:noFill/>
        <a:ln>
          <a:noFill/>
        </a:ln>
        <a:effectLst/>
      </c:spPr>
    </c:plotArea>
    <c:legend>
      <c:legendPos val="b"/>
      <c:overlay val="0"/>
      <c:txPr>
        <a:bodyPr/>
        <a:lstStyle/>
        <a:p>
          <a:pPr>
            <a:defRPr sz="1300">
              <a:solidFill>
                <a:srgbClr val="5C6784"/>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Welcome everyone! Today we’ll dive into Natural Language Processing—often called NLP. It’s the field of AI that enables computers to understand, interpret, and generate human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its core, NLP is a branch of artificial intelligence and linguistics. It sits at the intersection of computer science, linguistics, and machine learning. The goal is simple but ambitious: to enable computers to understand, interpret, and even generate human language. Think about all the different forms of language—spoken words, text messages, emails, books, tweets—and imagine how varied they are. NLP tries to unify that complexity into a system that computers can process. Another way to think about it is: NLP is about teaching computers how to “speak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 we care about NLP? Because the vast majority of the world’s data—close to 80%—is in text form. That includes everything from emails and news articles to medical records and social media posts. Without NLP, this data is basically invisible to machines. But with NLP, we can unlock insights, automate repetitive tasks, and enable entirely new ways of interacting with technology. For example, Google uses NLP to make search results smarter. Netflix uses NLP to personalize recommendations. Businesses use it to analyze customer feedback at scale. Simply put, NLP is the key to making sense of the world’s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NLP is a big field, but most applications fall under a handful of core tasks. Text classification is the ability to categorize documents, like sorting emails into spam and non-spam. Named Entity Recognition identifies proper nouns like people, places, and organizations. Sentiment analysis tries to detect the emotion behind text, whether it’s positive, negative, or neutral. Machine translation enables us to go from English to Spanish or Chinese instantly. And question answering allows systems like Siri or Alexa to respond directly to queries. Mastering these tasks gives us the foundation for building advanced NLP applications.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Here’s a simple but powerful application: sentiment analysis. If someone tweets, “The new iPhone is amazing!”, an NLP system can label that as positive. If another person writes, “The food was cold and bland,” that’s negative. While this might seem trivial, imagine doing it across millions of reviews or tweets. Companies use sentiment analysis to measure brand reputation, understand customer satisfaction, and detect potential PR crises before they spiral. For instance, airlines and hotels monitor Twitter feeds in real time so they can quickly respond to complaints.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Another everyday application is chatbots. Think about Siri, Alexa, or Google Assistant. These systems rely on NLP to understand natural questions like “What’s the weather tomorrow?” or “Play some jazz music.” Beyond virtual assistants, many businesses now deploy chatbots for customer service, answering common questions instantly and reducing the need for human agents. In healthcare, NLP-powered bots can provide patients with reliable information and reminders. Chatbots are one of the clearest examples of how NLP is already part of our daily lives.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Machine translation is another very visible use of NLP. Tools like Google Translate or DeepL allow people to communicate across languages almost instantly. These systems don’t just replace words; they have to understand context, grammar, and cultural nuances. Translation is especially valuable in breaking down barriers for travel, international business, and education. For example, students in non-English-speaking countries can now access English research papers with much less friction. The accuracy of translation has improved dramatically over the last decade thanks to NLP and deep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When we talk about NLP, it helps to think in terms of three components. Syntax deals with structure—how words are arranged to form sentences. Semantics is about meaning—understanding what those words actually refer to. Pragmatics adds another layer: context. The same sentence can mean different things depending on tone, situation, or cultural background. For example, the phrase “Nice job” could be genuine praise or sarcasm, depending on context. NLP systems must navigate all three to truly understand language.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Before the deep learning revolution, NLP relied on traditional techniques. Tokenization splits sentences into words. Stop-word removal gets rid of common words like “the” or “and.” Stemming and lemmatization reduce words to their root form, so “running” becomes “run.” Bag-of-Words models treat text as a collection of word counts. And TF-IDF measures how important a word is in a document relative to a collection of documents. While these techniques are relatively simple, they remain useful, especially for smaller projects or as preprocessing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Let’s look closer at tokenization, because it’s usually the first step in any NLP pipeline. Take the sentence “I love natural language processing.” Tokenization breaks it down into units: [“I”, “love”, “natural”, “language”, “processing”]. By splitting text into pieces, we give the computer manageable chunks to analyze. More advanced tokenization can also handle punctuation, compound words, or subwords. For instance, in modern deep learning models, we often tokenize words into smaller parts so the system can handle new or rare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NLP has gone through three major phases. In the early days, systems were rule-based. Linguists wrote grammar rules by hand, which worked for limited tasks but didn’t scale. Then came the statistical era, where we used probabilities and simple machine learning algorithms trained on large text corpora. Finally, deep learning changed the game by enabling models to learn complex patterns directly from raw text. This shift is why NLP performance has skyrocketed in recent years—machines can now capture nuances of language without us explicitly telling them the rules.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A major breakthrough in NLP was word embeddings. Models like Word2Vec, GloVe, and FastText represent words as vectors in a multi-dimensional space. The beauty of embeddings is that they capture semantic meaning. For example, the famous equation: king – man + woman ≈ queen. This shows how relationships between words are preserved in the vector space. Embeddings gave computers a way to “understand” analogies and relationships, enabling much better performance on downstream tasks like translation or classification.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Then came the transformer architecture, which completely reshaped NLP. Models like BERT, GPT, and T5 introduced contextual embeddings. Unlike Word2Vec, which gave each word one fixed meaning, transformers understand that words can mean different things depending on context. For example, the word “bank” means something different in “river bank” vs “bank account.” This context-awareness is what powers modern systems like ChatGPT. Transformers are now the backbone of almost all state-of-the-art NLP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NLP is no longer just academic—it’s everywhere. In healthcare, NLP extracts symptoms from clinical notes and helps predict disease progression. In finance, it’s used for fraud detection and analyzing market sentiment. In the legal field, NLP automates contract review and case research. Marketing teams rely on NLP to understand customer behavior and personalize campaigns. These aren’t futuristic ideas—they’re happening right now in hospitals, banks, law firms, and businesses around the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If you want to work with NLP, there are a few essential libraries. NLTK is the classic educational toolkit—it’s great for learning and experimenting with basic tasks. spaCy is a modern, industrial-strength library that’s fast and production-ready. Hugging Face Transformers provides easy access to powerful pre-trained models like BERT and GPT. Together, these tools cover everything from teaching fundamentals to deploying advanced applications in the real world.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NLTK, or the Natural Language Toolkit, has been around for years and is often the first library students encounter. It provides functionality for tokenization, stemming, part-of-speech tagging, and more. It’s incredibly useful for learning how NLP works under the hood. But it’s slower and less optimized for production-scale projects. Think of NLTK as your training wheels—it’s excellent for teaching and prototyping, but you’ll likely move to other tools once you need performance and scalability.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spaCy is designed for the real world. It’s written in Cython, making it very fast. It comes with pre-trained models out of the box for tasks like NER and POS tagging. It integrates easily with deep learning frameworks like TensorFlow and PyTorch, so you can build custom models. The API is simple and elegant, which makes it great for developers who want to focus on building applications rather than dealing with complexity. In short, spaCy is the industry choice when you need speed, accuracy, and scalability.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NLTK and spaCy compare? NLTK is fantastic for research and education—it has a wide range of tools, but it’s slower and more complex to use. spaCy, by contrast, is streamlined, fast, and built for production deployment. If you’re teaching or experimenting, NLTK is a good fit. If you’re building something that needs to run in a real business environment, spaCy is the way to go. In short: NLTK is great for learning, spaCy is great for doing.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Let’s apply this to a real-world case. Imagine a company wants to track how people feel about their brand on Twitter. Using spaCy, they can preprocess tweets—clean them up, remove stop words, tokenize, and extract features. Then, a classifier can label each tweet as positive, negative, or neutral. This allows the company to see trends in real time. For example, if a new product launch receives overwhelmingly negative sentiment, they can quickly investigate and respond. This kind of real-time monitoring is invaluable for managing reputation.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Healthcare is another powerful domain for NLP. Doctors’ notes are often unstructured and full of shorthand, but NLP can extract key information like symptoms, diagnoses, or medications. This data can then be used to track disease progression, support clinical decision-making, or even predict patient outcomes. For example, an NLP system might detect that multiple patients in a region are showing the same unusual symptom, which could help identify emerging health threats. By turning free text into structured data, NLP saves doctors time and improves patient care.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Despite all the progress, NLP faces serious challenges. Language is ambiguous—one phrase can mean different things depending on context. Sarcasm and irony are especially hard for machines to detect. Many languages are underrepresented in training data, leading to poor performance for billions of speakers. And then there’s bias: if models are trained on biased data, they can reproduce or even amplify those biases. These are not just technical problems—they have ethical and social implications.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Looking ahead, we see a few major directions for NLP. One is multilingual models—systems that can handle dozens of languages seamlessly. Another is improved context handling, so models understand not just words but intent, tone, and relationships. Conversational AI is also advancing quickly; tools like ChatGPT or Claude are early examples. Finally, there’s a growing emphasis on fairness and ethics. The future of NLP isn’t just about smarter models—it’s about building systems we can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As NLP grows more powerful, we need to confront its ethical challenges. Large language models can reflect biases present in their training data, leading to unfair outcomes. They can also be used to generate misinformation, like fake news articles or misleading reviews. And there are privacy concerns when processing sensitive text data, such as medical records or private conversations. Developers must take responsibility for how their models are trained, deployed, and used. Ethics is no longer optional—it’s central to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Notes:
Let’s quickly review what we’ve covered. NLP is the intersection of AI and linguistics. It has evolved from hand-written rules to statistical models to deep learning and transformers. We looked at core tasks, from classification to translation, and explored real-world applications across healthcare, finance, legal, and marketing industries. We compared tools like NLTK and spaCy, and we discussed challenges and ethics. The big picture is this: NLP helps us make sense of human language at scale, and it’s reshaping how we interact with technology.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a pointer to the companion Jupyter notebook, nlp_examples.ipynb. Everything shown in the deck is reproduced there in runnable form, section by section, so the audience can follow along after the talk. Open the floor for questions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3-1.png"/><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slideLayout" Target="../slideLayouts/slideLayout1.xml"/><Relationship Id="rId6"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image" Target="../media/image-25-6.png"/><Relationship Id="rId7" Type="http://schemas.openxmlformats.org/officeDocument/2006/relationships/image" Target="../media/image-25-7.png"/><Relationship Id="rId8" Type="http://schemas.openxmlformats.org/officeDocument/2006/relationships/slideLayout" Target="../slideLayouts/slideLayout1.xml"/><Relationship Id="rId9"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37"/>
        </a:solidFill>
      </p:bgPr>
    </p:bg>
    <p:spTree>
      <p:nvGrpSpPr>
        <p:cNvPr id="1" name=""/>
        <p:cNvGrpSpPr/>
        <p:nvPr/>
      </p:nvGrpSpPr>
      <p:grpSpPr>
        <a:xfrm>
          <a:off x="0" y="0"/>
          <a:ext cx="0" cy="0"/>
          <a:chOff x="0" y="0"/>
          <a:chExt cx="0" cy="0"/>
        </a:xfrm>
      </p:grpSpPr>
      <p:sp>
        <p:nvSpPr>
          <p:cNvPr id="2" name="Shape 0"/>
          <p:cNvSpPr/>
          <p:nvPr/>
        </p:nvSpPr>
        <p:spPr>
          <a:xfrm>
            <a:off x="-1463040" y="4023360"/>
            <a:ext cx="4754880" cy="4754880"/>
          </a:xfrm>
          <a:prstGeom prst="ellipse">
            <a:avLst/>
          </a:prstGeom>
          <a:solidFill>
            <a:srgbClr val="16204A"/>
          </a:solidFill>
          <a:ln/>
        </p:spPr>
      </p:sp>
      <p:sp>
        <p:nvSpPr>
          <p:cNvPr id="3" name="Text 1"/>
          <p:cNvSpPr/>
          <p:nvPr/>
        </p:nvSpPr>
        <p:spPr>
          <a:xfrm>
            <a:off x="566928" y="1417320"/>
            <a:ext cx="6766560" cy="310896"/>
          </a:xfrm>
          <a:prstGeom prst="rect">
            <a:avLst/>
          </a:prstGeom>
          <a:noFill/>
          <a:ln/>
        </p:spPr>
        <p:txBody>
          <a:bodyPr wrap="square" lIns="0" tIns="0" rIns="0" bIns="0" rtlCol="0" anchor="ctr"/>
          <a:lstStyle/>
          <a:p>
            <a:pPr indent="0" marL="0">
              <a:buNone/>
            </a:pPr>
            <a:r>
              <a:rPr lang="en-US" sz="1300" b="1" spc="300" kern="0" dirty="0">
                <a:solidFill>
                  <a:srgbClr val="2EC4B6"/>
                </a:solidFill>
                <a:latin typeface="Calibri" pitchFamily="34" charset="0"/>
                <a:ea typeface="Calibri" pitchFamily="34" charset="-122"/>
                <a:cs typeface="Calibri" pitchFamily="34" charset="-120"/>
              </a:rPr>
              <a:t>NATURAL LANGUAGE PROCESSING</a:t>
            </a:r>
            <a:endParaRPr lang="en-US" sz="1300" dirty="0"/>
          </a:p>
        </p:txBody>
      </p:sp>
      <p:sp>
        <p:nvSpPr>
          <p:cNvPr id="4" name="Text 2"/>
          <p:cNvSpPr/>
          <p:nvPr/>
        </p:nvSpPr>
        <p:spPr>
          <a:xfrm>
            <a:off x="566928" y="1874520"/>
            <a:ext cx="6766560" cy="105156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Introduction to NLP</a:t>
            </a:r>
            <a:endParaRPr lang="en-US" sz="5400" dirty="0"/>
          </a:p>
        </p:txBody>
      </p:sp>
      <p:sp>
        <p:nvSpPr>
          <p:cNvPr id="5" name="Text 3"/>
          <p:cNvSpPr/>
          <p:nvPr/>
        </p:nvSpPr>
        <p:spPr>
          <a:xfrm>
            <a:off x="566928" y="2971800"/>
            <a:ext cx="6766560" cy="548640"/>
          </a:xfrm>
          <a:prstGeom prst="rect">
            <a:avLst/>
          </a:prstGeom>
          <a:noFill/>
          <a:ln/>
        </p:spPr>
        <p:txBody>
          <a:bodyPr wrap="square" lIns="0" tIns="0" rIns="0" bIns="0" rtlCol="0" anchor="ctr"/>
          <a:lstStyle/>
          <a:p>
            <a:pPr indent="0" marL="0">
              <a:buNone/>
            </a:pPr>
            <a:r>
              <a:rPr lang="en-US" sz="3000" i="1" dirty="0">
                <a:solidFill>
                  <a:srgbClr val="2EC4B6"/>
                </a:solidFill>
                <a:latin typeface="Cambria" pitchFamily="34" charset="0"/>
                <a:ea typeface="Cambria" pitchFamily="34" charset="-122"/>
                <a:cs typeface="Cambria" pitchFamily="34" charset="-120"/>
              </a:rPr>
              <a:t>NLTK vs Spacy</a:t>
            </a:r>
            <a:endParaRPr lang="en-US" sz="3000" dirty="0"/>
          </a:p>
        </p:txBody>
      </p:sp>
      <p:sp>
        <p:nvSpPr>
          <p:cNvPr id="6" name="Text 4"/>
          <p:cNvSpPr/>
          <p:nvPr/>
        </p:nvSpPr>
        <p:spPr>
          <a:xfrm>
            <a:off x="566928" y="3977640"/>
            <a:ext cx="6766560" cy="365760"/>
          </a:xfrm>
          <a:prstGeom prst="rect">
            <a:avLst/>
          </a:prstGeom>
          <a:noFill/>
          <a:ln/>
        </p:spPr>
        <p:txBody>
          <a:bodyPr wrap="square" lIns="0" tIns="0" rIns="0" bIns="0" rtlCol="0" anchor="ctr"/>
          <a:lstStyle/>
          <a:p>
            <a:pPr indent="0" marL="0">
              <a:buNone/>
            </a:pPr>
            <a:r>
              <a:rPr lang="en-US" sz="1900" dirty="0">
                <a:solidFill>
                  <a:srgbClr val="C3CBE0"/>
                </a:solidFill>
                <a:latin typeface="Calibri" pitchFamily="34" charset="0"/>
                <a:ea typeface="Calibri" pitchFamily="34" charset="-122"/>
                <a:cs typeface="Calibri" pitchFamily="34" charset="-120"/>
              </a:rPr>
              <a:t>Mohammad Azam</a:t>
            </a:r>
            <a:endParaRPr lang="en-US" sz="1900" dirty="0"/>
          </a:p>
        </p:txBody>
      </p:sp>
      <p:sp>
        <p:nvSpPr>
          <p:cNvPr id="7" name="Text 5"/>
          <p:cNvSpPr/>
          <p:nvPr/>
        </p:nvSpPr>
        <p:spPr>
          <a:xfrm>
            <a:off x="566928" y="4434840"/>
            <a:ext cx="6766560" cy="310896"/>
          </a:xfrm>
          <a:prstGeom prst="rect">
            <a:avLst/>
          </a:prstGeom>
          <a:noFill/>
          <a:ln/>
        </p:spPr>
        <p:txBody>
          <a:bodyPr wrap="square" lIns="0" tIns="0" rIns="0" bIns="0" rtlCol="0" anchor="ctr"/>
          <a:lstStyle/>
          <a:p>
            <a:pPr indent="0" marL="0">
              <a:buNone/>
            </a:pPr>
            <a:r>
              <a:rPr lang="en-US" sz="1300" dirty="0">
                <a:solidFill>
                  <a:srgbClr val="6E7BA6"/>
                </a:solidFill>
                <a:latin typeface="Calibri" pitchFamily="34" charset="0"/>
                <a:ea typeface="Calibri" pitchFamily="34" charset="-122"/>
                <a:cs typeface="Calibri" pitchFamily="34" charset="-120"/>
              </a:rPr>
              <a:t>Hands-on companion notebook included</a:t>
            </a:r>
            <a:endParaRPr lang="en-US" sz="1300" dirty="0"/>
          </a:p>
        </p:txBody>
      </p:sp>
      <p:pic>
        <p:nvPicPr>
          <p:cNvPr id="8" name="Image 0" descr="assets/hero_network.png">    </p:cNvPr>
          <p:cNvPicPr>
            <a:picLocks noChangeAspect="1"/>
          </p:cNvPicPr>
          <p:nvPr/>
        </p:nvPicPr>
        <p:blipFill>
          <a:blip r:embed="rId1"/>
          <a:stretch>
            <a:fillRect/>
          </a:stretch>
        </p:blipFill>
        <p:spPr>
          <a:xfrm>
            <a:off x="7223760" y="1588770"/>
            <a:ext cx="4480560" cy="36804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74320"/>
          </a:xfrm>
          <a:prstGeom prst="rect">
            <a:avLst/>
          </a:prstGeom>
          <a:noFill/>
          <a:ln/>
        </p:spPr>
        <p:txBody>
          <a:bodyPr wrap="square" lIns="0" tIns="0" rIns="0" bIns="0" rtlCol="0" anchor="ctr"/>
          <a:lstStyle/>
          <a:p>
            <a:pPr algn="l" indent="0" marL="0">
              <a:buNone/>
            </a:pPr>
            <a:r>
              <a:rPr lang="en-US" sz="1200" b="1" spc="200" kern="0" dirty="0">
                <a:solidFill>
                  <a:srgbClr val="13887E"/>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66928" y="621792"/>
            <a:ext cx="10143439" cy="777240"/>
          </a:xfrm>
          <a:prstGeom prst="rect">
            <a:avLst/>
          </a:prstGeom>
          <a:noFill/>
          <a:ln/>
        </p:spPr>
        <p:txBody>
          <a:bodyPr wrap="square" lIns="0" tIns="0" rIns="0" bIns="0" rtlCol="0" anchor="t"/>
          <a:lstStyle/>
          <a:p>
            <a:pPr indent="0" marL="0">
              <a:buNone/>
            </a:pPr>
            <a:r>
              <a:rPr lang="en-US" sz="3600" b="1" dirty="0">
                <a:solidFill>
                  <a:srgbClr val="0B1437"/>
                </a:solidFill>
                <a:latin typeface="Cambria" pitchFamily="34" charset="0"/>
                <a:ea typeface="Cambria" pitchFamily="34" charset="-122"/>
                <a:cs typeface="Cambria" pitchFamily="34" charset="-120"/>
              </a:rPr>
              <a:t>What is NLP?</a:t>
            </a:r>
            <a:endParaRPr lang="en-US" sz="3600" dirty="0"/>
          </a:p>
        </p:txBody>
      </p:sp>
      <p:sp>
        <p:nvSpPr>
          <p:cNvPr id="4" name="Text 2"/>
          <p:cNvSpPr/>
          <p:nvPr/>
        </p:nvSpPr>
        <p:spPr>
          <a:xfrm>
            <a:off x="10801807" y="310896"/>
            <a:ext cx="822960" cy="365760"/>
          </a:xfrm>
          <a:prstGeom prst="rect">
            <a:avLst/>
          </a:prstGeom>
          <a:noFill/>
          <a:ln/>
        </p:spPr>
        <p:txBody>
          <a:bodyPr wrap="square" lIns="0" tIns="0" rIns="0" bIns="0" rtlCol="0" anchor="ctr"/>
          <a:lstStyle/>
          <a:p>
            <a:pPr algn="r" indent="0" marL="0">
              <a:buNone/>
            </a:pPr>
            <a:r>
              <a:rPr lang="en-US" sz="1300" dirty="0">
                <a:solidFill>
                  <a:srgbClr val="A9B3C6"/>
                </a:solidFill>
                <a:latin typeface="Calibri" pitchFamily="34" charset="0"/>
                <a:ea typeface="Calibri" pitchFamily="34" charset="-122"/>
                <a:cs typeface="Calibri" pitchFamily="34" charset="-120"/>
              </a:rPr>
              <a:t>02</a:t>
            </a:r>
            <a:endParaRPr lang="en-US" sz="1300" dirty="0"/>
          </a:p>
        </p:txBody>
      </p:sp>
      <p:sp>
        <p:nvSpPr>
          <p:cNvPr id="6" name="Shape 3"/>
          <p:cNvSpPr/>
          <p:nvPr/>
        </p:nvSpPr>
        <p:spPr>
          <a:xfrm>
            <a:off x="566928" y="1783080"/>
            <a:ext cx="5943600" cy="1024128"/>
          </a:xfrm>
          <a:prstGeom prst="roundRect">
            <a:avLst>
              <a:gd name="adj" fmla="val 10714"/>
            </a:avLst>
          </a:prstGeom>
          <a:solidFill>
            <a:srgbClr val="F2F5FA"/>
          </a:solidFill>
          <a:ln w="12700">
            <a:solidFill>
              <a:srgbClr val="DCE3ED"/>
            </a:solidFill>
            <a:prstDash val="solid"/>
          </a:ln>
        </p:spPr>
      </p:sp>
      <p:sp>
        <p:nvSpPr>
          <p:cNvPr id="7" name="Shape 4"/>
          <p:cNvSpPr/>
          <p:nvPr/>
        </p:nvSpPr>
        <p:spPr>
          <a:xfrm>
            <a:off x="859536" y="2011680"/>
            <a:ext cx="566928" cy="566928"/>
          </a:xfrm>
          <a:prstGeom prst="ellipse">
            <a:avLst/>
          </a:prstGeom>
          <a:solidFill>
            <a:srgbClr val="7C6BF2"/>
          </a:solidFill>
          <a:ln/>
        </p:spPr>
      </p:sp>
      <p:pic>
        <p:nvPicPr>
          <p:cNvPr id="8" name="Image 0" descr="assets/icons/layers_w.png">    </p:cNvPr>
          <p:cNvPicPr>
            <a:picLocks noChangeAspect="1"/>
          </p:cNvPicPr>
          <p:nvPr/>
        </p:nvPicPr>
        <p:blipFill>
          <a:blip r:embed="rId1"/>
          <a:stretch>
            <a:fillRect/>
          </a:stretch>
        </p:blipFill>
        <p:spPr>
          <a:xfrm>
            <a:off x="987552" y="2139696"/>
            <a:ext cx="310896" cy="310896"/>
          </a:xfrm>
          <a:prstGeom prst="rect">
            <a:avLst/>
          </a:prstGeom>
        </p:spPr>
      </p:pic>
      <p:sp>
        <p:nvSpPr>
          <p:cNvPr id="9" name="Text 5"/>
          <p:cNvSpPr/>
          <p:nvPr/>
        </p:nvSpPr>
        <p:spPr>
          <a:xfrm>
            <a:off x="1609344" y="2066544"/>
            <a:ext cx="4608576" cy="384048"/>
          </a:xfrm>
          <a:prstGeom prst="rect">
            <a:avLst/>
          </a:prstGeom>
          <a:noFill/>
          <a:ln/>
        </p:spPr>
        <p:txBody>
          <a:bodyPr wrap="square" lIns="0" tIns="0" rIns="0" bIns="0" rtlCol="0" anchor="ctr"/>
          <a:lstStyle/>
          <a:p>
            <a:pPr indent="0" marL="0">
              <a:buNone/>
            </a:pPr>
            <a:r>
              <a:rPr lang="en-US" sz="1650" b="1" dirty="0">
                <a:solidFill>
                  <a:srgbClr val="0B1437"/>
                </a:solidFill>
                <a:latin typeface="Calibri" pitchFamily="34" charset="0"/>
                <a:ea typeface="Calibri" pitchFamily="34" charset="-122"/>
                <a:cs typeface="Calibri" pitchFamily="34" charset="-120"/>
              </a:rPr>
              <a:t>Branch of AI &amp; linguistics</a:t>
            </a:r>
            <a:endParaRPr lang="en-US" sz="1650" dirty="0"/>
          </a:p>
        </p:txBody>
      </p:sp>
      <p:sp>
        <p:nvSpPr>
          <p:cNvPr id="10" name="Shape 6"/>
          <p:cNvSpPr/>
          <p:nvPr/>
        </p:nvSpPr>
        <p:spPr>
          <a:xfrm>
            <a:off x="566928" y="2990088"/>
            <a:ext cx="5943600" cy="1024128"/>
          </a:xfrm>
          <a:prstGeom prst="roundRect">
            <a:avLst>
              <a:gd name="adj" fmla="val 10714"/>
            </a:avLst>
          </a:prstGeom>
          <a:solidFill>
            <a:srgbClr val="F2F5FA"/>
          </a:solidFill>
          <a:ln w="12700">
            <a:solidFill>
              <a:srgbClr val="DCE3ED"/>
            </a:solidFill>
            <a:prstDash val="solid"/>
          </a:ln>
        </p:spPr>
      </p:sp>
      <p:sp>
        <p:nvSpPr>
          <p:cNvPr id="11" name="Shape 7"/>
          <p:cNvSpPr/>
          <p:nvPr/>
        </p:nvSpPr>
        <p:spPr>
          <a:xfrm>
            <a:off x="859536" y="3218688"/>
            <a:ext cx="566928" cy="566928"/>
          </a:xfrm>
          <a:prstGeom prst="ellipse">
            <a:avLst/>
          </a:prstGeom>
          <a:solidFill>
            <a:srgbClr val="2EC4B6"/>
          </a:solidFill>
          <a:ln/>
        </p:spPr>
      </p:sp>
      <p:pic>
        <p:nvPicPr>
          <p:cNvPr id="12" name="Image 1" descr="assets/icons/comments_w.png">    </p:cNvPr>
          <p:cNvPicPr>
            <a:picLocks noChangeAspect="1"/>
          </p:cNvPicPr>
          <p:nvPr/>
        </p:nvPicPr>
        <p:blipFill>
          <a:blip r:embed="rId2"/>
          <a:stretch>
            <a:fillRect/>
          </a:stretch>
        </p:blipFill>
        <p:spPr>
          <a:xfrm>
            <a:off x="987552" y="3346704"/>
            <a:ext cx="310896" cy="310896"/>
          </a:xfrm>
          <a:prstGeom prst="rect">
            <a:avLst/>
          </a:prstGeom>
        </p:spPr>
      </p:pic>
      <p:sp>
        <p:nvSpPr>
          <p:cNvPr id="13" name="Text 8"/>
          <p:cNvSpPr/>
          <p:nvPr/>
        </p:nvSpPr>
        <p:spPr>
          <a:xfrm>
            <a:off x="1609344" y="3273552"/>
            <a:ext cx="4608576" cy="384048"/>
          </a:xfrm>
          <a:prstGeom prst="rect">
            <a:avLst/>
          </a:prstGeom>
          <a:noFill/>
          <a:ln/>
        </p:spPr>
        <p:txBody>
          <a:bodyPr wrap="square" lIns="0" tIns="0" rIns="0" bIns="0" rtlCol="0" anchor="ctr"/>
          <a:lstStyle/>
          <a:p>
            <a:pPr indent="0" marL="0">
              <a:buNone/>
            </a:pPr>
            <a:r>
              <a:rPr lang="en-US" sz="1650" b="1" dirty="0">
                <a:solidFill>
                  <a:srgbClr val="0B1437"/>
                </a:solidFill>
                <a:latin typeface="Calibri" pitchFamily="34" charset="0"/>
                <a:ea typeface="Calibri" pitchFamily="34" charset="-122"/>
                <a:cs typeface="Calibri" pitchFamily="34" charset="-120"/>
              </a:rPr>
              <a:t>Focused on human-computer communication using natural language</a:t>
            </a:r>
            <a:endParaRPr lang="en-US" sz="1650" dirty="0"/>
          </a:p>
        </p:txBody>
      </p:sp>
      <p:sp>
        <p:nvSpPr>
          <p:cNvPr id="14" name="Shape 9"/>
          <p:cNvSpPr/>
          <p:nvPr/>
        </p:nvSpPr>
        <p:spPr>
          <a:xfrm>
            <a:off x="566928" y="4197096"/>
            <a:ext cx="5943600" cy="1024128"/>
          </a:xfrm>
          <a:prstGeom prst="roundRect">
            <a:avLst>
              <a:gd name="adj" fmla="val 10714"/>
            </a:avLst>
          </a:prstGeom>
          <a:solidFill>
            <a:srgbClr val="F2F5FA"/>
          </a:solidFill>
          <a:ln w="12700">
            <a:solidFill>
              <a:srgbClr val="DCE3ED"/>
            </a:solidFill>
            <a:prstDash val="solid"/>
          </a:ln>
        </p:spPr>
      </p:sp>
      <p:sp>
        <p:nvSpPr>
          <p:cNvPr id="15" name="Shape 10"/>
          <p:cNvSpPr/>
          <p:nvPr/>
        </p:nvSpPr>
        <p:spPr>
          <a:xfrm>
            <a:off x="859536" y="4425696"/>
            <a:ext cx="566928" cy="566928"/>
          </a:xfrm>
          <a:prstGeom prst="ellipse">
            <a:avLst/>
          </a:prstGeom>
          <a:solidFill>
            <a:srgbClr val="FFB703"/>
          </a:solidFill>
          <a:ln/>
        </p:spPr>
      </p:sp>
      <p:pic>
        <p:nvPicPr>
          <p:cNvPr id="16" name="Image 2" descr="assets/icons/chart_w.png">    </p:cNvPr>
          <p:cNvPicPr>
            <a:picLocks noChangeAspect="1"/>
          </p:cNvPicPr>
          <p:nvPr/>
        </p:nvPicPr>
        <p:blipFill>
          <a:blip r:embed="rId3"/>
          <a:stretch>
            <a:fillRect/>
          </a:stretch>
        </p:blipFill>
        <p:spPr>
          <a:xfrm>
            <a:off x="987552" y="4553712"/>
            <a:ext cx="310896" cy="310896"/>
          </a:xfrm>
          <a:prstGeom prst="rect">
            <a:avLst/>
          </a:prstGeom>
        </p:spPr>
      </p:pic>
      <p:sp>
        <p:nvSpPr>
          <p:cNvPr id="17" name="Text 11"/>
          <p:cNvSpPr/>
          <p:nvPr/>
        </p:nvSpPr>
        <p:spPr>
          <a:xfrm>
            <a:off x="1609344" y="4480560"/>
            <a:ext cx="4608576" cy="384048"/>
          </a:xfrm>
          <a:prstGeom prst="rect">
            <a:avLst/>
          </a:prstGeom>
          <a:noFill/>
          <a:ln/>
        </p:spPr>
        <p:txBody>
          <a:bodyPr wrap="square" lIns="0" tIns="0" rIns="0" bIns="0" rtlCol="0" anchor="ctr"/>
          <a:lstStyle/>
          <a:p>
            <a:pPr indent="0" marL="0">
              <a:buNone/>
            </a:pPr>
            <a:r>
              <a:rPr lang="en-US" sz="1650" b="1" dirty="0">
                <a:solidFill>
                  <a:srgbClr val="0B1437"/>
                </a:solidFill>
                <a:latin typeface="Calibri" pitchFamily="34" charset="0"/>
                <a:ea typeface="Calibri" pitchFamily="34" charset="-122"/>
                <a:cs typeface="Calibri" pitchFamily="34" charset="-120"/>
              </a:rPr>
              <a:t>Converts unstructured text into structured insights</a:t>
            </a:r>
            <a:endParaRPr lang="en-US" sz="1650" dirty="0"/>
          </a:p>
        </p:txBody>
      </p:sp>
      <p:sp>
        <p:nvSpPr>
          <p:cNvPr id="18" name="Text 12"/>
          <p:cNvSpPr/>
          <p:nvPr/>
        </p:nvSpPr>
        <p:spPr>
          <a:xfrm>
            <a:off x="566928" y="5532120"/>
            <a:ext cx="5943600" cy="365760"/>
          </a:xfrm>
          <a:prstGeom prst="rect">
            <a:avLst/>
          </a:prstGeom>
          <a:noFill/>
          <a:ln/>
        </p:spPr>
        <p:txBody>
          <a:bodyPr wrap="square" lIns="0" tIns="0" rIns="0" bIns="0" rtlCol="0" anchor="ctr"/>
          <a:lstStyle/>
          <a:p>
            <a:pPr indent="0" marL="0">
              <a:buNone/>
            </a:pPr>
            <a:r>
              <a:rPr lang="en-US" sz="1700" i="1" dirty="0">
                <a:solidFill>
                  <a:srgbClr val="5C6784"/>
                </a:solidFill>
                <a:latin typeface="Cambria" pitchFamily="34" charset="0"/>
                <a:ea typeface="Cambria" pitchFamily="34" charset="-122"/>
                <a:cs typeface="Cambria" pitchFamily="34" charset="-120"/>
              </a:rPr>
              <a:t>“Teaching computers how to speak human.”</a:t>
            </a:r>
            <a:endParaRPr lang="en-US" sz="1700" dirty="0"/>
          </a:p>
        </p:txBody>
      </p:sp>
      <p:pic>
        <p:nvPicPr>
          <p:cNvPr id="19" name="Image 3" descr="assets/venn.png">    </p:cNvPr>
          <p:cNvPicPr>
            <a:picLocks noChangeAspect="1"/>
          </p:cNvPicPr>
          <p:nvPr/>
        </p:nvPicPr>
        <p:blipFill>
          <a:blip r:embed="rId4"/>
          <a:stretch>
            <a:fillRect/>
          </a:stretch>
        </p:blipFill>
        <p:spPr>
          <a:xfrm>
            <a:off x="6858000" y="1874520"/>
            <a:ext cx="4754880" cy="38404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74320"/>
          </a:xfrm>
          <a:prstGeom prst="rect">
            <a:avLst/>
          </a:prstGeom>
          <a:noFill/>
          <a:ln/>
        </p:spPr>
        <p:txBody>
          <a:bodyPr wrap="square" lIns="0" tIns="0" rIns="0" bIns="0" rtlCol="0" anchor="ctr"/>
          <a:lstStyle/>
          <a:p>
            <a:pPr algn="l" indent="0" marL="0">
              <a:buNone/>
            </a:pPr>
            <a:r>
              <a:rPr lang="en-US" sz="1200" b="1" spc="200" kern="0" dirty="0">
                <a:solidFill>
                  <a:srgbClr val="13887E"/>
                </a:solidFill>
                <a:latin typeface="Calibri" pitchFamily="34" charset="0"/>
                <a:ea typeface="Calibri" pitchFamily="34" charset="-122"/>
                <a:cs typeface="Calibri" pitchFamily="34" charset="-120"/>
              </a:rPr>
              <a:t>MOTIVATION</a:t>
            </a:r>
            <a:endParaRPr lang="en-US" sz="1200" dirty="0"/>
          </a:p>
        </p:txBody>
      </p:sp>
      <p:sp>
        <p:nvSpPr>
          <p:cNvPr id="3" name="Text 1"/>
          <p:cNvSpPr/>
          <p:nvPr/>
        </p:nvSpPr>
        <p:spPr>
          <a:xfrm>
            <a:off x="566928" y="621792"/>
            <a:ext cx="10143439" cy="777240"/>
          </a:xfrm>
          <a:prstGeom prst="rect">
            <a:avLst/>
          </a:prstGeom>
          <a:noFill/>
          <a:ln/>
        </p:spPr>
        <p:txBody>
          <a:bodyPr wrap="square" lIns="0" tIns="0" rIns="0" bIns="0" rtlCol="0" anchor="t"/>
          <a:lstStyle/>
          <a:p>
            <a:pPr indent="0" marL="0">
              <a:buNone/>
            </a:pPr>
            <a:r>
              <a:rPr lang="en-US" sz="3600" b="1" dirty="0">
                <a:solidFill>
                  <a:srgbClr val="0B1437"/>
                </a:solidFill>
                <a:latin typeface="Cambria" pitchFamily="34" charset="0"/>
                <a:ea typeface="Cambria" pitchFamily="34" charset="-122"/>
                <a:cs typeface="Cambria" pitchFamily="34" charset="-120"/>
              </a:rPr>
              <a:t>Why is NLP Important?</a:t>
            </a:r>
            <a:endParaRPr lang="en-US" sz="3600" dirty="0"/>
          </a:p>
        </p:txBody>
      </p:sp>
      <p:sp>
        <p:nvSpPr>
          <p:cNvPr id="4" name="Text 2"/>
          <p:cNvSpPr/>
          <p:nvPr/>
        </p:nvSpPr>
        <p:spPr>
          <a:xfrm>
            <a:off x="10801807" y="310896"/>
            <a:ext cx="822960" cy="365760"/>
          </a:xfrm>
          <a:prstGeom prst="rect">
            <a:avLst/>
          </a:prstGeom>
          <a:noFill/>
          <a:ln/>
        </p:spPr>
        <p:txBody>
          <a:bodyPr wrap="square" lIns="0" tIns="0" rIns="0" bIns="0" rtlCol="0" anchor="ctr"/>
          <a:lstStyle/>
          <a:p>
            <a:pPr algn="r" indent="0" marL="0">
              <a:buNone/>
            </a:pPr>
            <a:r>
              <a:rPr lang="en-US" sz="1300" dirty="0">
                <a:solidFill>
                  <a:srgbClr val="A9B3C6"/>
                </a:solidFill>
                <a:latin typeface="Calibri" pitchFamily="34" charset="0"/>
                <a:ea typeface="Calibri" pitchFamily="34" charset="-122"/>
                <a:cs typeface="Calibri" pitchFamily="34" charset="-120"/>
              </a:rPr>
              <a:t>03</a:t>
            </a:r>
            <a:endParaRPr lang="en-US" sz="1300" dirty="0"/>
          </a:p>
        </p:txBody>
      </p:sp>
      <p:graphicFrame>
        <p:nvGraphicFramePr>
          <p:cNvPr id="6" name="Chart 0" descr=""/>
          <p:cNvGraphicFramePr/>
          <p:nvPr/>
        </p:nvGraphicFramePr>
        <p:xfrm>
          <a:off x="411480" y="1737360"/>
          <a:ext cx="4480560" cy="4206240"/>
        </p:xfrm>
        <a:graphic xmlns:a="http://schemas.openxmlformats.org/drawingml/2006/main">
          <a:graphicData uri="http://schemas.openxmlformats.org/drawingml/2006/chart">
            <c:chart xmlns:c="http://schemas.openxmlformats.org/drawingml/2006/chart" r:id="rId1"/>
          </a:graphicData>
        </a:graphic>
      </p:graphicFrame>
      <p:sp>
        <p:nvSpPr>
          <p:cNvPr id="7" name="Text 3"/>
          <p:cNvSpPr/>
          <p:nvPr/>
        </p:nvSpPr>
        <p:spPr>
          <a:xfrm>
            <a:off x="1481328" y="3127248"/>
            <a:ext cx="2331720" cy="777240"/>
          </a:xfrm>
          <a:prstGeom prst="rect">
            <a:avLst/>
          </a:prstGeom>
          <a:noFill/>
          <a:ln/>
        </p:spPr>
        <p:txBody>
          <a:bodyPr wrap="square" lIns="0" tIns="0" rIns="0" bIns="0" rtlCol="0" anchor="ctr"/>
          <a:lstStyle/>
          <a:p>
            <a:pPr algn="ctr" indent="0" marL="0">
              <a:buNone/>
            </a:pPr>
            <a:r>
              <a:rPr lang="en-US" sz="4600" b="1" dirty="0">
                <a:solidFill>
                  <a:srgbClr val="0B1437"/>
                </a:solidFill>
                <a:latin typeface="Cambria" pitchFamily="34" charset="0"/>
                <a:ea typeface="Cambria" pitchFamily="34" charset="-122"/>
                <a:cs typeface="Cambria" pitchFamily="34" charset="-120"/>
              </a:rPr>
              <a:t>80%</a:t>
            </a:r>
            <a:endParaRPr lang="en-US" sz="4600" dirty="0"/>
          </a:p>
        </p:txBody>
      </p:sp>
      <p:sp>
        <p:nvSpPr>
          <p:cNvPr id="8" name="Shape 4"/>
          <p:cNvSpPr/>
          <p:nvPr/>
        </p:nvSpPr>
        <p:spPr>
          <a:xfrm>
            <a:off x="5257800" y="1783080"/>
            <a:ext cx="6400800" cy="1097280"/>
          </a:xfrm>
          <a:prstGeom prst="roundRect">
            <a:avLst>
              <a:gd name="adj" fmla="val 10000"/>
            </a:avLst>
          </a:prstGeom>
          <a:solidFill>
            <a:srgbClr val="F2F5FA"/>
          </a:solidFill>
          <a:ln w="12700">
            <a:solidFill>
              <a:srgbClr val="DCE3ED"/>
            </a:solidFill>
            <a:prstDash val="solid"/>
          </a:ln>
        </p:spPr>
      </p:sp>
      <p:sp>
        <p:nvSpPr>
          <p:cNvPr id="9" name="Shape 5"/>
          <p:cNvSpPr/>
          <p:nvPr/>
        </p:nvSpPr>
        <p:spPr>
          <a:xfrm>
            <a:off x="5550408" y="2048256"/>
            <a:ext cx="566928" cy="566928"/>
          </a:xfrm>
          <a:prstGeom prst="ellipse">
            <a:avLst/>
          </a:prstGeom>
          <a:solidFill>
            <a:srgbClr val="2EC4B6"/>
          </a:solidFill>
          <a:ln/>
        </p:spPr>
      </p:sp>
      <p:pic>
        <p:nvPicPr>
          <p:cNvPr id="10" name="Image 0" descr="assets/icons/book2_w.png">    </p:cNvPr>
          <p:cNvPicPr>
            <a:picLocks noChangeAspect="1"/>
          </p:cNvPicPr>
          <p:nvPr/>
        </p:nvPicPr>
        <p:blipFill>
          <a:blip r:embed="rId2"/>
          <a:stretch>
            <a:fillRect/>
          </a:stretch>
        </p:blipFill>
        <p:spPr>
          <a:xfrm>
            <a:off x="5678424" y="2176272"/>
            <a:ext cx="310896" cy="310896"/>
          </a:xfrm>
          <a:prstGeom prst="rect">
            <a:avLst/>
          </a:prstGeom>
        </p:spPr>
      </p:pic>
      <p:sp>
        <p:nvSpPr>
          <p:cNvPr id="11" name="Text 6"/>
          <p:cNvSpPr/>
          <p:nvPr/>
        </p:nvSpPr>
        <p:spPr>
          <a:xfrm>
            <a:off x="6300216" y="2103120"/>
            <a:ext cx="5065776" cy="384048"/>
          </a:xfrm>
          <a:prstGeom prst="rect">
            <a:avLst/>
          </a:prstGeom>
          <a:noFill/>
          <a:ln/>
        </p:spPr>
        <p:txBody>
          <a:bodyPr wrap="square" lIns="0" tIns="0" rIns="0" bIns="0" rtlCol="0" anchor="ctr"/>
          <a:lstStyle/>
          <a:p>
            <a:pPr indent="0" marL="0">
              <a:buNone/>
            </a:pPr>
            <a:r>
              <a:rPr lang="en-US" sz="1650" b="1" dirty="0">
                <a:solidFill>
                  <a:srgbClr val="0B1437"/>
                </a:solidFill>
                <a:latin typeface="Calibri" pitchFamily="34" charset="0"/>
                <a:ea typeface="Calibri" pitchFamily="34" charset="-122"/>
                <a:cs typeface="Calibri" pitchFamily="34" charset="-120"/>
              </a:rPr>
              <a:t>80% of world’s data is text-based (emails, articles, chats)</a:t>
            </a:r>
            <a:endParaRPr lang="en-US" sz="1650" dirty="0"/>
          </a:p>
        </p:txBody>
      </p:sp>
      <p:sp>
        <p:nvSpPr>
          <p:cNvPr id="12" name="Shape 7"/>
          <p:cNvSpPr/>
          <p:nvPr/>
        </p:nvSpPr>
        <p:spPr>
          <a:xfrm>
            <a:off x="5257800" y="3081528"/>
            <a:ext cx="6400800" cy="1097280"/>
          </a:xfrm>
          <a:prstGeom prst="roundRect">
            <a:avLst>
              <a:gd name="adj" fmla="val 10000"/>
            </a:avLst>
          </a:prstGeom>
          <a:solidFill>
            <a:srgbClr val="F2F5FA"/>
          </a:solidFill>
          <a:ln w="12700">
            <a:solidFill>
              <a:srgbClr val="DCE3ED"/>
            </a:solidFill>
            <a:prstDash val="solid"/>
          </a:ln>
        </p:spPr>
      </p:sp>
      <p:sp>
        <p:nvSpPr>
          <p:cNvPr id="13" name="Shape 8"/>
          <p:cNvSpPr/>
          <p:nvPr/>
        </p:nvSpPr>
        <p:spPr>
          <a:xfrm>
            <a:off x="5550408" y="3346704"/>
            <a:ext cx="566928" cy="566928"/>
          </a:xfrm>
          <a:prstGeom prst="ellipse">
            <a:avLst/>
          </a:prstGeom>
          <a:solidFill>
            <a:srgbClr val="7C6BF2"/>
          </a:solidFill>
          <a:ln/>
        </p:spPr>
      </p:sp>
      <p:pic>
        <p:nvPicPr>
          <p:cNvPr id="14" name="Image 1" descr="assets/icons/search_w.png">    </p:cNvPr>
          <p:cNvPicPr>
            <a:picLocks noChangeAspect="1"/>
          </p:cNvPicPr>
          <p:nvPr/>
        </p:nvPicPr>
        <p:blipFill>
          <a:blip r:embed="rId3"/>
          <a:stretch>
            <a:fillRect/>
          </a:stretch>
        </p:blipFill>
        <p:spPr>
          <a:xfrm>
            <a:off x="5678424" y="3474720"/>
            <a:ext cx="310896" cy="310896"/>
          </a:xfrm>
          <a:prstGeom prst="rect">
            <a:avLst/>
          </a:prstGeom>
        </p:spPr>
      </p:pic>
      <p:sp>
        <p:nvSpPr>
          <p:cNvPr id="15" name="Text 9"/>
          <p:cNvSpPr/>
          <p:nvPr/>
        </p:nvSpPr>
        <p:spPr>
          <a:xfrm>
            <a:off x="6300216" y="3401568"/>
            <a:ext cx="5065776" cy="384048"/>
          </a:xfrm>
          <a:prstGeom prst="rect">
            <a:avLst/>
          </a:prstGeom>
          <a:noFill/>
          <a:ln/>
        </p:spPr>
        <p:txBody>
          <a:bodyPr wrap="square" lIns="0" tIns="0" rIns="0" bIns="0" rtlCol="0" anchor="ctr"/>
          <a:lstStyle/>
          <a:p>
            <a:pPr indent="0" marL="0">
              <a:buNone/>
            </a:pPr>
            <a:r>
              <a:rPr lang="en-US" sz="1650" b="1" dirty="0">
                <a:solidFill>
                  <a:srgbClr val="0B1437"/>
                </a:solidFill>
                <a:latin typeface="Calibri" pitchFamily="34" charset="0"/>
                <a:ea typeface="Calibri" pitchFamily="34" charset="-122"/>
                <a:cs typeface="Calibri" pitchFamily="34" charset="-120"/>
              </a:rPr>
              <a:t>Enables search engines, chatbots, translations</a:t>
            </a:r>
            <a:endParaRPr lang="en-US" sz="1650" dirty="0"/>
          </a:p>
        </p:txBody>
      </p:sp>
      <p:sp>
        <p:nvSpPr>
          <p:cNvPr id="16" name="Shape 10"/>
          <p:cNvSpPr/>
          <p:nvPr/>
        </p:nvSpPr>
        <p:spPr>
          <a:xfrm>
            <a:off x="5257800" y="4379976"/>
            <a:ext cx="6400800" cy="1097280"/>
          </a:xfrm>
          <a:prstGeom prst="roundRect">
            <a:avLst>
              <a:gd name="adj" fmla="val 10000"/>
            </a:avLst>
          </a:prstGeom>
          <a:solidFill>
            <a:srgbClr val="F2F5FA"/>
          </a:solidFill>
          <a:ln w="12700">
            <a:solidFill>
              <a:srgbClr val="DCE3ED"/>
            </a:solidFill>
            <a:prstDash val="solid"/>
          </a:ln>
        </p:spPr>
      </p:sp>
      <p:sp>
        <p:nvSpPr>
          <p:cNvPr id="17" name="Shape 11"/>
          <p:cNvSpPr/>
          <p:nvPr/>
        </p:nvSpPr>
        <p:spPr>
          <a:xfrm>
            <a:off x="5550408" y="4645152"/>
            <a:ext cx="566928" cy="566928"/>
          </a:xfrm>
          <a:prstGeom prst="ellipse">
            <a:avLst/>
          </a:prstGeom>
          <a:solidFill>
            <a:srgbClr val="FFB703"/>
          </a:solidFill>
          <a:ln/>
        </p:spPr>
      </p:sp>
      <p:pic>
        <p:nvPicPr>
          <p:cNvPr id="18" name="Image 2" descr="assets/icons/rocket_w.png">    </p:cNvPr>
          <p:cNvPicPr>
            <a:picLocks noChangeAspect="1"/>
          </p:cNvPicPr>
          <p:nvPr/>
        </p:nvPicPr>
        <p:blipFill>
          <a:blip r:embed="rId4"/>
          <a:stretch>
            <a:fillRect/>
          </a:stretch>
        </p:blipFill>
        <p:spPr>
          <a:xfrm>
            <a:off x="5678424" y="4773168"/>
            <a:ext cx="310896" cy="310896"/>
          </a:xfrm>
          <a:prstGeom prst="rect">
            <a:avLst/>
          </a:prstGeom>
        </p:spPr>
      </p:pic>
      <p:sp>
        <p:nvSpPr>
          <p:cNvPr id="19" name="Text 12"/>
          <p:cNvSpPr/>
          <p:nvPr/>
        </p:nvSpPr>
        <p:spPr>
          <a:xfrm>
            <a:off x="6300216" y="4700016"/>
            <a:ext cx="5065776" cy="384048"/>
          </a:xfrm>
          <a:prstGeom prst="rect">
            <a:avLst/>
          </a:prstGeom>
          <a:noFill/>
          <a:ln/>
        </p:spPr>
        <p:txBody>
          <a:bodyPr wrap="square" lIns="0" tIns="0" rIns="0" bIns="0" rtlCol="0" anchor="ctr"/>
          <a:lstStyle/>
          <a:p>
            <a:pPr indent="0" marL="0">
              <a:buNone/>
            </a:pPr>
            <a:r>
              <a:rPr lang="en-US" sz="1650" b="1" dirty="0">
                <a:solidFill>
                  <a:srgbClr val="0B1437"/>
                </a:solidFill>
                <a:latin typeface="Calibri" pitchFamily="34" charset="0"/>
                <a:ea typeface="Calibri" pitchFamily="34" charset="-122"/>
                <a:cs typeface="Calibri" pitchFamily="34" charset="-120"/>
              </a:rPr>
              <a:t>Drives personalization &amp; automation</a:t>
            </a:r>
            <a:endParaRPr lang="en-US" sz="1650" dirty="0"/>
          </a:p>
        </p:txBody>
      </p:sp>
      <p:sp>
        <p:nvSpPr>
          <p:cNvPr id="20" name="Text 13"/>
          <p:cNvSpPr/>
          <p:nvPr/>
        </p:nvSpPr>
        <p:spPr>
          <a:xfrm>
            <a:off x="5257800" y="5779008"/>
            <a:ext cx="6400800" cy="365760"/>
          </a:xfrm>
          <a:prstGeom prst="rect">
            <a:avLst/>
          </a:prstGeom>
          <a:noFill/>
          <a:ln/>
        </p:spPr>
        <p:txBody>
          <a:bodyPr wrap="square" lIns="0" tIns="0" rIns="0" bIns="0" rtlCol="0" anchor="ctr"/>
          <a:lstStyle/>
          <a:p>
            <a:pPr indent="0" marL="0">
              <a:buNone/>
            </a:pPr>
            <a:r>
              <a:rPr lang="en-US" sz="1400" i="1" dirty="0">
                <a:solidFill>
                  <a:srgbClr val="5C6784"/>
                </a:solidFill>
                <a:latin typeface="Calibri" pitchFamily="34" charset="0"/>
                <a:ea typeface="Calibri" pitchFamily="34" charset="-122"/>
                <a:cs typeface="Calibri" pitchFamily="34" charset="-120"/>
              </a:rPr>
              <a:t>Without NLP, the majority of the world’s information is invisible to machines.</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74320"/>
          </a:xfrm>
          <a:prstGeom prst="rect">
            <a:avLst/>
          </a:prstGeom>
          <a:noFill/>
          <a:ln/>
        </p:spPr>
        <p:txBody>
          <a:bodyPr wrap="square" lIns="0" tIns="0" rIns="0" bIns="0" rtlCol="0" anchor="ctr"/>
          <a:lstStyle/>
          <a:p>
            <a:pPr algn="l" indent="0" marL="0">
              <a:buNone/>
            </a:pPr>
            <a:r>
              <a:rPr lang="en-US" sz="1200" b="1" spc="200" kern="0" dirty="0">
                <a:solidFill>
                  <a:srgbClr val="13887E"/>
                </a:solidFill>
                <a:latin typeface="Calibri" pitchFamily="34" charset="0"/>
                <a:ea typeface="Calibri" pitchFamily="34" charset="-122"/>
                <a:cs typeface="Calibri" pitchFamily="34" charset="-120"/>
              </a:rPr>
              <a:t>THE LANDSCAPE</a:t>
            </a:r>
            <a:endParaRPr lang="en-US" sz="1200" dirty="0"/>
          </a:p>
        </p:txBody>
      </p:sp>
      <p:sp>
        <p:nvSpPr>
          <p:cNvPr id="3" name="Text 1"/>
          <p:cNvSpPr/>
          <p:nvPr/>
        </p:nvSpPr>
        <p:spPr>
          <a:xfrm>
            <a:off x="566928" y="621792"/>
            <a:ext cx="10143439" cy="777240"/>
          </a:xfrm>
          <a:prstGeom prst="rect">
            <a:avLst/>
          </a:prstGeom>
          <a:noFill/>
          <a:ln/>
        </p:spPr>
        <p:txBody>
          <a:bodyPr wrap="square" lIns="0" tIns="0" rIns="0" bIns="0" rtlCol="0" anchor="t"/>
          <a:lstStyle/>
          <a:p>
            <a:pPr indent="0" marL="0">
              <a:buNone/>
            </a:pPr>
            <a:r>
              <a:rPr lang="en-US" sz="3600" b="1" dirty="0">
                <a:solidFill>
                  <a:srgbClr val="0B1437"/>
                </a:solidFill>
                <a:latin typeface="Cambria" pitchFamily="34" charset="0"/>
                <a:ea typeface="Cambria" pitchFamily="34" charset="-122"/>
                <a:cs typeface="Cambria" pitchFamily="34" charset="-120"/>
              </a:rPr>
              <a:t>Key NLP Tasks</a:t>
            </a:r>
            <a:endParaRPr lang="en-US" sz="3600" dirty="0"/>
          </a:p>
        </p:txBody>
      </p:sp>
      <p:sp>
        <p:nvSpPr>
          <p:cNvPr id="4" name="Text 2"/>
          <p:cNvSpPr/>
          <p:nvPr/>
        </p:nvSpPr>
        <p:spPr>
          <a:xfrm>
            <a:off x="10801807" y="310896"/>
            <a:ext cx="822960" cy="365760"/>
          </a:xfrm>
          <a:prstGeom prst="rect">
            <a:avLst/>
          </a:prstGeom>
          <a:noFill/>
          <a:ln/>
        </p:spPr>
        <p:txBody>
          <a:bodyPr wrap="square" lIns="0" tIns="0" rIns="0" bIns="0" rtlCol="0" anchor="ctr"/>
          <a:lstStyle/>
          <a:p>
            <a:pPr algn="r" indent="0" marL="0">
              <a:buNone/>
            </a:pPr>
            <a:r>
              <a:rPr lang="en-US" sz="1300" dirty="0">
                <a:solidFill>
                  <a:srgbClr val="A9B3C6"/>
                </a:solidFill>
                <a:latin typeface="Calibri" pitchFamily="34" charset="0"/>
                <a:ea typeface="Calibri" pitchFamily="34" charset="-122"/>
                <a:cs typeface="Calibri" pitchFamily="34" charset="-120"/>
              </a:rPr>
              <a:t>04</a:t>
            </a:r>
            <a:endParaRPr lang="en-US" sz="1300" dirty="0"/>
          </a:p>
        </p:txBody>
      </p:sp>
      <p:sp>
        <p:nvSpPr>
          <p:cNvPr id="6" name="Shape 3"/>
          <p:cNvSpPr/>
          <p:nvPr/>
        </p:nvSpPr>
        <p:spPr>
          <a:xfrm>
            <a:off x="566928" y="1737360"/>
            <a:ext cx="5285232" cy="1371600"/>
          </a:xfrm>
          <a:prstGeom prst="roundRect">
            <a:avLst>
              <a:gd name="adj" fmla="val 8000"/>
            </a:avLst>
          </a:prstGeom>
          <a:solidFill>
            <a:srgbClr val="F2F5FA"/>
          </a:solidFill>
          <a:ln w="12700">
            <a:solidFill>
              <a:srgbClr val="DCE3ED"/>
            </a:solidFill>
            <a:prstDash val="solid"/>
          </a:ln>
        </p:spPr>
      </p:sp>
      <p:sp>
        <p:nvSpPr>
          <p:cNvPr id="7" name="Shape 4"/>
          <p:cNvSpPr/>
          <p:nvPr/>
        </p:nvSpPr>
        <p:spPr>
          <a:xfrm>
            <a:off x="859536" y="2048256"/>
            <a:ext cx="566928" cy="566928"/>
          </a:xfrm>
          <a:prstGeom prst="ellipse">
            <a:avLst/>
          </a:prstGeom>
          <a:solidFill>
            <a:srgbClr val="2EC4B6"/>
          </a:solidFill>
          <a:ln/>
        </p:spPr>
      </p:sp>
      <p:pic>
        <p:nvPicPr>
          <p:cNvPr id="8" name="Image 0" descr="assets/icons/tags_w.png">    </p:cNvPr>
          <p:cNvPicPr>
            <a:picLocks noChangeAspect="1"/>
          </p:cNvPicPr>
          <p:nvPr/>
        </p:nvPicPr>
        <p:blipFill>
          <a:blip r:embed="rId1"/>
          <a:stretch>
            <a:fillRect/>
          </a:stretch>
        </p:blipFill>
        <p:spPr>
          <a:xfrm>
            <a:off x="987552" y="2176272"/>
            <a:ext cx="310896" cy="310896"/>
          </a:xfrm>
          <a:prstGeom prst="rect">
            <a:avLst/>
          </a:prstGeom>
        </p:spPr>
      </p:pic>
      <p:sp>
        <p:nvSpPr>
          <p:cNvPr id="9" name="Text 5"/>
          <p:cNvSpPr/>
          <p:nvPr/>
        </p:nvSpPr>
        <p:spPr>
          <a:xfrm>
            <a:off x="1609344" y="2011680"/>
            <a:ext cx="3950208" cy="384048"/>
          </a:xfrm>
          <a:prstGeom prst="rect">
            <a:avLst/>
          </a:prstGeom>
          <a:noFill/>
          <a:ln/>
        </p:spPr>
        <p:txBody>
          <a:bodyPr wrap="square" lIns="0" tIns="0" rIns="0" bIns="0" rtlCol="0" anchor="ctr"/>
          <a:lstStyle/>
          <a:p>
            <a:pPr indent="0" marL="0">
              <a:buNone/>
            </a:pPr>
            <a:r>
              <a:rPr lang="en-US" sz="1650" b="1" dirty="0">
                <a:solidFill>
                  <a:srgbClr val="0B1437"/>
                </a:solidFill>
                <a:latin typeface="Calibri" pitchFamily="34" charset="0"/>
                <a:ea typeface="Calibri" pitchFamily="34" charset="-122"/>
                <a:cs typeface="Calibri" pitchFamily="34" charset="-120"/>
              </a:rPr>
              <a:t>Text classification</a:t>
            </a:r>
            <a:endParaRPr lang="en-US" sz="1650" dirty="0"/>
          </a:p>
        </p:txBody>
      </p:sp>
      <p:sp>
        <p:nvSpPr>
          <p:cNvPr id="10" name="Text 6"/>
          <p:cNvSpPr/>
          <p:nvPr/>
        </p:nvSpPr>
        <p:spPr>
          <a:xfrm>
            <a:off x="1609344" y="2432304"/>
            <a:ext cx="3950208" cy="457200"/>
          </a:xfrm>
          <a:prstGeom prst="rect">
            <a:avLst/>
          </a:prstGeom>
          <a:noFill/>
          <a:ln/>
        </p:spPr>
        <p:txBody>
          <a:bodyPr wrap="square" lIns="0" tIns="0" rIns="0" bIns="0" rtlCol="0" anchor="t"/>
          <a:lstStyle/>
          <a:p>
            <a:pPr indent="0" marL="0">
              <a:lnSpc>
                <a:spcPct val="112000"/>
              </a:lnSpc>
              <a:buNone/>
            </a:pPr>
            <a:r>
              <a:rPr lang="en-US" sz="1350" dirty="0">
                <a:solidFill>
                  <a:srgbClr val="5C6784"/>
                </a:solidFill>
                <a:latin typeface="Calibri" pitchFamily="34" charset="0"/>
                <a:ea typeface="Calibri" pitchFamily="34" charset="-122"/>
                <a:cs typeface="Calibri" pitchFamily="34" charset="-120"/>
              </a:rPr>
              <a:t>Spam vs. not-spam, topic labels</a:t>
            </a:r>
            <a:endParaRPr lang="en-US" sz="1350" dirty="0"/>
          </a:p>
        </p:txBody>
      </p:sp>
      <p:sp>
        <p:nvSpPr>
          <p:cNvPr id="11" name="Shape 7"/>
          <p:cNvSpPr/>
          <p:nvPr/>
        </p:nvSpPr>
        <p:spPr>
          <a:xfrm>
            <a:off x="6355080" y="1737360"/>
            <a:ext cx="5285232" cy="1371600"/>
          </a:xfrm>
          <a:prstGeom prst="roundRect">
            <a:avLst>
              <a:gd name="adj" fmla="val 8000"/>
            </a:avLst>
          </a:prstGeom>
          <a:solidFill>
            <a:srgbClr val="F2F5FA"/>
          </a:solidFill>
          <a:ln w="12700">
            <a:solidFill>
              <a:srgbClr val="DCE3ED"/>
            </a:solidFill>
            <a:prstDash val="solid"/>
          </a:ln>
        </p:spPr>
      </p:sp>
      <p:sp>
        <p:nvSpPr>
          <p:cNvPr id="12" name="Shape 8"/>
          <p:cNvSpPr/>
          <p:nvPr/>
        </p:nvSpPr>
        <p:spPr>
          <a:xfrm>
            <a:off x="6647688" y="2048256"/>
            <a:ext cx="566928" cy="566928"/>
          </a:xfrm>
          <a:prstGeom prst="ellipse">
            <a:avLst/>
          </a:prstGeom>
          <a:solidFill>
            <a:srgbClr val="7C6BF2"/>
          </a:solidFill>
          <a:ln/>
        </p:spPr>
      </p:sp>
      <p:pic>
        <p:nvPicPr>
          <p:cNvPr id="13" name="Image 1" descr="assets/icons/usertag_w.png">    </p:cNvPr>
          <p:cNvPicPr>
            <a:picLocks noChangeAspect="1"/>
          </p:cNvPicPr>
          <p:nvPr/>
        </p:nvPicPr>
        <p:blipFill>
          <a:blip r:embed="rId2"/>
          <a:stretch>
            <a:fillRect/>
          </a:stretch>
        </p:blipFill>
        <p:spPr>
          <a:xfrm>
            <a:off x="6775704" y="2176272"/>
            <a:ext cx="310896" cy="310896"/>
          </a:xfrm>
          <a:prstGeom prst="rect">
            <a:avLst/>
          </a:prstGeom>
        </p:spPr>
      </p:pic>
      <p:sp>
        <p:nvSpPr>
          <p:cNvPr id="14" name="Text 9"/>
          <p:cNvSpPr/>
          <p:nvPr/>
        </p:nvSpPr>
        <p:spPr>
          <a:xfrm>
            <a:off x="7397496" y="2011680"/>
            <a:ext cx="3950208" cy="384048"/>
          </a:xfrm>
          <a:prstGeom prst="rect">
            <a:avLst/>
          </a:prstGeom>
          <a:noFill/>
          <a:ln/>
        </p:spPr>
        <p:txBody>
          <a:bodyPr wrap="square" lIns="0" tIns="0" rIns="0" bIns="0" rtlCol="0" anchor="ctr"/>
          <a:lstStyle/>
          <a:p>
            <a:pPr indent="0" marL="0">
              <a:buNone/>
            </a:pPr>
            <a:r>
              <a:rPr lang="en-US" sz="1650" b="1" dirty="0">
                <a:solidFill>
                  <a:srgbClr val="0B1437"/>
                </a:solidFill>
                <a:latin typeface="Calibri" pitchFamily="34" charset="0"/>
                <a:ea typeface="Calibri" pitchFamily="34" charset="-122"/>
                <a:cs typeface="Calibri" pitchFamily="34" charset="-120"/>
              </a:rPr>
              <a:t>Named Entity Recognition (NER)</a:t>
            </a:r>
            <a:endParaRPr lang="en-US" sz="1650" dirty="0"/>
          </a:p>
        </p:txBody>
      </p:sp>
      <p:sp>
        <p:nvSpPr>
          <p:cNvPr id="15" name="Text 10"/>
          <p:cNvSpPr/>
          <p:nvPr/>
        </p:nvSpPr>
        <p:spPr>
          <a:xfrm>
            <a:off x="7397496" y="2432304"/>
            <a:ext cx="3950208" cy="457200"/>
          </a:xfrm>
          <a:prstGeom prst="rect">
            <a:avLst/>
          </a:prstGeom>
          <a:noFill/>
          <a:ln/>
        </p:spPr>
        <p:txBody>
          <a:bodyPr wrap="square" lIns="0" tIns="0" rIns="0" bIns="0" rtlCol="0" anchor="t"/>
          <a:lstStyle/>
          <a:p>
            <a:pPr indent="0" marL="0">
              <a:lnSpc>
                <a:spcPct val="112000"/>
              </a:lnSpc>
              <a:buNone/>
            </a:pPr>
            <a:r>
              <a:rPr lang="en-US" sz="1350" dirty="0">
                <a:solidFill>
                  <a:srgbClr val="5C6784"/>
                </a:solidFill>
                <a:latin typeface="Calibri" pitchFamily="34" charset="0"/>
                <a:ea typeface="Calibri" pitchFamily="34" charset="-122"/>
                <a:cs typeface="Calibri" pitchFamily="34" charset="-120"/>
              </a:rPr>
              <a:t>People, places, organizations</a:t>
            </a:r>
            <a:endParaRPr lang="en-US" sz="1350" dirty="0"/>
          </a:p>
        </p:txBody>
      </p:sp>
      <p:sp>
        <p:nvSpPr>
          <p:cNvPr id="16" name="Shape 11"/>
          <p:cNvSpPr/>
          <p:nvPr/>
        </p:nvSpPr>
        <p:spPr>
          <a:xfrm>
            <a:off x="566928" y="3246120"/>
            <a:ext cx="5285232" cy="1371600"/>
          </a:xfrm>
          <a:prstGeom prst="roundRect">
            <a:avLst>
              <a:gd name="adj" fmla="val 8000"/>
            </a:avLst>
          </a:prstGeom>
          <a:solidFill>
            <a:srgbClr val="F2F5FA"/>
          </a:solidFill>
          <a:ln w="12700">
            <a:solidFill>
              <a:srgbClr val="DCE3ED"/>
            </a:solidFill>
            <a:prstDash val="solid"/>
          </a:ln>
        </p:spPr>
      </p:sp>
      <p:sp>
        <p:nvSpPr>
          <p:cNvPr id="17" name="Shape 12"/>
          <p:cNvSpPr/>
          <p:nvPr/>
        </p:nvSpPr>
        <p:spPr>
          <a:xfrm>
            <a:off x="859536" y="3557016"/>
            <a:ext cx="566928" cy="566928"/>
          </a:xfrm>
          <a:prstGeom prst="ellipse">
            <a:avLst/>
          </a:prstGeom>
          <a:solidFill>
            <a:srgbClr val="FFB703"/>
          </a:solidFill>
          <a:ln/>
        </p:spPr>
      </p:sp>
      <p:pic>
        <p:nvPicPr>
          <p:cNvPr id="18" name="Image 2" descr="assets/icons/smile_w.png">    </p:cNvPr>
          <p:cNvPicPr>
            <a:picLocks noChangeAspect="1"/>
          </p:cNvPicPr>
          <p:nvPr/>
        </p:nvPicPr>
        <p:blipFill>
          <a:blip r:embed="rId3"/>
          <a:stretch>
            <a:fillRect/>
          </a:stretch>
        </p:blipFill>
        <p:spPr>
          <a:xfrm>
            <a:off x="987552" y="3685032"/>
            <a:ext cx="310896" cy="310896"/>
          </a:xfrm>
          <a:prstGeom prst="rect">
            <a:avLst/>
          </a:prstGeom>
        </p:spPr>
      </p:pic>
      <p:sp>
        <p:nvSpPr>
          <p:cNvPr id="19" name="Text 13"/>
          <p:cNvSpPr/>
          <p:nvPr/>
        </p:nvSpPr>
        <p:spPr>
          <a:xfrm>
            <a:off x="1609344" y="3520440"/>
            <a:ext cx="3950208" cy="384048"/>
          </a:xfrm>
          <a:prstGeom prst="rect">
            <a:avLst/>
          </a:prstGeom>
          <a:noFill/>
          <a:ln/>
        </p:spPr>
        <p:txBody>
          <a:bodyPr wrap="square" lIns="0" tIns="0" rIns="0" bIns="0" rtlCol="0" anchor="ctr"/>
          <a:lstStyle/>
          <a:p>
            <a:pPr indent="0" marL="0">
              <a:buNone/>
            </a:pPr>
            <a:r>
              <a:rPr lang="en-US" sz="1650" b="1" dirty="0">
                <a:solidFill>
                  <a:srgbClr val="0B1437"/>
                </a:solidFill>
                <a:latin typeface="Calibri" pitchFamily="34" charset="0"/>
                <a:ea typeface="Calibri" pitchFamily="34" charset="-122"/>
                <a:cs typeface="Calibri" pitchFamily="34" charset="-120"/>
              </a:rPr>
              <a:t>Sentiment analysis</a:t>
            </a:r>
            <a:endParaRPr lang="en-US" sz="1650" dirty="0"/>
          </a:p>
        </p:txBody>
      </p:sp>
      <p:sp>
        <p:nvSpPr>
          <p:cNvPr id="20" name="Text 14"/>
          <p:cNvSpPr/>
          <p:nvPr/>
        </p:nvSpPr>
        <p:spPr>
          <a:xfrm>
            <a:off x="1609344" y="3941064"/>
            <a:ext cx="3950208" cy="457200"/>
          </a:xfrm>
          <a:prstGeom prst="rect">
            <a:avLst/>
          </a:prstGeom>
          <a:noFill/>
          <a:ln/>
        </p:spPr>
        <p:txBody>
          <a:bodyPr wrap="square" lIns="0" tIns="0" rIns="0" bIns="0" rtlCol="0" anchor="t"/>
          <a:lstStyle/>
          <a:p>
            <a:pPr indent="0" marL="0">
              <a:lnSpc>
                <a:spcPct val="112000"/>
              </a:lnSpc>
              <a:buNone/>
            </a:pPr>
            <a:r>
              <a:rPr lang="en-US" sz="1350" dirty="0">
                <a:solidFill>
                  <a:srgbClr val="5C6784"/>
                </a:solidFill>
                <a:latin typeface="Calibri" pitchFamily="34" charset="0"/>
                <a:ea typeface="Calibri" pitchFamily="34" charset="-122"/>
                <a:cs typeface="Calibri" pitchFamily="34" charset="-120"/>
              </a:rPr>
              <a:t>Positive, negative, neutral</a:t>
            </a:r>
            <a:endParaRPr lang="en-US" sz="1350" dirty="0"/>
          </a:p>
        </p:txBody>
      </p:sp>
      <p:sp>
        <p:nvSpPr>
          <p:cNvPr id="21" name="Shape 15"/>
          <p:cNvSpPr/>
          <p:nvPr/>
        </p:nvSpPr>
        <p:spPr>
          <a:xfrm>
            <a:off x="6355080" y="3246120"/>
            <a:ext cx="5285232" cy="1371600"/>
          </a:xfrm>
          <a:prstGeom prst="roundRect">
            <a:avLst>
              <a:gd name="adj" fmla="val 8000"/>
            </a:avLst>
          </a:prstGeom>
          <a:solidFill>
            <a:srgbClr val="F2F5FA"/>
          </a:solidFill>
          <a:ln w="12700">
            <a:solidFill>
              <a:srgbClr val="DCE3ED"/>
            </a:solidFill>
            <a:prstDash val="solid"/>
          </a:ln>
        </p:spPr>
      </p:sp>
      <p:sp>
        <p:nvSpPr>
          <p:cNvPr id="22" name="Shape 16"/>
          <p:cNvSpPr/>
          <p:nvPr/>
        </p:nvSpPr>
        <p:spPr>
          <a:xfrm>
            <a:off x="6647688" y="3557016"/>
            <a:ext cx="566928" cy="566928"/>
          </a:xfrm>
          <a:prstGeom prst="ellipse">
            <a:avLst/>
          </a:prstGeom>
          <a:solidFill>
            <a:srgbClr val="EF476F"/>
          </a:solidFill>
          <a:ln/>
        </p:spPr>
      </p:sp>
      <p:pic>
        <p:nvPicPr>
          <p:cNvPr id="23" name="Image 3" descr="assets/icons/language_w.png">    </p:cNvPr>
          <p:cNvPicPr>
            <a:picLocks noChangeAspect="1"/>
          </p:cNvPicPr>
          <p:nvPr/>
        </p:nvPicPr>
        <p:blipFill>
          <a:blip r:embed="rId4"/>
          <a:stretch>
            <a:fillRect/>
          </a:stretch>
        </p:blipFill>
        <p:spPr>
          <a:xfrm>
            <a:off x="6775704" y="3685032"/>
            <a:ext cx="310896" cy="310896"/>
          </a:xfrm>
          <a:prstGeom prst="rect">
            <a:avLst/>
          </a:prstGeom>
        </p:spPr>
      </p:pic>
      <p:sp>
        <p:nvSpPr>
          <p:cNvPr id="24" name="Text 17"/>
          <p:cNvSpPr/>
          <p:nvPr/>
        </p:nvSpPr>
        <p:spPr>
          <a:xfrm>
            <a:off x="7397496" y="3520440"/>
            <a:ext cx="3950208" cy="384048"/>
          </a:xfrm>
          <a:prstGeom prst="rect">
            <a:avLst/>
          </a:prstGeom>
          <a:noFill/>
          <a:ln/>
        </p:spPr>
        <p:txBody>
          <a:bodyPr wrap="square" lIns="0" tIns="0" rIns="0" bIns="0" rtlCol="0" anchor="ctr"/>
          <a:lstStyle/>
          <a:p>
            <a:pPr indent="0" marL="0">
              <a:buNone/>
            </a:pPr>
            <a:r>
              <a:rPr lang="en-US" sz="1650" b="1" dirty="0">
                <a:solidFill>
                  <a:srgbClr val="0B1437"/>
                </a:solidFill>
                <a:latin typeface="Calibri" pitchFamily="34" charset="0"/>
                <a:ea typeface="Calibri" pitchFamily="34" charset="-122"/>
                <a:cs typeface="Calibri" pitchFamily="34" charset="-120"/>
              </a:rPr>
              <a:t>Machine translation</a:t>
            </a:r>
            <a:endParaRPr lang="en-US" sz="1650" dirty="0"/>
          </a:p>
        </p:txBody>
      </p:sp>
      <p:sp>
        <p:nvSpPr>
          <p:cNvPr id="25" name="Text 18"/>
          <p:cNvSpPr/>
          <p:nvPr/>
        </p:nvSpPr>
        <p:spPr>
          <a:xfrm>
            <a:off x="7397496" y="3941064"/>
            <a:ext cx="3950208" cy="457200"/>
          </a:xfrm>
          <a:prstGeom prst="rect">
            <a:avLst/>
          </a:prstGeom>
          <a:noFill/>
          <a:ln/>
        </p:spPr>
        <p:txBody>
          <a:bodyPr wrap="square" lIns="0" tIns="0" rIns="0" bIns="0" rtlCol="0" anchor="t"/>
          <a:lstStyle/>
          <a:p>
            <a:pPr indent="0" marL="0">
              <a:lnSpc>
                <a:spcPct val="112000"/>
              </a:lnSpc>
              <a:buNone/>
            </a:pPr>
            <a:r>
              <a:rPr lang="en-US" sz="1350" dirty="0">
                <a:solidFill>
                  <a:srgbClr val="5C6784"/>
                </a:solidFill>
                <a:latin typeface="Calibri" pitchFamily="34" charset="0"/>
                <a:ea typeface="Calibri" pitchFamily="34" charset="-122"/>
                <a:cs typeface="Calibri" pitchFamily="34" charset="-120"/>
              </a:rPr>
              <a:t>English → Spanish, Chinese …</a:t>
            </a:r>
            <a:endParaRPr lang="en-US" sz="1350" dirty="0"/>
          </a:p>
        </p:txBody>
      </p:sp>
      <p:sp>
        <p:nvSpPr>
          <p:cNvPr id="26" name="Shape 19"/>
          <p:cNvSpPr/>
          <p:nvPr/>
        </p:nvSpPr>
        <p:spPr>
          <a:xfrm>
            <a:off x="566928" y="4754880"/>
            <a:ext cx="5285232" cy="1371600"/>
          </a:xfrm>
          <a:prstGeom prst="roundRect">
            <a:avLst>
              <a:gd name="adj" fmla="val 8000"/>
            </a:avLst>
          </a:prstGeom>
          <a:solidFill>
            <a:srgbClr val="F2F5FA"/>
          </a:solidFill>
          <a:ln w="12700">
            <a:solidFill>
              <a:srgbClr val="DCE3ED"/>
            </a:solidFill>
            <a:prstDash val="solid"/>
          </a:ln>
        </p:spPr>
      </p:sp>
      <p:sp>
        <p:nvSpPr>
          <p:cNvPr id="27" name="Shape 20"/>
          <p:cNvSpPr/>
          <p:nvPr/>
        </p:nvSpPr>
        <p:spPr>
          <a:xfrm>
            <a:off x="859536" y="5065776"/>
            <a:ext cx="566928" cy="566928"/>
          </a:xfrm>
          <a:prstGeom prst="ellipse">
            <a:avLst/>
          </a:prstGeom>
          <a:solidFill>
            <a:srgbClr val="13887E"/>
          </a:solidFill>
          <a:ln/>
        </p:spPr>
      </p:sp>
      <p:pic>
        <p:nvPicPr>
          <p:cNvPr id="28" name="Image 4" descr="assets/icons/question_w.png">    </p:cNvPr>
          <p:cNvPicPr>
            <a:picLocks noChangeAspect="1"/>
          </p:cNvPicPr>
          <p:nvPr/>
        </p:nvPicPr>
        <p:blipFill>
          <a:blip r:embed="rId5"/>
          <a:stretch>
            <a:fillRect/>
          </a:stretch>
        </p:blipFill>
        <p:spPr>
          <a:xfrm>
            <a:off x="987552" y="5193792"/>
            <a:ext cx="310896" cy="310896"/>
          </a:xfrm>
          <a:prstGeom prst="rect">
            <a:avLst/>
          </a:prstGeom>
        </p:spPr>
      </p:pic>
      <p:sp>
        <p:nvSpPr>
          <p:cNvPr id="29" name="Text 21"/>
          <p:cNvSpPr/>
          <p:nvPr/>
        </p:nvSpPr>
        <p:spPr>
          <a:xfrm>
            <a:off x="1609344" y="5029200"/>
            <a:ext cx="3950208" cy="384048"/>
          </a:xfrm>
          <a:prstGeom prst="rect">
            <a:avLst/>
          </a:prstGeom>
          <a:noFill/>
          <a:ln/>
        </p:spPr>
        <p:txBody>
          <a:bodyPr wrap="square" lIns="0" tIns="0" rIns="0" bIns="0" rtlCol="0" anchor="ctr"/>
          <a:lstStyle/>
          <a:p>
            <a:pPr indent="0" marL="0">
              <a:buNone/>
            </a:pPr>
            <a:r>
              <a:rPr lang="en-US" sz="1650" b="1" dirty="0">
                <a:solidFill>
                  <a:srgbClr val="0B1437"/>
                </a:solidFill>
                <a:latin typeface="Calibri" pitchFamily="34" charset="0"/>
                <a:ea typeface="Calibri" pitchFamily="34" charset="-122"/>
                <a:cs typeface="Calibri" pitchFamily="34" charset="-120"/>
              </a:rPr>
              <a:t>Question answering</a:t>
            </a:r>
            <a:endParaRPr lang="en-US" sz="1650" dirty="0"/>
          </a:p>
        </p:txBody>
      </p:sp>
      <p:sp>
        <p:nvSpPr>
          <p:cNvPr id="30" name="Text 22"/>
          <p:cNvSpPr/>
          <p:nvPr/>
        </p:nvSpPr>
        <p:spPr>
          <a:xfrm>
            <a:off x="1609344" y="5449824"/>
            <a:ext cx="3950208" cy="457200"/>
          </a:xfrm>
          <a:prstGeom prst="rect">
            <a:avLst/>
          </a:prstGeom>
          <a:noFill/>
          <a:ln/>
        </p:spPr>
        <p:txBody>
          <a:bodyPr wrap="square" lIns="0" tIns="0" rIns="0" bIns="0" rtlCol="0" anchor="t"/>
          <a:lstStyle/>
          <a:p>
            <a:pPr indent="0" marL="0">
              <a:lnSpc>
                <a:spcPct val="112000"/>
              </a:lnSpc>
              <a:buNone/>
            </a:pPr>
            <a:r>
              <a:rPr lang="en-US" sz="1350" dirty="0">
                <a:solidFill>
                  <a:srgbClr val="5C6784"/>
                </a:solidFill>
                <a:latin typeface="Calibri" pitchFamily="34" charset="0"/>
                <a:ea typeface="Calibri" pitchFamily="34" charset="-122"/>
                <a:cs typeface="Calibri" pitchFamily="34" charset="-120"/>
              </a:rPr>
              <a:t>Siri, Alexa, search snippets</a:t>
            </a:r>
            <a:endParaRPr lang="en-US" sz="1350" dirty="0"/>
          </a:p>
        </p:txBody>
      </p:sp>
      <p:sp>
        <p:nvSpPr>
          <p:cNvPr id="31" name="Shape 23"/>
          <p:cNvSpPr/>
          <p:nvPr/>
        </p:nvSpPr>
        <p:spPr>
          <a:xfrm>
            <a:off x="6355080" y="4754880"/>
            <a:ext cx="5285232" cy="1371600"/>
          </a:xfrm>
          <a:prstGeom prst="roundRect">
            <a:avLst>
              <a:gd name="adj" fmla="val 6667"/>
            </a:avLst>
          </a:prstGeom>
          <a:solidFill>
            <a:srgbClr val="0B1437"/>
          </a:solidFill>
          <a:ln w="12700">
            <a:solidFill>
              <a:srgbClr val="16204A"/>
            </a:solidFill>
            <a:prstDash val="solid"/>
          </a:ln>
        </p:spPr>
      </p:sp>
      <p:sp>
        <p:nvSpPr>
          <p:cNvPr id="32" name="Text 24"/>
          <p:cNvSpPr/>
          <p:nvPr/>
        </p:nvSpPr>
        <p:spPr>
          <a:xfrm>
            <a:off x="6592824" y="4882896"/>
            <a:ext cx="4828032" cy="237744"/>
          </a:xfrm>
          <a:prstGeom prst="rect">
            <a:avLst/>
          </a:prstGeom>
          <a:noFill/>
          <a:ln/>
        </p:spPr>
        <p:txBody>
          <a:bodyPr wrap="square" lIns="0" tIns="0" rIns="0" bIns="0" rtlCol="0" anchor="ctr"/>
          <a:lstStyle/>
          <a:p>
            <a:pPr indent="0" marL="0">
              <a:buNone/>
            </a:pPr>
            <a:r>
              <a:rPr lang="en-US" sz="1100" b="1" spc="100" kern="0" dirty="0">
                <a:solidFill>
                  <a:srgbClr val="2EC4B6"/>
                </a:solidFill>
                <a:latin typeface="Calibri" pitchFamily="34" charset="0"/>
                <a:ea typeface="Calibri" pitchFamily="34" charset="-122"/>
                <a:cs typeface="Calibri" pitchFamily="34" charset="-120"/>
              </a:rPr>
              <a:t>ONE PIPELINE, MANY TASKS</a:t>
            </a:r>
            <a:endParaRPr lang="en-US" sz="1100" dirty="0"/>
          </a:p>
        </p:txBody>
      </p:sp>
      <p:sp>
        <p:nvSpPr>
          <p:cNvPr id="33" name="Text 25"/>
          <p:cNvSpPr/>
          <p:nvPr/>
        </p:nvSpPr>
        <p:spPr>
          <a:xfrm>
            <a:off x="6592824" y="5157216"/>
            <a:ext cx="4828032" cy="822960"/>
          </a:xfrm>
          <a:prstGeom prst="rect">
            <a:avLst/>
          </a:prstGeom>
          <a:noFill/>
          <a:ln/>
        </p:spPr>
        <p:txBody>
          <a:bodyPr wrap="square" lIns="0" tIns="0" rIns="0" bIns="0" rtlCol="0" anchor="t"/>
          <a:lstStyle/>
          <a:p>
            <a:pPr indent="0" marL="0">
              <a:lnSpc>
                <a:spcPct val="106000"/>
              </a:lnSpc>
              <a:buNone/>
            </a:pPr>
            <a:r>
              <a:rPr lang="en-US" sz="1200" dirty="0">
                <a:solidFill>
                  <a:srgbClr val="EAF0FA"/>
                </a:solidFill>
                <a:latin typeface="Courier New" pitchFamily="34" charset="0"/>
                <a:ea typeface="Courier New" pitchFamily="34" charset="-122"/>
                <a:cs typeface="Courier New" pitchFamily="34" charset="-120"/>
              </a:rPr>
              <a:t>from transformers import pipeline</a:t>
            </a:r>
            <a:endParaRPr lang="en-US" sz="1200" dirty="0"/>
          </a:p>
          <a:p>
            <a:pPr indent="0" marL="0">
              <a:lnSpc>
                <a:spcPct val="106000"/>
              </a:lnSpc>
              <a:buNone/>
            </a:pPr>
            <a:r>
              <a:rPr lang="en-US" sz="1200" dirty="0">
                <a:solidFill>
                  <a:srgbClr val="EAF0FA"/>
                </a:solidFill>
                <a:latin typeface="Courier New" pitchFamily="34" charset="0"/>
                <a:ea typeface="Courier New" pitchFamily="34" charset="-122"/>
                <a:cs typeface="Courier New" pitchFamily="34" charset="-120"/>
              </a:rPr>
              <a:t>clf = pipeline("sentiment-analysis")</a:t>
            </a:r>
            <a:endParaRPr lang="en-US" sz="1200" dirty="0"/>
          </a:p>
          <a:p>
            <a:pPr indent="0" marL="0">
              <a:lnSpc>
                <a:spcPct val="106000"/>
              </a:lnSpc>
              <a:buNone/>
            </a:pPr>
            <a:r>
              <a:rPr lang="en-US" sz="1200" dirty="0">
                <a:solidFill>
                  <a:srgbClr val="EAF0FA"/>
                </a:solidFill>
                <a:latin typeface="Courier New" pitchFamily="34" charset="0"/>
                <a:ea typeface="Courier New" pitchFamily="34" charset="-122"/>
                <a:cs typeface="Courier New" pitchFamily="34" charset="-120"/>
              </a:rPr>
              <a:t>clf("NLP is incredibly useful!")</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74320"/>
          </a:xfrm>
          <a:prstGeom prst="rect">
            <a:avLst/>
          </a:prstGeom>
          <a:noFill/>
          <a:ln/>
        </p:spPr>
        <p:txBody>
          <a:bodyPr wrap="square" lIns="0" tIns="0" rIns="0" bIns="0" rtlCol="0" anchor="ctr"/>
          <a:lstStyle/>
          <a:p>
            <a:pPr algn="l" indent="0" marL="0">
              <a:buNone/>
            </a:pPr>
            <a:r>
              <a:rPr lang="en-US" sz="1200" b="1" spc="200" kern="0" dirty="0">
                <a:solidFill>
                  <a:srgbClr val="13887E"/>
                </a:solidFill>
                <a:latin typeface="Calibri" pitchFamily="34" charset="0"/>
                <a:ea typeface="Calibri" pitchFamily="34" charset="-122"/>
                <a:cs typeface="Calibri" pitchFamily="34" charset="-120"/>
              </a:rPr>
              <a:t>EXAMPLE</a:t>
            </a:r>
            <a:endParaRPr lang="en-US" sz="1200" dirty="0"/>
          </a:p>
        </p:txBody>
      </p:sp>
      <p:sp>
        <p:nvSpPr>
          <p:cNvPr id="3" name="Text 1"/>
          <p:cNvSpPr/>
          <p:nvPr/>
        </p:nvSpPr>
        <p:spPr>
          <a:xfrm>
            <a:off x="566928" y="621792"/>
            <a:ext cx="10143439" cy="777240"/>
          </a:xfrm>
          <a:prstGeom prst="rect">
            <a:avLst/>
          </a:prstGeom>
          <a:noFill/>
          <a:ln/>
        </p:spPr>
        <p:txBody>
          <a:bodyPr wrap="square" lIns="0" tIns="0" rIns="0" bIns="0" rtlCol="0" anchor="t"/>
          <a:lstStyle/>
          <a:p>
            <a:pPr indent="0" marL="0">
              <a:buNone/>
            </a:pPr>
            <a:r>
              <a:rPr lang="en-US" sz="3600" b="1" dirty="0">
                <a:solidFill>
                  <a:srgbClr val="0B1437"/>
                </a:solidFill>
                <a:latin typeface="Cambria" pitchFamily="34" charset="0"/>
                <a:ea typeface="Cambria" pitchFamily="34" charset="-122"/>
                <a:cs typeface="Cambria" pitchFamily="34" charset="-120"/>
              </a:rPr>
              <a:t>Example: Sentiment Analysis</a:t>
            </a:r>
            <a:endParaRPr lang="en-US" sz="3600" dirty="0"/>
          </a:p>
        </p:txBody>
      </p:sp>
      <p:sp>
        <p:nvSpPr>
          <p:cNvPr id="4" name="Text 2"/>
          <p:cNvSpPr/>
          <p:nvPr/>
        </p:nvSpPr>
        <p:spPr>
          <a:xfrm>
            <a:off x="10801807" y="310896"/>
            <a:ext cx="822960" cy="365760"/>
          </a:xfrm>
          <a:prstGeom prst="rect">
            <a:avLst/>
          </a:prstGeom>
          <a:noFill/>
          <a:ln/>
        </p:spPr>
        <p:txBody>
          <a:bodyPr wrap="square" lIns="0" tIns="0" rIns="0" bIns="0" rtlCol="0" anchor="ctr"/>
          <a:lstStyle/>
          <a:p>
            <a:pPr algn="r" indent="0" marL="0">
              <a:buNone/>
            </a:pPr>
            <a:r>
              <a:rPr lang="en-US" sz="1300" dirty="0">
                <a:solidFill>
                  <a:srgbClr val="A9B3C6"/>
                </a:solidFill>
                <a:latin typeface="Calibri" pitchFamily="34" charset="0"/>
                <a:ea typeface="Calibri" pitchFamily="34" charset="-122"/>
                <a:cs typeface="Calibri" pitchFamily="34" charset="-120"/>
              </a:rPr>
              <a:t>05</a:t>
            </a:r>
            <a:endParaRPr lang="en-US" sz="1300" dirty="0"/>
          </a:p>
        </p:txBody>
      </p:sp>
      <p:pic>
        <p:nvPicPr>
          <p:cNvPr id="6" name="Image 0" descr="assets/sentiment_meter.png">    </p:cNvPr>
          <p:cNvPicPr>
            <a:picLocks noChangeAspect="1"/>
          </p:cNvPicPr>
          <p:nvPr/>
        </p:nvPicPr>
        <p:blipFill>
          <a:blip r:embed="rId1"/>
          <a:stretch>
            <a:fillRect/>
          </a:stretch>
        </p:blipFill>
        <p:spPr>
          <a:xfrm>
            <a:off x="6696456" y="1554480"/>
            <a:ext cx="4437888" cy="2377440"/>
          </a:xfrm>
          <a:prstGeom prst="rect">
            <a:avLst/>
          </a:prstGeom>
        </p:spPr>
      </p:pic>
      <p:sp>
        <p:nvSpPr>
          <p:cNvPr id="7" name="Shape 3"/>
          <p:cNvSpPr/>
          <p:nvPr/>
        </p:nvSpPr>
        <p:spPr>
          <a:xfrm>
            <a:off x="566928" y="1783080"/>
            <a:ext cx="5349240" cy="932688"/>
          </a:xfrm>
          <a:prstGeom prst="roundRect">
            <a:avLst>
              <a:gd name="adj" fmla="val 11765"/>
            </a:avLst>
          </a:prstGeom>
          <a:solidFill>
            <a:srgbClr val="F2F5FA"/>
          </a:solidFill>
          <a:ln w="12700">
            <a:solidFill>
              <a:srgbClr val="DCE3ED"/>
            </a:solidFill>
            <a:prstDash val="solid"/>
          </a:ln>
        </p:spPr>
      </p:sp>
      <p:sp>
        <p:nvSpPr>
          <p:cNvPr id="8" name="Text 4"/>
          <p:cNvSpPr/>
          <p:nvPr/>
        </p:nvSpPr>
        <p:spPr>
          <a:xfrm>
            <a:off x="822960" y="1856232"/>
            <a:ext cx="3657600" cy="786384"/>
          </a:xfrm>
          <a:prstGeom prst="rect">
            <a:avLst/>
          </a:prstGeom>
          <a:noFill/>
          <a:ln/>
        </p:spPr>
        <p:txBody>
          <a:bodyPr wrap="square" lIns="0" tIns="0" rIns="0" bIns="0" rtlCol="0" anchor="ctr"/>
          <a:lstStyle/>
          <a:p>
            <a:pPr indent="0" marL="0">
              <a:buNone/>
            </a:pPr>
            <a:r>
              <a:rPr lang="en-US" sz="1550" dirty="0">
                <a:solidFill>
                  <a:srgbClr val="0B1437"/>
                </a:solidFill>
                <a:latin typeface="Calibri" pitchFamily="34" charset="0"/>
                <a:ea typeface="Calibri" pitchFamily="34" charset="-122"/>
                <a:cs typeface="Calibri" pitchFamily="34" charset="-120"/>
              </a:rPr>
              <a:t>“The new iPhone is amazing!”</a:t>
            </a:r>
            <a:endParaRPr lang="en-US" sz="1550" dirty="0"/>
          </a:p>
        </p:txBody>
      </p:sp>
      <p:sp>
        <p:nvSpPr>
          <p:cNvPr id="9" name="Shape 5"/>
          <p:cNvSpPr/>
          <p:nvPr/>
        </p:nvSpPr>
        <p:spPr>
          <a:xfrm>
            <a:off x="4544568" y="2039112"/>
            <a:ext cx="1133856" cy="420624"/>
          </a:xfrm>
          <a:prstGeom prst="roundRect">
            <a:avLst>
              <a:gd name="adj" fmla="val 43478"/>
            </a:avLst>
          </a:prstGeom>
          <a:solidFill>
            <a:srgbClr val="2EC4B6"/>
          </a:solidFill>
          <a:ln/>
        </p:spPr>
      </p:sp>
      <p:sp>
        <p:nvSpPr>
          <p:cNvPr id="10" name="Text 6"/>
          <p:cNvSpPr/>
          <p:nvPr/>
        </p:nvSpPr>
        <p:spPr>
          <a:xfrm>
            <a:off x="4544568" y="2039112"/>
            <a:ext cx="1133856" cy="420624"/>
          </a:xfrm>
          <a:prstGeom prst="rect">
            <a:avLst/>
          </a:prstGeom>
          <a:noFill/>
          <a:ln/>
        </p:spPr>
        <p:txBody>
          <a:bodyPr wrap="square" lIns="0" tIns="0" rIns="0" bIns="0" rtlCol="0" anchor="ctr"/>
          <a:lstStyle/>
          <a:p>
            <a:pPr algn="ctr" indent="0" marL="0">
              <a:buNone/>
            </a:pPr>
            <a:r>
              <a:rPr lang="en-US" sz="1250" b="1" dirty="0">
                <a:solidFill>
                  <a:srgbClr val="0B1437"/>
                </a:solidFill>
                <a:latin typeface="Calibri" pitchFamily="34" charset="0"/>
                <a:ea typeface="Calibri" pitchFamily="34" charset="-122"/>
                <a:cs typeface="Calibri" pitchFamily="34" charset="-120"/>
              </a:rPr>
              <a:t>Positive</a:t>
            </a:r>
            <a:endParaRPr lang="en-US" sz="1250" dirty="0"/>
          </a:p>
        </p:txBody>
      </p:sp>
      <p:sp>
        <p:nvSpPr>
          <p:cNvPr id="11" name="Shape 7"/>
          <p:cNvSpPr/>
          <p:nvPr/>
        </p:nvSpPr>
        <p:spPr>
          <a:xfrm>
            <a:off x="566928" y="2926080"/>
            <a:ext cx="5349240" cy="932688"/>
          </a:xfrm>
          <a:prstGeom prst="roundRect">
            <a:avLst>
              <a:gd name="adj" fmla="val 11765"/>
            </a:avLst>
          </a:prstGeom>
          <a:solidFill>
            <a:srgbClr val="F2F5FA"/>
          </a:solidFill>
          <a:ln w="12700">
            <a:solidFill>
              <a:srgbClr val="DCE3ED"/>
            </a:solidFill>
            <a:prstDash val="solid"/>
          </a:ln>
        </p:spPr>
      </p:sp>
      <p:sp>
        <p:nvSpPr>
          <p:cNvPr id="12" name="Text 8"/>
          <p:cNvSpPr/>
          <p:nvPr/>
        </p:nvSpPr>
        <p:spPr>
          <a:xfrm>
            <a:off x="822960" y="2999232"/>
            <a:ext cx="3657600" cy="786384"/>
          </a:xfrm>
          <a:prstGeom prst="rect">
            <a:avLst/>
          </a:prstGeom>
          <a:noFill/>
          <a:ln/>
        </p:spPr>
        <p:txBody>
          <a:bodyPr wrap="square" lIns="0" tIns="0" rIns="0" bIns="0" rtlCol="0" anchor="ctr"/>
          <a:lstStyle/>
          <a:p>
            <a:pPr indent="0" marL="0">
              <a:buNone/>
            </a:pPr>
            <a:r>
              <a:rPr lang="en-US" sz="1550" dirty="0">
                <a:solidFill>
                  <a:srgbClr val="0B1437"/>
                </a:solidFill>
                <a:latin typeface="Calibri" pitchFamily="34" charset="0"/>
                <a:ea typeface="Calibri" pitchFamily="34" charset="-122"/>
                <a:cs typeface="Calibri" pitchFamily="34" charset="-120"/>
              </a:rPr>
              <a:t>“The food was cold and bland.”</a:t>
            </a:r>
            <a:endParaRPr lang="en-US" sz="1550" dirty="0"/>
          </a:p>
        </p:txBody>
      </p:sp>
      <p:sp>
        <p:nvSpPr>
          <p:cNvPr id="13" name="Shape 9"/>
          <p:cNvSpPr/>
          <p:nvPr/>
        </p:nvSpPr>
        <p:spPr>
          <a:xfrm>
            <a:off x="4544568" y="3182112"/>
            <a:ext cx="1133856" cy="420624"/>
          </a:xfrm>
          <a:prstGeom prst="roundRect">
            <a:avLst>
              <a:gd name="adj" fmla="val 43478"/>
            </a:avLst>
          </a:prstGeom>
          <a:solidFill>
            <a:srgbClr val="EF476F"/>
          </a:solidFill>
          <a:ln/>
        </p:spPr>
      </p:sp>
      <p:sp>
        <p:nvSpPr>
          <p:cNvPr id="14" name="Text 10"/>
          <p:cNvSpPr/>
          <p:nvPr/>
        </p:nvSpPr>
        <p:spPr>
          <a:xfrm>
            <a:off x="4544568" y="3182112"/>
            <a:ext cx="1133856" cy="420624"/>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Negative</a:t>
            </a:r>
            <a:endParaRPr lang="en-US" sz="1250" dirty="0"/>
          </a:p>
        </p:txBody>
      </p:sp>
      <p:sp>
        <p:nvSpPr>
          <p:cNvPr id="15" name="Shape 11"/>
          <p:cNvSpPr/>
          <p:nvPr/>
        </p:nvSpPr>
        <p:spPr>
          <a:xfrm>
            <a:off x="566928" y="4114800"/>
            <a:ext cx="11064240" cy="2057400"/>
          </a:xfrm>
          <a:prstGeom prst="roundRect">
            <a:avLst>
              <a:gd name="adj" fmla="val 4444"/>
            </a:avLst>
          </a:prstGeom>
          <a:solidFill>
            <a:srgbClr val="0B1437"/>
          </a:solidFill>
          <a:ln w="12700">
            <a:solidFill>
              <a:srgbClr val="16204A"/>
            </a:solidFill>
            <a:prstDash val="solid"/>
          </a:ln>
        </p:spPr>
      </p:sp>
      <p:sp>
        <p:nvSpPr>
          <p:cNvPr id="16" name="Text 12"/>
          <p:cNvSpPr/>
          <p:nvPr/>
        </p:nvSpPr>
        <p:spPr>
          <a:xfrm>
            <a:off x="804672" y="4242816"/>
            <a:ext cx="10607040" cy="237744"/>
          </a:xfrm>
          <a:prstGeom prst="rect">
            <a:avLst/>
          </a:prstGeom>
          <a:noFill/>
          <a:ln/>
        </p:spPr>
        <p:txBody>
          <a:bodyPr wrap="square" lIns="0" tIns="0" rIns="0" bIns="0" rtlCol="0" anchor="ctr"/>
          <a:lstStyle/>
          <a:p>
            <a:pPr indent="0" marL="0">
              <a:buNone/>
            </a:pPr>
            <a:r>
              <a:rPr lang="en-US" sz="1100" b="1" spc="100" kern="0" dirty="0">
                <a:solidFill>
                  <a:srgbClr val="2EC4B6"/>
                </a:solidFill>
                <a:latin typeface="Calibri" pitchFamily="34" charset="0"/>
                <a:ea typeface="Calibri" pitchFamily="34" charset="-122"/>
                <a:cs typeface="Calibri" pitchFamily="34" charset="-120"/>
              </a:rPr>
              <a:t>RULE-BASED BASELINE WITH NLTK VADER</a:t>
            </a:r>
            <a:endParaRPr lang="en-US" sz="1100" dirty="0"/>
          </a:p>
        </p:txBody>
      </p:sp>
      <p:sp>
        <p:nvSpPr>
          <p:cNvPr id="17" name="Text 13"/>
          <p:cNvSpPr/>
          <p:nvPr/>
        </p:nvSpPr>
        <p:spPr>
          <a:xfrm>
            <a:off x="804672" y="4517136"/>
            <a:ext cx="10607040" cy="1508760"/>
          </a:xfrm>
          <a:prstGeom prst="rect">
            <a:avLst/>
          </a:prstGeom>
          <a:noFill/>
          <a:ln/>
        </p:spPr>
        <p:txBody>
          <a:bodyPr wrap="square" lIns="0" tIns="0" rIns="0" bIns="0" rtlCol="0" anchor="t"/>
          <a:lstStyle/>
          <a:p>
            <a:pPr indent="0" marL="0">
              <a:lnSpc>
                <a:spcPct val="106000"/>
              </a:lnSpc>
              <a:buNone/>
            </a:pPr>
            <a:r>
              <a:rPr lang="en-US" sz="1250" dirty="0">
                <a:solidFill>
                  <a:srgbClr val="EAF0FA"/>
                </a:solidFill>
                <a:latin typeface="Courier New" pitchFamily="34" charset="0"/>
                <a:ea typeface="Courier New" pitchFamily="34" charset="-122"/>
                <a:cs typeface="Courier New" pitchFamily="34" charset="-120"/>
              </a:rPr>
              <a:t>import nltk; nltk.download("vader_lexicon")</a:t>
            </a:r>
            <a:endParaRPr lang="en-US" sz="1250" dirty="0"/>
          </a:p>
          <a:p>
            <a:pPr indent="0" marL="0">
              <a:lnSpc>
                <a:spcPct val="106000"/>
              </a:lnSpc>
              <a:buNone/>
            </a:pPr>
            <a:r>
              <a:rPr lang="en-US" sz="1250" dirty="0">
                <a:solidFill>
                  <a:srgbClr val="EAF0FA"/>
                </a:solidFill>
                <a:latin typeface="Courier New" pitchFamily="34" charset="0"/>
                <a:ea typeface="Courier New" pitchFamily="34" charset="-122"/>
                <a:cs typeface="Courier New" pitchFamily="34" charset="-120"/>
              </a:rPr>
              <a:t>from nltk.sentiment import SentimentIntensityAnalyzer</a:t>
            </a:r>
            <a:endParaRPr lang="en-US" sz="1250" dirty="0"/>
          </a:p>
          <a:p>
            <a:pPr indent="0" marL="0">
              <a:lnSpc>
                <a:spcPct val="106000"/>
              </a:lnSpc>
              <a:buNone/>
            </a:pPr>
            <a:r>
              <a:rPr lang="en-US" sz="1250" dirty="0">
                <a:solidFill>
                  <a:srgbClr val="EAF0FA"/>
                </a:solidFill>
                <a:latin typeface="Courier New" pitchFamily="34" charset="0"/>
                <a:ea typeface="Courier New" pitchFamily="34" charset="-122"/>
                <a:cs typeface="Courier New" pitchFamily="34" charset="-120"/>
              </a:rPr>
              <a:t> </a:t>
            </a:r>
            <a:endParaRPr lang="en-US" sz="1250" dirty="0"/>
          </a:p>
          <a:p>
            <a:pPr indent="0" marL="0">
              <a:lnSpc>
                <a:spcPct val="106000"/>
              </a:lnSpc>
              <a:buNone/>
            </a:pPr>
            <a:r>
              <a:rPr lang="en-US" sz="1250" dirty="0">
                <a:solidFill>
                  <a:srgbClr val="EAF0FA"/>
                </a:solidFill>
                <a:latin typeface="Courier New" pitchFamily="34" charset="0"/>
                <a:ea typeface="Courier New" pitchFamily="34" charset="-122"/>
                <a:cs typeface="Courier New" pitchFamily="34" charset="-120"/>
              </a:rPr>
              <a:t>sia = SentimentIntensityAnalyzer()</a:t>
            </a:r>
            <a:endParaRPr lang="en-US" sz="1250" dirty="0"/>
          </a:p>
          <a:p>
            <a:pPr indent="0" marL="0">
              <a:lnSpc>
                <a:spcPct val="106000"/>
              </a:lnSpc>
              <a:buNone/>
            </a:pPr>
            <a:r>
              <a:rPr lang="en-US" sz="1250" dirty="0">
                <a:solidFill>
                  <a:srgbClr val="EAF0FA"/>
                </a:solidFill>
                <a:latin typeface="Courier New" pitchFamily="34" charset="0"/>
                <a:ea typeface="Courier New" pitchFamily="34" charset="-122"/>
                <a:cs typeface="Courier New" pitchFamily="34" charset="-120"/>
              </a:rPr>
              <a:t>sia.polarity_scores("The new iPhone is amazing!")</a:t>
            </a:r>
            <a:endParaRPr lang="en-US" sz="1250" dirty="0"/>
          </a:p>
          <a:p>
            <a:pPr indent="0" marL="0">
              <a:lnSpc>
                <a:spcPct val="106000"/>
              </a:lnSpc>
              <a:buNone/>
            </a:pPr>
            <a:r>
              <a:rPr lang="en-US" sz="1250" dirty="0">
                <a:solidFill>
                  <a:srgbClr val="7FE3D8"/>
                </a:solidFill>
                <a:latin typeface="Courier New" pitchFamily="34" charset="0"/>
                <a:ea typeface="Courier New" pitchFamily="34" charset="-122"/>
                <a:cs typeface="Courier New" pitchFamily="34" charset="-120"/>
              </a:rPr>
              <a:t># {'neg': 0.0, 'neu': 0.47, 'pos': 0.53, 'compound': 0.6239}</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74320"/>
          </a:xfrm>
          <a:prstGeom prst="rect">
            <a:avLst/>
          </a:prstGeom>
          <a:noFill/>
          <a:ln/>
        </p:spPr>
        <p:txBody>
          <a:bodyPr wrap="square" lIns="0" tIns="0" rIns="0" bIns="0" rtlCol="0" anchor="ctr"/>
          <a:lstStyle/>
          <a:p>
            <a:pPr algn="l" indent="0" marL="0">
              <a:buNone/>
            </a:pPr>
            <a:r>
              <a:rPr lang="en-US" sz="1200" b="1" spc="200" kern="0" dirty="0">
                <a:solidFill>
                  <a:srgbClr val="13887E"/>
                </a:solidFill>
                <a:latin typeface="Calibri" pitchFamily="34" charset="0"/>
                <a:ea typeface="Calibri" pitchFamily="34" charset="-122"/>
                <a:cs typeface="Calibri" pitchFamily="34" charset="-120"/>
              </a:rPr>
              <a:t>EXAMPLE</a:t>
            </a:r>
            <a:endParaRPr lang="en-US" sz="1200" dirty="0"/>
          </a:p>
        </p:txBody>
      </p:sp>
      <p:sp>
        <p:nvSpPr>
          <p:cNvPr id="3" name="Text 1"/>
          <p:cNvSpPr/>
          <p:nvPr/>
        </p:nvSpPr>
        <p:spPr>
          <a:xfrm>
            <a:off x="566928" y="621792"/>
            <a:ext cx="10143439" cy="777240"/>
          </a:xfrm>
          <a:prstGeom prst="rect">
            <a:avLst/>
          </a:prstGeom>
          <a:noFill/>
          <a:ln/>
        </p:spPr>
        <p:txBody>
          <a:bodyPr wrap="square" lIns="0" tIns="0" rIns="0" bIns="0" rtlCol="0" anchor="t"/>
          <a:lstStyle/>
          <a:p>
            <a:pPr indent="0" marL="0">
              <a:buNone/>
            </a:pPr>
            <a:r>
              <a:rPr lang="en-US" sz="3600" b="1" dirty="0">
                <a:solidFill>
                  <a:srgbClr val="0B1437"/>
                </a:solidFill>
                <a:latin typeface="Cambria" pitchFamily="34" charset="0"/>
                <a:ea typeface="Cambria" pitchFamily="34" charset="-122"/>
                <a:cs typeface="Cambria" pitchFamily="34" charset="-120"/>
              </a:rPr>
              <a:t>Example: Chatbots</a:t>
            </a:r>
            <a:endParaRPr lang="en-US" sz="3600" dirty="0"/>
          </a:p>
        </p:txBody>
      </p:sp>
      <p:sp>
        <p:nvSpPr>
          <p:cNvPr id="4" name="Text 2"/>
          <p:cNvSpPr/>
          <p:nvPr/>
        </p:nvSpPr>
        <p:spPr>
          <a:xfrm>
            <a:off x="10801807" y="310896"/>
            <a:ext cx="822960" cy="365760"/>
          </a:xfrm>
          <a:prstGeom prst="rect">
            <a:avLst/>
          </a:prstGeom>
          <a:noFill/>
          <a:ln/>
        </p:spPr>
        <p:txBody>
          <a:bodyPr wrap="square" lIns="0" tIns="0" rIns="0" bIns="0" rtlCol="0" anchor="ctr"/>
          <a:lstStyle/>
          <a:p>
            <a:pPr algn="r" indent="0" marL="0">
              <a:buNone/>
            </a:pPr>
            <a:r>
              <a:rPr lang="en-US" sz="1300" dirty="0">
                <a:solidFill>
                  <a:srgbClr val="A9B3C6"/>
                </a:solidFill>
                <a:latin typeface="Calibri" pitchFamily="34" charset="0"/>
                <a:ea typeface="Calibri" pitchFamily="34" charset="-122"/>
                <a:cs typeface="Calibri" pitchFamily="34" charset="-120"/>
              </a:rPr>
              <a:t>06</a:t>
            </a:r>
            <a:endParaRPr lang="en-US" sz="1300" dirty="0"/>
          </a:p>
        </p:txBody>
      </p:sp>
      <p:sp>
        <p:nvSpPr>
          <p:cNvPr id="6" name="Shape 3"/>
          <p:cNvSpPr/>
          <p:nvPr/>
        </p:nvSpPr>
        <p:spPr>
          <a:xfrm>
            <a:off x="566928" y="1783080"/>
            <a:ext cx="5852160" cy="1298448"/>
          </a:xfrm>
          <a:prstGeom prst="roundRect">
            <a:avLst>
              <a:gd name="adj" fmla="val 8451"/>
            </a:avLst>
          </a:prstGeom>
          <a:solidFill>
            <a:srgbClr val="F2F5FA"/>
          </a:solidFill>
          <a:ln w="12700">
            <a:solidFill>
              <a:srgbClr val="DCE3ED"/>
            </a:solidFill>
            <a:prstDash val="solid"/>
          </a:ln>
        </p:spPr>
      </p:sp>
      <p:sp>
        <p:nvSpPr>
          <p:cNvPr id="7" name="Shape 4"/>
          <p:cNvSpPr/>
          <p:nvPr/>
        </p:nvSpPr>
        <p:spPr>
          <a:xfrm>
            <a:off x="859536" y="2093976"/>
            <a:ext cx="566928" cy="566928"/>
          </a:xfrm>
          <a:prstGeom prst="ellipse">
            <a:avLst/>
          </a:prstGeom>
          <a:solidFill>
            <a:srgbClr val="7C6BF2"/>
          </a:solidFill>
          <a:ln/>
        </p:spPr>
      </p:sp>
      <p:pic>
        <p:nvPicPr>
          <p:cNvPr id="8" name="Image 0" descr="assets/icons/robot_w.png">    </p:cNvPr>
          <p:cNvPicPr>
            <a:picLocks noChangeAspect="1"/>
          </p:cNvPicPr>
          <p:nvPr/>
        </p:nvPicPr>
        <p:blipFill>
          <a:blip r:embed="rId1"/>
          <a:stretch>
            <a:fillRect/>
          </a:stretch>
        </p:blipFill>
        <p:spPr>
          <a:xfrm>
            <a:off x="987552" y="2221992"/>
            <a:ext cx="310896" cy="310896"/>
          </a:xfrm>
          <a:prstGeom prst="rect">
            <a:avLst/>
          </a:prstGeom>
        </p:spPr>
      </p:pic>
      <p:sp>
        <p:nvSpPr>
          <p:cNvPr id="9" name="Text 5"/>
          <p:cNvSpPr/>
          <p:nvPr/>
        </p:nvSpPr>
        <p:spPr>
          <a:xfrm>
            <a:off x="1609344" y="2057400"/>
            <a:ext cx="4517136" cy="384048"/>
          </a:xfrm>
          <a:prstGeom prst="rect">
            <a:avLst/>
          </a:prstGeom>
          <a:noFill/>
          <a:ln/>
        </p:spPr>
        <p:txBody>
          <a:bodyPr wrap="square" lIns="0" tIns="0" rIns="0" bIns="0" rtlCol="0" anchor="ctr"/>
          <a:lstStyle/>
          <a:p>
            <a:pPr indent="0" marL="0">
              <a:buNone/>
            </a:pPr>
            <a:r>
              <a:rPr lang="en-US" sz="1700" b="1" dirty="0">
                <a:solidFill>
                  <a:srgbClr val="0B1437"/>
                </a:solidFill>
                <a:latin typeface="Calibri" pitchFamily="34" charset="0"/>
                <a:ea typeface="Calibri" pitchFamily="34" charset="-122"/>
                <a:cs typeface="Calibri" pitchFamily="34" charset="-120"/>
              </a:rPr>
              <a:t>Virtual assistants</a:t>
            </a:r>
            <a:endParaRPr lang="en-US" sz="1700" dirty="0"/>
          </a:p>
        </p:txBody>
      </p:sp>
      <p:sp>
        <p:nvSpPr>
          <p:cNvPr id="10" name="Text 6"/>
          <p:cNvSpPr/>
          <p:nvPr/>
        </p:nvSpPr>
        <p:spPr>
          <a:xfrm>
            <a:off x="1609344" y="2478024"/>
            <a:ext cx="4517136" cy="384048"/>
          </a:xfrm>
          <a:prstGeom prst="rect">
            <a:avLst/>
          </a:prstGeom>
          <a:noFill/>
          <a:ln/>
        </p:spPr>
        <p:txBody>
          <a:bodyPr wrap="square" lIns="0" tIns="0" rIns="0" bIns="0" rtlCol="0" anchor="t"/>
          <a:lstStyle/>
          <a:p>
            <a:pPr indent="0" marL="0">
              <a:lnSpc>
                <a:spcPct val="112000"/>
              </a:lnSpc>
              <a:buNone/>
            </a:pPr>
            <a:r>
              <a:rPr lang="en-US" sz="1350" dirty="0">
                <a:solidFill>
                  <a:srgbClr val="5C6784"/>
                </a:solidFill>
                <a:latin typeface="Calibri" pitchFamily="34" charset="0"/>
                <a:ea typeface="Calibri" pitchFamily="34" charset="-122"/>
                <a:cs typeface="Calibri" pitchFamily="34" charset="-120"/>
              </a:rPr>
              <a:t>Siri, Alexa, Google Assistant</a:t>
            </a:r>
            <a:endParaRPr lang="en-US" sz="1350" dirty="0"/>
          </a:p>
        </p:txBody>
      </p:sp>
      <p:sp>
        <p:nvSpPr>
          <p:cNvPr id="11" name="Shape 7"/>
          <p:cNvSpPr/>
          <p:nvPr/>
        </p:nvSpPr>
        <p:spPr>
          <a:xfrm>
            <a:off x="566928" y="3246120"/>
            <a:ext cx="5852160" cy="1298448"/>
          </a:xfrm>
          <a:prstGeom prst="roundRect">
            <a:avLst>
              <a:gd name="adj" fmla="val 8451"/>
            </a:avLst>
          </a:prstGeom>
          <a:solidFill>
            <a:srgbClr val="F2F5FA"/>
          </a:solidFill>
          <a:ln w="12700">
            <a:solidFill>
              <a:srgbClr val="DCE3ED"/>
            </a:solidFill>
            <a:prstDash val="solid"/>
          </a:ln>
        </p:spPr>
      </p:sp>
      <p:sp>
        <p:nvSpPr>
          <p:cNvPr id="12" name="Shape 8"/>
          <p:cNvSpPr/>
          <p:nvPr/>
        </p:nvSpPr>
        <p:spPr>
          <a:xfrm>
            <a:off x="859536" y="3557016"/>
            <a:ext cx="566928" cy="566928"/>
          </a:xfrm>
          <a:prstGeom prst="ellipse">
            <a:avLst/>
          </a:prstGeom>
          <a:solidFill>
            <a:srgbClr val="2EC4B6"/>
          </a:solidFill>
          <a:ln/>
        </p:spPr>
      </p:sp>
      <p:pic>
        <p:nvPicPr>
          <p:cNvPr id="13" name="Image 1" descr="assets/icons/comments_w.png">    </p:cNvPr>
          <p:cNvPicPr>
            <a:picLocks noChangeAspect="1"/>
          </p:cNvPicPr>
          <p:nvPr/>
        </p:nvPicPr>
        <p:blipFill>
          <a:blip r:embed="rId2"/>
          <a:stretch>
            <a:fillRect/>
          </a:stretch>
        </p:blipFill>
        <p:spPr>
          <a:xfrm>
            <a:off x="987552" y="3685032"/>
            <a:ext cx="310896" cy="310896"/>
          </a:xfrm>
          <a:prstGeom prst="rect">
            <a:avLst/>
          </a:prstGeom>
        </p:spPr>
      </p:pic>
      <p:sp>
        <p:nvSpPr>
          <p:cNvPr id="14" name="Text 9"/>
          <p:cNvSpPr/>
          <p:nvPr/>
        </p:nvSpPr>
        <p:spPr>
          <a:xfrm>
            <a:off x="1609344" y="3520440"/>
            <a:ext cx="4517136" cy="384048"/>
          </a:xfrm>
          <a:prstGeom prst="rect">
            <a:avLst/>
          </a:prstGeom>
          <a:noFill/>
          <a:ln/>
        </p:spPr>
        <p:txBody>
          <a:bodyPr wrap="square" lIns="0" tIns="0" rIns="0" bIns="0" rtlCol="0" anchor="ctr"/>
          <a:lstStyle/>
          <a:p>
            <a:pPr indent="0" marL="0">
              <a:buNone/>
            </a:pPr>
            <a:r>
              <a:rPr lang="en-US" sz="1700" b="1" dirty="0">
                <a:solidFill>
                  <a:srgbClr val="0B1437"/>
                </a:solidFill>
                <a:latin typeface="Calibri" pitchFamily="34" charset="0"/>
                <a:ea typeface="Calibri" pitchFamily="34" charset="-122"/>
                <a:cs typeface="Calibri" pitchFamily="34" charset="-120"/>
              </a:rPr>
              <a:t>Customer service bots</a:t>
            </a:r>
            <a:endParaRPr lang="en-US" sz="1700" dirty="0"/>
          </a:p>
        </p:txBody>
      </p:sp>
      <p:sp>
        <p:nvSpPr>
          <p:cNvPr id="15" name="Text 10"/>
          <p:cNvSpPr/>
          <p:nvPr/>
        </p:nvSpPr>
        <p:spPr>
          <a:xfrm>
            <a:off x="1609344" y="3941064"/>
            <a:ext cx="4517136" cy="384048"/>
          </a:xfrm>
          <a:prstGeom prst="rect">
            <a:avLst/>
          </a:prstGeom>
          <a:noFill/>
          <a:ln/>
        </p:spPr>
        <p:txBody>
          <a:bodyPr wrap="square" lIns="0" tIns="0" rIns="0" bIns="0" rtlCol="0" anchor="t"/>
          <a:lstStyle/>
          <a:p>
            <a:pPr indent="0" marL="0">
              <a:lnSpc>
                <a:spcPct val="112000"/>
              </a:lnSpc>
              <a:buNone/>
            </a:pPr>
            <a:r>
              <a:rPr lang="en-US" sz="1350" dirty="0">
                <a:solidFill>
                  <a:srgbClr val="5C6784"/>
                </a:solidFill>
                <a:latin typeface="Calibri" pitchFamily="34" charset="0"/>
                <a:ea typeface="Calibri" pitchFamily="34" charset="-122"/>
                <a:cs typeface="Calibri" pitchFamily="34" charset="-120"/>
              </a:rPr>
              <a:t>Instant answers, fewer tickets</a:t>
            </a:r>
            <a:endParaRPr lang="en-US" sz="1350" dirty="0"/>
          </a:p>
        </p:txBody>
      </p:sp>
      <p:sp>
        <p:nvSpPr>
          <p:cNvPr id="16" name="Shape 11"/>
          <p:cNvSpPr/>
          <p:nvPr/>
        </p:nvSpPr>
        <p:spPr>
          <a:xfrm>
            <a:off x="566928" y="4709160"/>
            <a:ext cx="5852160" cy="1298448"/>
          </a:xfrm>
          <a:prstGeom prst="roundRect">
            <a:avLst>
              <a:gd name="adj" fmla="val 8451"/>
            </a:avLst>
          </a:prstGeom>
          <a:solidFill>
            <a:srgbClr val="F2F5FA"/>
          </a:solidFill>
          <a:ln w="12700">
            <a:solidFill>
              <a:srgbClr val="DCE3ED"/>
            </a:solidFill>
            <a:prstDash val="solid"/>
          </a:ln>
        </p:spPr>
      </p:sp>
      <p:sp>
        <p:nvSpPr>
          <p:cNvPr id="17" name="Shape 12"/>
          <p:cNvSpPr/>
          <p:nvPr/>
        </p:nvSpPr>
        <p:spPr>
          <a:xfrm>
            <a:off x="859536" y="5020056"/>
            <a:ext cx="566928" cy="566928"/>
          </a:xfrm>
          <a:prstGeom prst="ellipse">
            <a:avLst/>
          </a:prstGeom>
          <a:solidFill>
            <a:srgbClr val="EF476F"/>
          </a:solidFill>
          <a:ln/>
        </p:spPr>
      </p:sp>
      <p:pic>
        <p:nvPicPr>
          <p:cNvPr id="18" name="Image 2" descr="assets/icons/heartbeat_w.png">    </p:cNvPr>
          <p:cNvPicPr>
            <a:picLocks noChangeAspect="1"/>
          </p:cNvPicPr>
          <p:nvPr/>
        </p:nvPicPr>
        <p:blipFill>
          <a:blip r:embed="rId3"/>
          <a:stretch>
            <a:fillRect/>
          </a:stretch>
        </p:blipFill>
        <p:spPr>
          <a:xfrm>
            <a:off x="987552" y="5148072"/>
            <a:ext cx="310896" cy="310896"/>
          </a:xfrm>
          <a:prstGeom prst="rect">
            <a:avLst/>
          </a:prstGeom>
        </p:spPr>
      </p:pic>
      <p:sp>
        <p:nvSpPr>
          <p:cNvPr id="19" name="Text 13"/>
          <p:cNvSpPr/>
          <p:nvPr/>
        </p:nvSpPr>
        <p:spPr>
          <a:xfrm>
            <a:off x="1609344" y="4983480"/>
            <a:ext cx="4517136" cy="384048"/>
          </a:xfrm>
          <a:prstGeom prst="rect">
            <a:avLst/>
          </a:prstGeom>
          <a:noFill/>
          <a:ln/>
        </p:spPr>
        <p:txBody>
          <a:bodyPr wrap="square" lIns="0" tIns="0" rIns="0" bIns="0" rtlCol="0" anchor="ctr"/>
          <a:lstStyle/>
          <a:p>
            <a:pPr indent="0" marL="0">
              <a:buNone/>
            </a:pPr>
            <a:r>
              <a:rPr lang="en-US" sz="1700" b="1" dirty="0">
                <a:solidFill>
                  <a:srgbClr val="0B1437"/>
                </a:solidFill>
                <a:latin typeface="Calibri" pitchFamily="34" charset="0"/>
                <a:ea typeface="Calibri" pitchFamily="34" charset="-122"/>
                <a:cs typeface="Calibri" pitchFamily="34" charset="-120"/>
              </a:rPr>
              <a:t>Healthcare support bots</a:t>
            </a:r>
            <a:endParaRPr lang="en-US" sz="1700" dirty="0"/>
          </a:p>
        </p:txBody>
      </p:sp>
      <p:sp>
        <p:nvSpPr>
          <p:cNvPr id="20" name="Text 14"/>
          <p:cNvSpPr/>
          <p:nvPr/>
        </p:nvSpPr>
        <p:spPr>
          <a:xfrm>
            <a:off x="1609344" y="5404104"/>
            <a:ext cx="4517136" cy="384048"/>
          </a:xfrm>
          <a:prstGeom prst="rect">
            <a:avLst/>
          </a:prstGeom>
          <a:noFill/>
          <a:ln/>
        </p:spPr>
        <p:txBody>
          <a:bodyPr wrap="square" lIns="0" tIns="0" rIns="0" bIns="0" rtlCol="0" anchor="t"/>
          <a:lstStyle/>
          <a:p>
            <a:pPr indent="0" marL="0">
              <a:lnSpc>
                <a:spcPct val="112000"/>
              </a:lnSpc>
              <a:buNone/>
            </a:pPr>
            <a:r>
              <a:rPr lang="en-US" sz="1350" dirty="0">
                <a:solidFill>
                  <a:srgbClr val="5C6784"/>
                </a:solidFill>
                <a:latin typeface="Calibri" pitchFamily="34" charset="0"/>
                <a:ea typeface="Calibri" pitchFamily="34" charset="-122"/>
                <a:cs typeface="Calibri" pitchFamily="34" charset="-120"/>
              </a:rPr>
              <a:t>Reliable info and reminders</a:t>
            </a:r>
            <a:endParaRPr lang="en-US" sz="1350" dirty="0"/>
          </a:p>
        </p:txBody>
      </p:sp>
      <p:pic>
        <p:nvPicPr>
          <p:cNvPr id="21" name="Image 3" descr="assets/chatbot.png">    </p:cNvPr>
          <p:cNvPicPr>
            <a:picLocks noChangeAspect="1"/>
          </p:cNvPicPr>
          <p:nvPr/>
        </p:nvPicPr>
        <p:blipFill>
          <a:blip r:embed="rId4"/>
          <a:stretch>
            <a:fillRect/>
          </a:stretch>
        </p:blipFill>
        <p:spPr>
          <a:xfrm>
            <a:off x="6858000" y="1912620"/>
            <a:ext cx="4754880" cy="376428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74320"/>
          </a:xfrm>
          <a:prstGeom prst="rect">
            <a:avLst/>
          </a:prstGeom>
          <a:noFill/>
          <a:ln/>
        </p:spPr>
        <p:txBody>
          <a:bodyPr wrap="square" lIns="0" tIns="0" rIns="0" bIns="0" rtlCol="0" anchor="ctr"/>
          <a:lstStyle/>
          <a:p>
            <a:pPr algn="l" indent="0" marL="0">
              <a:buNone/>
            </a:pPr>
            <a:r>
              <a:rPr lang="en-US" sz="1200" b="1" spc="200" kern="0" dirty="0">
                <a:solidFill>
                  <a:srgbClr val="13887E"/>
                </a:solidFill>
                <a:latin typeface="Calibri" pitchFamily="34" charset="0"/>
                <a:ea typeface="Calibri" pitchFamily="34" charset="-122"/>
                <a:cs typeface="Calibri" pitchFamily="34" charset="-120"/>
              </a:rPr>
              <a:t>EXAMPLE</a:t>
            </a:r>
            <a:endParaRPr lang="en-US" sz="1200" dirty="0"/>
          </a:p>
        </p:txBody>
      </p:sp>
      <p:sp>
        <p:nvSpPr>
          <p:cNvPr id="3" name="Text 1"/>
          <p:cNvSpPr/>
          <p:nvPr/>
        </p:nvSpPr>
        <p:spPr>
          <a:xfrm>
            <a:off x="566928" y="621792"/>
            <a:ext cx="10143439" cy="777240"/>
          </a:xfrm>
          <a:prstGeom prst="rect">
            <a:avLst/>
          </a:prstGeom>
          <a:noFill/>
          <a:ln/>
        </p:spPr>
        <p:txBody>
          <a:bodyPr wrap="square" lIns="0" tIns="0" rIns="0" bIns="0" rtlCol="0" anchor="t"/>
          <a:lstStyle/>
          <a:p>
            <a:pPr indent="0" marL="0">
              <a:buNone/>
            </a:pPr>
            <a:r>
              <a:rPr lang="en-US" sz="3600" b="1" dirty="0">
                <a:solidFill>
                  <a:srgbClr val="0B1437"/>
                </a:solidFill>
                <a:latin typeface="Cambria" pitchFamily="34" charset="0"/>
                <a:ea typeface="Cambria" pitchFamily="34" charset="-122"/>
                <a:cs typeface="Cambria" pitchFamily="34" charset="-120"/>
              </a:rPr>
              <a:t>Example: Machine Translation</a:t>
            </a:r>
            <a:endParaRPr lang="en-US" sz="3600" dirty="0"/>
          </a:p>
        </p:txBody>
      </p:sp>
      <p:sp>
        <p:nvSpPr>
          <p:cNvPr id="4" name="Text 2"/>
          <p:cNvSpPr/>
          <p:nvPr/>
        </p:nvSpPr>
        <p:spPr>
          <a:xfrm>
            <a:off x="10801807" y="310896"/>
            <a:ext cx="822960" cy="365760"/>
          </a:xfrm>
          <a:prstGeom prst="rect">
            <a:avLst/>
          </a:prstGeom>
          <a:noFill/>
          <a:ln/>
        </p:spPr>
        <p:txBody>
          <a:bodyPr wrap="square" lIns="0" tIns="0" rIns="0" bIns="0" rtlCol="0" anchor="ctr"/>
          <a:lstStyle/>
          <a:p>
            <a:pPr algn="r" indent="0" marL="0">
              <a:buNone/>
            </a:pPr>
            <a:r>
              <a:rPr lang="en-US" sz="1300" dirty="0">
                <a:solidFill>
                  <a:srgbClr val="A9B3C6"/>
                </a:solidFill>
                <a:latin typeface="Calibri" pitchFamily="34" charset="0"/>
                <a:ea typeface="Calibri" pitchFamily="34" charset="-122"/>
                <a:cs typeface="Calibri" pitchFamily="34" charset="-120"/>
              </a:rPr>
              <a:t>07</a:t>
            </a:r>
            <a:endParaRPr lang="en-US" sz="1300" dirty="0"/>
          </a:p>
        </p:txBody>
      </p:sp>
      <p:pic>
        <p:nvPicPr>
          <p:cNvPr id="6" name="Image 0" descr="assets/translation.png">    </p:cNvPr>
          <p:cNvPicPr>
            <a:picLocks noChangeAspect="1"/>
          </p:cNvPicPr>
          <p:nvPr/>
        </p:nvPicPr>
        <p:blipFill>
          <a:blip r:embed="rId1"/>
          <a:stretch>
            <a:fillRect/>
          </a:stretch>
        </p:blipFill>
        <p:spPr>
          <a:xfrm>
            <a:off x="6464531" y="1600200"/>
            <a:ext cx="4810298" cy="2834640"/>
          </a:xfrm>
          <a:prstGeom prst="rect">
            <a:avLst/>
          </a:prstGeom>
        </p:spPr>
      </p:pic>
      <p:sp>
        <p:nvSpPr>
          <p:cNvPr id="7" name="Text 3"/>
          <p:cNvSpPr/>
          <p:nvPr/>
        </p:nvSpPr>
        <p:spPr>
          <a:xfrm>
            <a:off x="566928" y="1828800"/>
            <a:ext cx="5120640" cy="2377440"/>
          </a:xfrm>
          <a:prstGeom prst="rect">
            <a:avLst/>
          </a:prstGeom>
          <a:noFill/>
          <a:ln/>
        </p:spPr>
        <p:txBody>
          <a:bodyPr wrap="square" lIns="0" tIns="0" rIns="0" bIns="0" rtlCol="0" anchor="t"/>
          <a:lstStyle/>
          <a:p>
            <a:pPr marL="342900" indent="-342900">
              <a:spcAft>
                <a:spcPts val="1400"/>
              </a:spcAft>
              <a:buSzPct val="100000"/>
              <a:buChar char="●"/>
            </a:pPr>
            <a:r>
              <a:rPr lang="en-US" sz="1700" dirty="0">
                <a:solidFill>
                  <a:srgbClr val="16204A"/>
                </a:solidFill>
                <a:latin typeface="Calibri" pitchFamily="34" charset="0"/>
                <a:ea typeface="Calibri" pitchFamily="34" charset="-122"/>
                <a:cs typeface="Calibri" pitchFamily="34" charset="-120"/>
              </a:rPr>
              <a:t>Google Translate</a:t>
            </a:r>
            <a:endParaRPr lang="en-US" sz="1700" dirty="0"/>
          </a:p>
          <a:p>
            <a:pPr marL="342900" indent="-342900">
              <a:spcAft>
                <a:spcPts val="1400"/>
              </a:spcAft>
              <a:buSzPct val="100000"/>
              <a:buChar char="●"/>
            </a:pPr>
            <a:r>
              <a:rPr lang="en-US" sz="1700" dirty="0">
                <a:solidFill>
                  <a:srgbClr val="16204A"/>
                </a:solidFill>
                <a:latin typeface="Calibri" pitchFamily="34" charset="0"/>
                <a:ea typeface="Calibri" pitchFamily="34" charset="-122"/>
                <a:cs typeface="Calibri" pitchFamily="34" charset="-120"/>
              </a:rPr>
              <a:t>Real-time multilingual communication</a:t>
            </a:r>
            <a:endParaRPr lang="en-US" sz="1700" dirty="0"/>
          </a:p>
          <a:p>
            <a:pPr marL="342900" indent="-342900">
              <a:spcAft>
                <a:spcPts val="1400"/>
              </a:spcAft>
              <a:buSzPct val="100000"/>
              <a:buChar char="●"/>
            </a:pPr>
            <a:r>
              <a:rPr lang="en-US" sz="1700" dirty="0">
                <a:solidFill>
                  <a:srgbClr val="16204A"/>
                </a:solidFill>
                <a:latin typeface="Calibri" pitchFamily="34" charset="0"/>
                <a:ea typeface="Calibri" pitchFamily="34" charset="-122"/>
                <a:cs typeface="Calibri" pitchFamily="34" charset="-120"/>
              </a:rPr>
              <a:t>Breaking down language barriers</a:t>
            </a:r>
            <a:endParaRPr lang="en-US" sz="1700" dirty="0"/>
          </a:p>
        </p:txBody>
      </p:sp>
      <p:sp>
        <p:nvSpPr>
          <p:cNvPr id="8" name="Shape 4"/>
          <p:cNvSpPr/>
          <p:nvPr/>
        </p:nvSpPr>
        <p:spPr>
          <a:xfrm>
            <a:off x="566928" y="3977640"/>
            <a:ext cx="11064240" cy="2194560"/>
          </a:xfrm>
          <a:prstGeom prst="roundRect">
            <a:avLst>
              <a:gd name="adj" fmla="val 4167"/>
            </a:avLst>
          </a:prstGeom>
          <a:solidFill>
            <a:srgbClr val="0B1437"/>
          </a:solidFill>
          <a:ln w="12700">
            <a:solidFill>
              <a:srgbClr val="16204A"/>
            </a:solidFill>
            <a:prstDash val="solid"/>
          </a:ln>
        </p:spPr>
      </p:sp>
      <p:sp>
        <p:nvSpPr>
          <p:cNvPr id="9" name="Text 5"/>
          <p:cNvSpPr/>
          <p:nvPr/>
        </p:nvSpPr>
        <p:spPr>
          <a:xfrm>
            <a:off x="804672" y="4105656"/>
            <a:ext cx="10607040" cy="237744"/>
          </a:xfrm>
          <a:prstGeom prst="rect">
            <a:avLst/>
          </a:prstGeom>
          <a:noFill/>
          <a:ln/>
        </p:spPr>
        <p:txBody>
          <a:bodyPr wrap="square" lIns="0" tIns="0" rIns="0" bIns="0" rtlCol="0" anchor="ctr"/>
          <a:lstStyle/>
          <a:p>
            <a:pPr indent="0" marL="0">
              <a:buNone/>
            </a:pPr>
            <a:r>
              <a:rPr lang="en-US" sz="1100" b="1" spc="100" kern="0" dirty="0">
                <a:solidFill>
                  <a:srgbClr val="2EC4B6"/>
                </a:solidFill>
                <a:latin typeface="Calibri" pitchFamily="34" charset="0"/>
                <a:ea typeface="Calibri" pitchFamily="34" charset="-122"/>
                <a:cs typeface="Calibri" pitchFamily="34" charset="-120"/>
              </a:rPr>
              <a:t>TRANSLATION IN A FEW LINES (HUGGING FACE)</a:t>
            </a:r>
            <a:endParaRPr lang="en-US" sz="1100" dirty="0"/>
          </a:p>
        </p:txBody>
      </p:sp>
      <p:sp>
        <p:nvSpPr>
          <p:cNvPr id="10" name="Text 6"/>
          <p:cNvSpPr/>
          <p:nvPr/>
        </p:nvSpPr>
        <p:spPr>
          <a:xfrm>
            <a:off x="804672" y="4379976"/>
            <a:ext cx="10607040" cy="1645920"/>
          </a:xfrm>
          <a:prstGeom prst="rect">
            <a:avLst/>
          </a:prstGeom>
          <a:noFill/>
          <a:ln/>
        </p:spPr>
        <p:txBody>
          <a:bodyPr wrap="square" lIns="0" tIns="0" rIns="0" bIns="0" rtlCol="0" anchor="t"/>
          <a:lstStyle/>
          <a:p>
            <a:pPr indent="0" marL="0">
              <a:lnSpc>
                <a:spcPct val="106000"/>
              </a:lnSpc>
              <a:buNone/>
            </a:pPr>
            <a:r>
              <a:rPr lang="en-US" sz="1250" dirty="0">
                <a:solidFill>
                  <a:srgbClr val="EAF0FA"/>
                </a:solidFill>
                <a:latin typeface="Courier New" pitchFamily="34" charset="0"/>
                <a:ea typeface="Courier New" pitchFamily="34" charset="-122"/>
                <a:cs typeface="Courier New" pitchFamily="34" charset="-120"/>
              </a:rPr>
              <a:t>from transformers import pipeline</a:t>
            </a:r>
            <a:endParaRPr lang="en-US" sz="1250" dirty="0"/>
          </a:p>
          <a:p>
            <a:pPr indent="0" marL="0">
              <a:lnSpc>
                <a:spcPct val="106000"/>
              </a:lnSpc>
              <a:buNone/>
            </a:pPr>
            <a:r>
              <a:rPr lang="en-US" sz="1250" dirty="0">
                <a:solidFill>
                  <a:srgbClr val="EAF0FA"/>
                </a:solidFill>
                <a:latin typeface="Courier New" pitchFamily="34" charset="0"/>
                <a:ea typeface="Courier New" pitchFamily="34" charset="-122"/>
                <a:cs typeface="Courier New" pitchFamily="34" charset="-120"/>
              </a:rPr>
              <a:t> </a:t>
            </a:r>
            <a:endParaRPr lang="en-US" sz="1250" dirty="0"/>
          </a:p>
          <a:p>
            <a:pPr indent="0" marL="0">
              <a:lnSpc>
                <a:spcPct val="106000"/>
              </a:lnSpc>
              <a:buNone/>
            </a:pPr>
            <a:r>
              <a:rPr lang="en-US" sz="1250" dirty="0">
                <a:solidFill>
                  <a:srgbClr val="EAF0FA"/>
                </a:solidFill>
                <a:latin typeface="Courier New" pitchFamily="34" charset="0"/>
                <a:ea typeface="Courier New" pitchFamily="34" charset="-122"/>
                <a:cs typeface="Courier New" pitchFamily="34" charset="-120"/>
              </a:rPr>
              <a:t>translator = pipeline("translation_en_to_fr")</a:t>
            </a:r>
            <a:endParaRPr lang="en-US" sz="1250" dirty="0"/>
          </a:p>
          <a:p>
            <a:pPr indent="0" marL="0">
              <a:lnSpc>
                <a:spcPct val="106000"/>
              </a:lnSpc>
              <a:buNone/>
            </a:pPr>
            <a:r>
              <a:rPr lang="en-US" sz="1250" dirty="0">
                <a:solidFill>
                  <a:srgbClr val="EAF0FA"/>
                </a:solidFill>
                <a:latin typeface="Courier New" pitchFamily="34" charset="0"/>
                <a:ea typeface="Courier New" pitchFamily="34" charset="-122"/>
                <a:cs typeface="Courier New" pitchFamily="34" charset="-120"/>
              </a:rPr>
              <a:t>translator("Natural language processing is powerful.")</a:t>
            </a:r>
            <a:endParaRPr lang="en-US" sz="1250" dirty="0"/>
          </a:p>
          <a:p>
            <a:pPr indent="0" marL="0">
              <a:lnSpc>
                <a:spcPct val="106000"/>
              </a:lnSpc>
              <a:buNone/>
            </a:pPr>
            <a:r>
              <a:rPr lang="en-US" sz="1250" dirty="0">
                <a:solidFill>
                  <a:srgbClr val="7FE3D8"/>
                </a:solidFill>
                <a:latin typeface="Courier New" pitchFamily="34" charset="0"/>
                <a:ea typeface="Courier New" pitchFamily="34" charset="-122"/>
                <a:cs typeface="Courier New" pitchFamily="34" charset="-120"/>
              </a:rPr>
              <a:t># [{'translation_text': 'Le traitement du langage naturel est puissant.'}]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74320"/>
          </a:xfrm>
          <a:prstGeom prst="rect">
            <a:avLst/>
          </a:prstGeom>
          <a:noFill/>
          <a:ln/>
        </p:spPr>
        <p:txBody>
          <a:bodyPr wrap="square" lIns="0" tIns="0" rIns="0" bIns="0" rtlCol="0" anchor="ctr"/>
          <a:lstStyle/>
          <a:p>
            <a:pPr algn="l" indent="0" marL="0">
              <a:buNone/>
            </a:pPr>
            <a:r>
              <a:rPr lang="en-US" sz="1200" b="1" spc="200" kern="0" dirty="0">
                <a:solidFill>
                  <a:srgbClr val="13887E"/>
                </a:solidFill>
                <a:latin typeface="Calibri" pitchFamily="34" charset="0"/>
                <a:ea typeface="Calibri" pitchFamily="34" charset="-122"/>
                <a:cs typeface="Calibri" pitchFamily="34" charset="-120"/>
              </a:rPr>
              <a:t>FOUNDATIONS</a:t>
            </a:r>
            <a:endParaRPr lang="en-US" sz="1200" dirty="0"/>
          </a:p>
        </p:txBody>
      </p:sp>
      <p:sp>
        <p:nvSpPr>
          <p:cNvPr id="3" name="Text 1"/>
          <p:cNvSpPr/>
          <p:nvPr/>
        </p:nvSpPr>
        <p:spPr>
          <a:xfrm>
            <a:off x="566928" y="621792"/>
            <a:ext cx="10143439" cy="777240"/>
          </a:xfrm>
          <a:prstGeom prst="rect">
            <a:avLst/>
          </a:prstGeom>
          <a:noFill/>
          <a:ln/>
        </p:spPr>
        <p:txBody>
          <a:bodyPr wrap="square" lIns="0" tIns="0" rIns="0" bIns="0" rtlCol="0" anchor="t"/>
          <a:lstStyle/>
          <a:p>
            <a:pPr indent="0" marL="0">
              <a:buNone/>
            </a:pPr>
            <a:r>
              <a:rPr lang="en-US" sz="3600" b="1" dirty="0">
                <a:solidFill>
                  <a:srgbClr val="0B1437"/>
                </a:solidFill>
                <a:latin typeface="Cambria" pitchFamily="34" charset="0"/>
                <a:ea typeface="Cambria" pitchFamily="34" charset="-122"/>
                <a:cs typeface="Cambria" pitchFamily="34" charset="-120"/>
              </a:rPr>
              <a:t>Core Components of NLP</a:t>
            </a:r>
            <a:endParaRPr lang="en-US" sz="3600" dirty="0"/>
          </a:p>
        </p:txBody>
      </p:sp>
      <p:sp>
        <p:nvSpPr>
          <p:cNvPr id="4" name="Text 2"/>
          <p:cNvSpPr/>
          <p:nvPr/>
        </p:nvSpPr>
        <p:spPr>
          <a:xfrm>
            <a:off x="10801807" y="310896"/>
            <a:ext cx="822960" cy="365760"/>
          </a:xfrm>
          <a:prstGeom prst="rect">
            <a:avLst/>
          </a:prstGeom>
          <a:noFill/>
          <a:ln/>
        </p:spPr>
        <p:txBody>
          <a:bodyPr wrap="square" lIns="0" tIns="0" rIns="0" bIns="0" rtlCol="0" anchor="ctr"/>
          <a:lstStyle/>
          <a:p>
            <a:pPr algn="r" indent="0" marL="0">
              <a:buNone/>
            </a:pPr>
            <a:r>
              <a:rPr lang="en-US" sz="1300" dirty="0">
                <a:solidFill>
                  <a:srgbClr val="A9B3C6"/>
                </a:solidFill>
                <a:latin typeface="Calibri" pitchFamily="34" charset="0"/>
                <a:ea typeface="Calibri" pitchFamily="34" charset="-122"/>
                <a:cs typeface="Calibri" pitchFamily="34" charset="-120"/>
              </a:rPr>
              <a:t>08</a:t>
            </a:r>
            <a:endParaRPr lang="en-US" sz="1300" dirty="0"/>
          </a:p>
        </p:txBody>
      </p:sp>
      <p:pic>
        <p:nvPicPr>
          <p:cNvPr id="6" name="Image 0" descr="assets/layers.png">    </p:cNvPr>
          <p:cNvPicPr>
            <a:picLocks noChangeAspect="1"/>
          </p:cNvPicPr>
          <p:nvPr/>
        </p:nvPicPr>
        <p:blipFill>
          <a:blip r:embed="rId1"/>
          <a:stretch>
            <a:fillRect/>
          </a:stretch>
        </p:blipFill>
        <p:spPr>
          <a:xfrm>
            <a:off x="6309360" y="1893863"/>
            <a:ext cx="5394960" cy="3527474"/>
          </a:xfrm>
          <a:prstGeom prst="rect">
            <a:avLst/>
          </a:prstGeom>
        </p:spPr>
      </p:pic>
      <p:sp>
        <p:nvSpPr>
          <p:cNvPr id="7" name="Shape 3"/>
          <p:cNvSpPr/>
          <p:nvPr/>
        </p:nvSpPr>
        <p:spPr>
          <a:xfrm>
            <a:off x="566928" y="1783080"/>
            <a:ext cx="5486400" cy="1207008"/>
          </a:xfrm>
          <a:prstGeom prst="roundRect">
            <a:avLst>
              <a:gd name="adj" fmla="val 9091"/>
            </a:avLst>
          </a:prstGeom>
          <a:solidFill>
            <a:srgbClr val="F2F5FA"/>
          </a:solidFill>
          <a:ln w="12700">
            <a:solidFill>
              <a:srgbClr val="DCE3ED"/>
            </a:solidFill>
            <a:prstDash val="solid"/>
          </a:ln>
        </p:spPr>
      </p:sp>
      <p:sp>
        <p:nvSpPr>
          <p:cNvPr id="8" name="Text 4"/>
          <p:cNvSpPr/>
          <p:nvPr/>
        </p:nvSpPr>
        <p:spPr>
          <a:xfrm>
            <a:off x="877824" y="2057400"/>
            <a:ext cx="4882896" cy="384048"/>
          </a:xfrm>
          <a:prstGeom prst="rect">
            <a:avLst/>
          </a:prstGeom>
          <a:noFill/>
          <a:ln/>
        </p:spPr>
        <p:txBody>
          <a:bodyPr wrap="square" lIns="0" tIns="0" rIns="0" bIns="0" rtlCol="0" anchor="ctr"/>
          <a:lstStyle/>
          <a:p>
            <a:pPr indent="0" marL="0">
              <a:buNone/>
            </a:pPr>
            <a:r>
              <a:rPr lang="en-US" sz="1700" b="1" dirty="0">
                <a:solidFill>
                  <a:srgbClr val="0B1437"/>
                </a:solidFill>
                <a:latin typeface="Calibri" pitchFamily="34" charset="0"/>
                <a:ea typeface="Calibri" pitchFamily="34" charset="-122"/>
                <a:cs typeface="Calibri" pitchFamily="34" charset="-120"/>
              </a:rPr>
              <a:t>Syntax (structure)</a:t>
            </a:r>
            <a:endParaRPr lang="en-US" sz="1700" dirty="0"/>
          </a:p>
        </p:txBody>
      </p:sp>
      <p:sp>
        <p:nvSpPr>
          <p:cNvPr id="9" name="Text 5"/>
          <p:cNvSpPr/>
          <p:nvPr/>
        </p:nvSpPr>
        <p:spPr>
          <a:xfrm>
            <a:off x="877824" y="2478024"/>
            <a:ext cx="4882896" cy="292608"/>
          </a:xfrm>
          <a:prstGeom prst="rect">
            <a:avLst/>
          </a:prstGeom>
          <a:noFill/>
          <a:ln/>
        </p:spPr>
        <p:txBody>
          <a:bodyPr wrap="square" lIns="0" tIns="0" rIns="0" bIns="0" rtlCol="0" anchor="t"/>
          <a:lstStyle/>
          <a:p>
            <a:pPr indent="0" marL="0">
              <a:lnSpc>
                <a:spcPct val="112000"/>
              </a:lnSpc>
              <a:buNone/>
            </a:pPr>
            <a:r>
              <a:rPr lang="en-US" sz="1350" dirty="0">
                <a:solidFill>
                  <a:srgbClr val="5C6784"/>
                </a:solidFill>
                <a:latin typeface="Calibri" pitchFamily="34" charset="0"/>
                <a:ea typeface="Calibri" pitchFamily="34" charset="-122"/>
                <a:cs typeface="Calibri" pitchFamily="34" charset="-120"/>
              </a:rPr>
              <a:t>How words are arranged into sentences</a:t>
            </a:r>
            <a:endParaRPr lang="en-US" sz="1350" dirty="0"/>
          </a:p>
        </p:txBody>
      </p:sp>
      <p:sp>
        <p:nvSpPr>
          <p:cNvPr id="10" name="Shape 6"/>
          <p:cNvSpPr/>
          <p:nvPr/>
        </p:nvSpPr>
        <p:spPr>
          <a:xfrm>
            <a:off x="859536" y="2112264"/>
            <a:ext cx="146304" cy="146304"/>
          </a:xfrm>
          <a:prstGeom prst="ellipse">
            <a:avLst/>
          </a:prstGeom>
          <a:solidFill>
            <a:srgbClr val="FFB703"/>
          </a:solidFill>
          <a:ln/>
        </p:spPr>
      </p:sp>
      <p:sp>
        <p:nvSpPr>
          <p:cNvPr id="11" name="Shape 7"/>
          <p:cNvSpPr/>
          <p:nvPr/>
        </p:nvSpPr>
        <p:spPr>
          <a:xfrm>
            <a:off x="566928" y="3154680"/>
            <a:ext cx="5486400" cy="1207008"/>
          </a:xfrm>
          <a:prstGeom prst="roundRect">
            <a:avLst>
              <a:gd name="adj" fmla="val 9091"/>
            </a:avLst>
          </a:prstGeom>
          <a:solidFill>
            <a:srgbClr val="F2F5FA"/>
          </a:solidFill>
          <a:ln w="12700">
            <a:solidFill>
              <a:srgbClr val="DCE3ED"/>
            </a:solidFill>
            <a:prstDash val="solid"/>
          </a:ln>
        </p:spPr>
      </p:sp>
      <p:sp>
        <p:nvSpPr>
          <p:cNvPr id="12" name="Text 8"/>
          <p:cNvSpPr/>
          <p:nvPr/>
        </p:nvSpPr>
        <p:spPr>
          <a:xfrm>
            <a:off x="877824" y="3429000"/>
            <a:ext cx="4882896" cy="384048"/>
          </a:xfrm>
          <a:prstGeom prst="rect">
            <a:avLst/>
          </a:prstGeom>
          <a:noFill/>
          <a:ln/>
        </p:spPr>
        <p:txBody>
          <a:bodyPr wrap="square" lIns="0" tIns="0" rIns="0" bIns="0" rtlCol="0" anchor="ctr"/>
          <a:lstStyle/>
          <a:p>
            <a:pPr indent="0" marL="0">
              <a:buNone/>
            </a:pPr>
            <a:r>
              <a:rPr lang="en-US" sz="1700" b="1" dirty="0">
                <a:solidFill>
                  <a:srgbClr val="0B1437"/>
                </a:solidFill>
                <a:latin typeface="Calibri" pitchFamily="34" charset="0"/>
                <a:ea typeface="Calibri" pitchFamily="34" charset="-122"/>
                <a:cs typeface="Calibri" pitchFamily="34" charset="-120"/>
              </a:rPr>
              <a:t>Semantics (meaning)</a:t>
            </a:r>
            <a:endParaRPr lang="en-US" sz="1700" dirty="0"/>
          </a:p>
        </p:txBody>
      </p:sp>
      <p:sp>
        <p:nvSpPr>
          <p:cNvPr id="13" name="Text 9"/>
          <p:cNvSpPr/>
          <p:nvPr/>
        </p:nvSpPr>
        <p:spPr>
          <a:xfrm>
            <a:off x="877824" y="3849624"/>
            <a:ext cx="4882896" cy="292608"/>
          </a:xfrm>
          <a:prstGeom prst="rect">
            <a:avLst/>
          </a:prstGeom>
          <a:noFill/>
          <a:ln/>
        </p:spPr>
        <p:txBody>
          <a:bodyPr wrap="square" lIns="0" tIns="0" rIns="0" bIns="0" rtlCol="0" anchor="t"/>
          <a:lstStyle/>
          <a:p>
            <a:pPr indent="0" marL="0">
              <a:lnSpc>
                <a:spcPct val="112000"/>
              </a:lnSpc>
              <a:buNone/>
            </a:pPr>
            <a:r>
              <a:rPr lang="en-US" sz="1350" dirty="0">
                <a:solidFill>
                  <a:srgbClr val="5C6784"/>
                </a:solidFill>
                <a:latin typeface="Calibri" pitchFamily="34" charset="0"/>
                <a:ea typeface="Calibri" pitchFamily="34" charset="-122"/>
                <a:cs typeface="Calibri" pitchFamily="34" charset="-120"/>
              </a:rPr>
              <a:t>What those words actually refer to</a:t>
            </a:r>
            <a:endParaRPr lang="en-US" sz="1350" dirty="0"/>
          </a:p>
        </p:txBody>
      </p:sp>
      <p:sp>
        <p:nvSpPr>
          <p:cNvPr id="14" name="Shape 10"/>
          <p:cNvSpPr/>
          <p:nvPr/>
        </p:nvSpPr>
        <p:spPr>
          <a:xfrm>
            <a:off x="859536" y="3483864"/>
            <a:ext cx="146304" cy="146304"/>
          </a:xfrm>
          <a:prstGeom prst="ellipse">
            <a:avLst/>
          </a:prstGeom>
          <a:solidFill>
            <a:srgbClr val="2EC4B6"/>
          </a:solidFill>
          <a:ln/>
        </p:spPr>
      </p:sp>
      <p:sp>
        <p:nvSpPr>
          <p:cNvPr id="15" name="Shape 11"/>
          <p:cNvSpPr/>
          <p:nvPr/>
        </p:nvSpPr>
        <p:spPr>
          <a:xfrm>
            <a:off x="566928" y="4526280"/>
            <a:ext cx="5486400" cy="1207008"/>
          </a:xfrm>
          <a:prstGeom prst="roundRect">
            <a:avLst>
              <a:gd name="adj" fmla="val 9091"/>
            </a:avLst>
          </a:prstGeom>
          <a:solidFill>
            <a:srgbClr val="F2F5FA"/>
          </a:solidFill>
          <a:ln w="12700">
            <a:solidFill>
              <a:srgbClr val="DCE3ED"/>
            </a:solidFill>
            <a:prstDash val="solid"/>
          </a:ln>
        </p:spPr>
      </p:sp>
      <p:sp>
        <p:nvSpPr>
          <p:cNvPr id="16" name="Text 12"/>
          <p:cNvSpPr/>
          <p:nvPr/>
        </p:nvSpPr>
        <p:spPr>
          <a:xfrm>
            <a:off x="877824" y="4800600"/>
            <a:ext cx="4882896" cy="384048"/>
          </a:xfrm>
          <a:prstGeom prst="rect">
            <a:avLst/>
          </a:prstGeom>
          <a:noFill/>
          <a:ln/>
        </p:spPr>
        <p:txBody>
          <a:bodyPr wrap="square" lIns="0" tIns="0" rIns="0" bIns="0" rtlCol="0" anchor="ctr"/>
          <a:lstStyle/>
          <a:p>
            <a:pPr indent="0" marL="0">
              <a:buNone/>
            </a:pPr>
            <a:r>
              <a:rPr lang="en-US" sz="1700" b="1" dirty="0">
                <a:solidFill>
                  <a:srgbClr val="0B1437"/>
                </a:solidFill>
                <a:latin typeface="Calibri" pitchFamily="34" charset="0"/>
                <a:ea typeface="Calibri" pitchFamily="34" charset="-122"/>
                <a:cs typeface="Calibri" pitchFamily="34" charset="-120"/>
              </a:rPr>
              <a:t>Pragmatics (context)</a:t>
            </a:r>
            <a:endParaRPr lang="en-US" sz="1700" dirty="0"/>
          </a:p>
        </p:txBody>
      </p:sp>
      <p:sp>
        <p:nvSpPr>
          <p:cNvPr id="17" name="Text 13"/>
          <p:cNvSpPr/>
          <p:nvPr/>
        </p:nvSpPr>
        <p:spPr>
          <a:xfrm>
            <a:off x="877824" y="5221224"/>
            <a:ext cx="4882896" cy="292608"/>
          </a:xfrm>
          <a:prstGeom prst="rect">
            <a:avLst/>
          </a:prstGeom>
          <a:noFill/>
          <a:ln/>
        </p:spPr>
        <p:txBody>
          <a:bodyPr wrap="square" lIns="0" tIns="0" rIns="0" bIns="0" rtlCol="0" anchor="t"/>
          <a:lstStyle/>
          <a:p>
            <a:pPr indent="0" marL="0">
              <a:lnSpc>
                <a:spcPct val="112000"/>
              </a:lnSpc>
              <a:buNone/>
            </a:pPr>
            <a:r>
              <a:rPr lang="en-US" sz="1350" dirty="0">
                <a:solidFill>
                  <a:srgbClr val="5C6784"/>
                </a:solidFill>
                <a:latin typeface="Calibri" pitchFamily="34" charset="0"/>
                <a:ea typeface="Calibri" pitchFamily="34" charset="-122"/>
                <a:cs typeface="Calibri" pitchFamily="34" charset="-120"/>
              </a:rPr>
              <a:t>Tone, situation, culture — “Nice job” as praise or sarcasm</a:t>
            </a:r>
            <a:endParaRPr lang="en-US" sz="1350" dirty="0"/>
          </a:p>
        </p:txBody>
      </p:sp>
      <p:sp>
        <p:nvSpPr>
          <p:cNvPr id="18" name="Shape 14"/>
          <p:cNvSpPr/>
          <p:nvPr/>
        </p:nvSpPr>
        <p:spPr>
          <a:xfrm>
            <a:off x="859536" y="4855464"/>
            <a:ext cx="146304" cy="146304"/>
          </a:xfrm>
          <a:prstGeom prst="ellipse">
            <a:avLst/>
          </a:prstGeom>
          <a:solidFill>
            <a:srgbClr val="7C6BF2"/>
          </a:solidFill>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74320"/>
          </a:xfrm>
          <a:prstGeom prst="rect">
            <a:avLst/>
          </a:prstGeom>
          <a:noFill/>
          <a:ln/>
        </p:spPr>
        <p:txBody>
          <a:bodyPr wrap="square" lIns="0" tIns="0" rIns="0" bIns="0" rtlCol="0" anchor="ctr"/>
          <a:lstStyle/>
          <a:p>
            <a:pPr algn="l" indent="0" marL="0">
              <a:buNone/>
            </a:pPr>
            <a:r>
              <a:rPr lang="en-US" sz="1200" b="1" spc="200" kern="0" dirty="0">
                <a:solidFill>
                  <a:srgbClr val="13887E"/>
                </a:solidFill>
                <a:latin typeface="Calibri" pitchFamily="34" charset="0"/>
                <a:ea typeface="Calibri" pitchFamily="34" charset="-122"/>
                <a:cs typeface="Calibri" pitchFamily="34" charset="-120"/>
              </a:rPr>
              <a:t>CLASSIC TOOLKIT</a:t>
            </a:r>
            <a:endParaRPr lang="en-US" sz="1200" dirty="0"/>
          </a:p>
        </p:txBody>
      </p:sp>
      <p:sp>
        <p:nvSpPr>
          <p:cNvPr id="3" name="Text 1"/>
          <p:cNvSpPr/>
          <p:nvPr/>
        </p:nvSpPr>
        <p:spPr>
          <a:xfrm>
            <a:off x="566928" y="621792"/>
            <a:ext cx="10143439" cy="777240"/>
          </a:xfrm>
          <a:prstGeom prst="rect">
            <a:avLst/>
          </a:prstGeom>
          <a:noFill/>
          <a:ln/>
        </p:spPr>
        <p:txBody>
          <a:bodyPr wrap="square" lIns="0" tIns="0" rIns="0" bIns="0" rtlCol="0" anchor="t"/>
          <a:lstStyle/>
          <a:p>
            <a:pPr indent="0" marL="0">
              <a:buNone/>
            </a:pPr>
            <a:r>
              <a:rPr lang="en-US" sz="3600" b="1" dirty="0">
                <a:solidFill>
                  <a:srgbClr val="0B1437"/>
                </a:solidFill>
                <a:latin typeface="Cambria" pitchFamily="34" charset="0"/>
                <a:ea typeface="Cambria" pitchFamily="34" charset="-122"/>
                <a:cs typeface="Cambria" pitchFamily="34" charset="-120"/>
              </a:rPr>
              <a:t>Traditional NLP Techniques</a:t>
            </a:r>
            <a:endParaRPr lang="en-US" sz="3600" dirty="0"/>
          </a:p>
        </p:txBody>
      </p:sp>
      <p:sp>
        <p:nvSpPr>
          <p:cNvPr id="4" name="Text 2"/>
          <p:cNvSpPr/>
          <p:nvPr/>
        </p:nvSpPr>
        <p:spPr>
          <a:xfrm>
            <a:off x="10801807" y="310896"/>
            <a:ext cx="822960" cy="365760"/>
          </a:xfrm>
          <a:prstGeom prst="rect">
            <a:avLst/>
          </a:prstGeom>
          <a:noFill/>
          <a:ln/>
        </p:spPr>
        <p:txBody>
          <a:bodyPr wrap="square" lIns="0" tIns="0" rIns="0" bIns="0" rtlCol="0" anchor="ctr"/>
          <a:lstStyle/>
          <a:p>
            <a:pPr algn="r" indent="0" marL="0">
              <a:buNone/>
            </a:pPr>
            <a:r>
              <a:rPr lang="en-US" sz="1300" dirty="0">
                <a:solidFill>
                  <a:srgbClr val="A9B3C6"/>
                </a:solidFill>
                <a:latin typeface="Calibri" pitchFamily="34" charset="0"/>
                <a:ea typeface="Calibri" pitchFamily="34" charset="-122"/>
                <a:cs typeface="Calibri" pitchFamily="34" charset="-120"/>
              </a:rPr>
              <a:t>09</a:t>
            </a:r>
            <a:endParaRPr lang="en-US" sz="1300" dirty="0"/>
          </a:p>
        </p:txBody>
      </p:sp>
      <p:pic>
        <p:nvPicPr>
          <p:cNvPr id="6" name="Image 0" descr="assets/pipeline.png">    </p:cNvPr>
          <p:cNvPicPr>
            <a:picLocks noChangeAspect="1"/>
          </p:cNvPicPr>
          <p:nvPr/>
        </p:nvPicPr>
        <p:blipFill>
          <a:blip r:embed="rId1"/>
          <a:stretch>
            <a:fillRect/>
          </a:stretch>
        </p:blipFill>
        <p:spPr>
          <a:xfrm>
            <a:off x="699868" y="1600200"/>
            <a:ext cx="10761785" cy="1554480"/>
          </a:xfrm>
          <a:prstGeom prst="rect">
            <a:avLst/>
          </a:prstGeom>
        </p:spPr>
      </p:pic>
      <p:sp>
        <p:nvSpPr>
          <p:cNvPr id="7" name="Shape 3"/>
          <p:cNvSpPr/>
          <p:nvPr/>
        </p:nvSpPr>
        <p:spPr>
          <a:xfrm>
            <a:off x="566928" y="3383280"/>
            <a:ext cx="3520440" cy="1170432"/>
          </a:xfrm>
          <a:prstGeom prst="roundRect">
            <a:avLst>
              <a:gd name="adj" fmla="val 9375"/>
            </a:avLst>
          </a:prstGeom>
          <a:solidFill>
            <a:srgbClr val="F2F5FA"/>
          </a:solidFill>
          <a:ln w="12700">
            <a:solidFill>
              <a:srgbClr val="DCE3ED"/>
            </a:solidFill>
            <a:prstDash val="solid"/>
          </a:ln>
        </p:spPr>
      </p:sp>
      <p:sp>
        <p:nvSpPr>
          <p:cNvPr id="8" name="Text 4"/>
          <p:cNvSpPr/>
          <p:nvPr/>
        </p:nvSpPr>
        <p:spPr>
          <a:xfrm>
            <a:off x="877824" y="3657600"/>
            <a:ext cx="2916936" cy="384048"/>
          </a:xfrm>
          <a:prstGeom prst="rect">
            <a:avLst/>
          </a:prstGeom>
          <a:noFill/>
          <a:ln/>
        </p:spPr>
        <p:txBody>
          <a:bodyPr wrap="square" lIns="0" tIns="0" rIns="0" bIns="0" rtlCol="0" anchor="ctr"/>
          <a:lstStyle/>
          <a:p>
            <a:pPr indent="0" marL="0">
              <a:buNone/>
            </a:pPr>
            <a:r>
              <a:rPr lang="en-US" sz="1550" b="1" dirty="0">
                <a:solidFill>
                  <a:srgbClr val="0B1437"/>
                </a:solidFill>
                <a:latin typeface="Calibri" pitchFamily="34" charset="0"/>
                <a:ea typeface="Calibri" pitchFamily="34" charset="-122"/>
                <a:cs typeface="Calibri" pitchFamily="34" charset="-120"/>
              </a:rPr>
              <a:t>Tokenization</a:t>
            </a:r>
            <a:endParaRPr lang="en-US" sz="1550" dirty="0"/>
          </a:p>
        </p:txBody>
      </p:sp>
      <p:sp>
        <p:nvSpPr>
          <p:cNvPr id="9" name="Text 5"/>
          <p:cNvSpPr/>
          <p:nvPr/>
        </p:nvSpPr>
        <p:spPr>
          <a:xfrm>
            <a:off x="877824" y="4078224"/>
            <a:ext cx="2916936" cy="256032"/>
          </a:xfrm>
          <a:prstGeom prst="rect">
            <a:avLst/>
          </a:prstGeom>
          <a:noFill/>
          <a:ln/>
        </p:spPr>
        <p:txBody>
          <a:bodyPr wrap="square" lIns="0" tIns="0" rIns="0" bIns="0" rtlCol="0" anchor="t"/>
          <a:lstStyle/>
          <a:p>
            <a:pPr indent="0" marL="0">
              <a:lnSpc>
                <a:spcPct val="112000"/>
              </a:lnSpc>
              <a:buNone/>
            </a:pPr>
            <a:r>
              <a:rPr lang="en-US" sz="1300" dirty="0">
                <a:solidFill>
                  <a:srgbClr val="5C6784"/>
                </a:solidFill>
                <a:latin typeface="Calibri" pitchFamily="34" charset="0"/>
                <a:ea typeface="Calibri" pitchFamily="34" charset="-122"/>
                <a:cs typeface="Calibri" pitchFamily="34" charset="-120"/>
              </a:rPr>
              <a:t>Split text into words or sub-words</a:t>
            </a:r>
            <a:endParaRPr lang="en-US" sz="1300" dirty="0"/>
          </a:p>
        </p:txBody>
      </p:sp>
      <p:sp>
        <p:nvSpPr>
          <p:cNvPr id="10" name="Shape 6"/>
          <p:cNvSpPr/>
          <p:nvPr/>
        </p:nvSpPr>
        <p:spPr>
          <a:xfrm>
            <a:off x="4297680" y="3383280"/>
            <a:ext cx="3520440" cy="1170432"/>
          </a:xfrm>
          <a:prstGeom prst="roundRect">
            <a:avLst>
              <a:gd name="adj" fmla="val 9375"/>
            </a:avLst>
          </a:prstGeom>
          <a:solidFill>
            <a:srgbClr val="F2F5FA"/>
          </a:solidFill>
          <a:ln w="12700">
            <a:solidFill>
              <a:srgbClr val="DCE3ED"/>
            </a:solidFill>
            <a:prstDash val="solid"/>
          </a:ln>
        </p:spPr>
      </p:sp>
      <p:sp>
        <p:nvSpPr>
          <p:cNvPr id="11" name="Text 7"/>
          <p:cNvSpPr/>
          <p:nvPr/>
        </p:nvSpPr>
        <p:spPr>
          <a:xfrm>
            <a:off x="4608576" y="3657600"/>
            <a:ext cx="2916936" cy="384048"/>
          </a:xfrm>
          <a:prstGeom prst="rect">
            <a:avLst/>
          </a:prstGeom>
          <a:noFill/>
          <a:ln/>
        </p:spPr>
        <p:txBody>
          <a:bodyPr wrap="square" lIns="0" tIns="0" rIns="0" bIns="0" rtlCol="0" anchor="ctr"/>
          <a:lstStyle/>
          <a:p>
            <a:pPr indent="0" marL="0">
              <a:buNone/>
            </a:pPr>
            <a:r>
              <a:rPr lang="en-US" sz="1550" b="1" dirty="0">
                <a:solidFill>
                  <a:srgbClr val="0B1437"/>
                </a:solidFill>
                <a:latin typeface="Calibri" pitchFamily="34" charset="0"/>
                <a:ea typeface="Calibri" pitchFamily="34" charset="-122"/>
                <a:cs typeface="Calibri" pitchFamily="34" charset="-120"/>
              </a:rPr>
              <a:t>Stop-word removal</a:t>
            </a:r>
            <a:endParaRPr lang="en-US" sz="1550" dirty="0"/>
          </a:p>
        </p:txBody>
      </p:sp>
      <p:sp>
        <p:nvSpPr>
          <p:cNvPr id="12" name="Text 8"/>
          <p:cNvSpPr/>
          <p:nvPr/>
        </p:nvSpPr>
        <p:spPr>
          <a:xfrm>
            <a:off x="4608576" y="4078224"/>
            <a:ext cx="2916936" cy="256032"/>
          </a:xfrm>
          <a:prstGeom prst="rect">
            <a:avLst/>
          </a:prstGeom>
          <a:noFill/>
          <a:ln/>
        </p:spPr>
        <p:txBody>
          <a:bodyPr wrap="square" lIns="0" tIns="0" rIns="0" bIns="0" rtlCol="0" anchor="t"/>
          <a:lstStyle/>
          <a:p>
            <a:pPr indent="0" marL="0">
              <a:lnSpc>
                <a:spcPct val="112000"/>
              </a:lnSpc>
              <a:buNone/>
            </a:pPr>
            <a:r>
              <a:rPr lang="en-US" sz="1300" dirty="0">
                <a:solidFill>
                  <a:srgbClr val="5C6784"/>
                </a:solidFill>
                <a:latin typeface="Calibri" pitchFamily="34" charset="0"/>
                <a:ea typeface="Calibri" pitchFamily="34" charset="-122"/>
                <a:cs typeface="Calibri" pitchFamily="34" charset="-120"/>
              </a:rPr>
              <a:t>Drop “the”, “and”, “of” …</a:t>
            </a:r>
            <a:endParaRPr lang="en-US" sz="1300" dirty="0"/>
          </a:p>
        </p:txBody>
      </p:sp>
      <p:sp>
        <p:nvSpPr>
          <p:cNvPr id="13" name="Shape 9"/>
          <p:cNvSpPr/>
          <p:nvPr/>
        </p:nvSpPr>
        <p:spPr>
          <a:xfrm>
            <a:off x="8028432" y="3383280"/>
            <a:ext cx="3520440" cy="1170432"/>
          </a:xfrm>
          <a:prstGeom prst="roundRect">
            <a:avLst>
              <a:gd name="adj" fmla="val 9375"/>
            </a:avLst>
          </a:prstGeom>
          <a:solidFill>
            <a:srgbClr val="F2F5FA"/>
          </a:solidFill>
          <a:ln w="12700">
            <a:solidFill>
              <a:srgbClr val="DCE3ED"/>
            </a:solidFill>
            <a:prstDash val="solid"/>
          </a:ln>
        </p:spPr>
      </p:sp>
      <p:sp>
        <p:nvSpPr>
          <p:cNvPr id="14" name="Text 10"/>
          <p:cNvSpPr/>
          <p:nvPr/>
        </p:nvSpPr>
        <p:spPr>
          <a:xfrm>
            <a:off x="8339328" y="3657600"/>
            <a:ext cx="2916936" cy="384048"/>
          </a:xfrm>
          <a:prstGeom prst="rect">
            <a:avLst/>
          </a:prstGeom>
          <a:noFill/>
          <a:ln/>
        </p:spPr>
        <p:txBody>
          <a:bodyPr wrap="square" lIns="0" tIns="0" rIns="0" bIns="0" rtlCol="0" anchor="ctr"/>
          <a:lstStyle/>
          <a:p>
            <a:pPr indent="0" marL="0">
              <a:buNone/>
            </a:pPr>
            <a:r>
              <a:rPr lang="en-US" sz="1550" b="1" dirty="0">
                <a:solidFill>
                  <a:srgbClr val="0B1437"/>
                </a:solidFill>
                <a:latin typeface="Calibri" pitchFamily="34" charset="0"/>
                <a:ea typeface="Calibri" pitchFamily="34" charset="-122"/>
                <a:cs typeface="Calibri" pitchFamily="34" charset="-120"/>
              </a:rPr>
              <a:t>Stemming &amp; Lemmatization</a:t>
            </a:r>
            <a:endParaRPr lang="en-US" sz="1550" dirty="0"/>
          </a:p>
        </p:txBody>
      </p:sp>
      <p:sp>
        <p:nvSpPr>
          <p:cNvPr id="15" name="Text 11"/>
          <p:cNvSpPr/>
          <p:nvPr/>
        </p:nvSpPr>
        <p:spPr>
          <a:xfrm>
            <a:off x="8339328" y="4078224"/>
            <a:ext cx="2916936" cy="256032"/>
          </a:xfrm>
          <a:prstGeom prst="rect">
            <a:avLst/>
          </a:prstGeom>
          <a:noFill/>
          <a:ln/>
        </p:spPr>
        <p:txBody>
          <a:bodyPr wrap="square" lIns="0" tIns="0" rIns="0" bIns="0" rtlCol="0" anchor="t"/>
          <a:lstStyle/>
          <a:p>
            <a:pPr indent="0" marL="0">
              <a:lnSpc>
                <a:spcPct val="112000"/>
              </a:lnSpc>
              <a:buNone/>
            </a:pPr>
            <a:r>
              <a:rPr lang="en-US" sz="1300" dirty="0">
                <a:solidFill>
                  <a:srgbClr val="5C6784"/>
                </a:solidFill>
                <a:latin typeface="Calibri" pitchFamily="34" charset="0"/>
                <a:ea typeface="Calibri" pitchFamily="34" charset="-122"/>
                <a:cs typeface="Calibri" pitchFamily="34" charset="-120"/>
              </a:rPr>
              <a:t>“running” → “run”</a:t>
            </a:r>
            <a:endParaRPr lang="en-US" sz="1300" dirty="0"/>
          </a:p>
        </p:txBody>
      </p:sp>
      <p:sp>
        <p:nvSpPr>
          <p:cNvPr id="16" name="Shape 12"/>
          <p:cNvSpPr/>
          <p:nvPr/>
        </p:nvSpPr>
        <p:spPr>
          <a:xfrm>
            <a:off x="566928" y="4709160"/>
            <a:ext cx="3017520" cy="1170432"/>
          </a:xfrm>
          <a:prstGeom prst="roundRect">
            <a:avLst>
              <a:gd name="adj" fmla="val 9375"/>
            </a:avLst>
          </a:prstGeom>
          <a:solidFill>
            <a:srgbClr val="F2F5FA"/>
          </a:solidFill>
          <a:ln w="12700">
            <a:solidFill>
              <a:srgbClr val="DCE3ED"/>
            </a:solidFill>
            <a:prstDash val="solid"/>
          </a:ln>
        </p:spPr>
      </p:sp>
      <p:sp>
        <p:nvSpPr>
          <p:cNvPr id="17" name="Text 13"/>
          <p:cNvSpPr/>
          <p:nvPr/>
        </p:nvSpPr>
        <p:spPr>
          <a:xfrm>
            <a:off x="877824" y="4983480"/>
            <a:ext cx="2414016" cy="384048"/>
          </a:xfrm>
          <a:prstGeom prst="rect">
            <a:avLst/>
          </a:prstGeom>
          <a:noFill/>
          <a:ln/>
        </p:spPr>
        <p:txBody>
          <a:bodyPr wrap="square" lIns="0" tIns="0" rIns="0" bIns="0" rtlCol="0" anchor="ctr"/>
          <a:lstStyle/>
          <a:p>
            <a:pPr indent="0" marL="0">
              <a:buNone/>
            </a:pPr>
            <a:r>
              <a:rPr lang="en-US" sz="1550" b="1" dirty="0">
                <a:solidFill>
                  <a:srgbClr val="0B1437"/>
                </a:solidFill>
                <a:latin typeface="Calibri" pitchFamily="34" charset="0"/>
                <a:ea typeface="Calibri" pitchFamily="34" charset="-122"/>
                <a:cs typeface="Calibri" pitchFamily="34" charset="-120"/>
              </a:rPr>
              <a:t>Bag-of-Words (BoW)</a:t>
            </a:r>
            <a:endParaRPr lang="en-US" sz="1550" dirty="0"/>
          </a:p>
        </p:txBody>
      </p:sp>
      <p:sp>
        <p:nvSpPr>
          <p:cNvPr id="18" name="Text 14"/>
          <p:cNvSpPr/>
          <p:nvPr/>
        </p:nvSpPr>
        <p:spPr>
          <a:xfrm>
            <a:off x="877824" y="5404104"/>
            <a:ext cx="2414016" cy="256032"/>
          </a:xfrm>
          <a:prstGeom prst="rect">
            <a:avLst/>
          </a:prstGeom>
          <a:noFill/>
          <a:ln/>
        </p:spPr>
        <p:txBody>
          <a:bodyPr wrap="square" lIns="0" tIns="0" rIns="0" bIns="0" rtlCol="0" anchor="t"/>
          <a:lstStyle/>
          <a:p>
            <a:pPr indent="0" marL="0">
              <a:lnSpc>
                <a:spcPct val="112000"/>
              </a:lnSpc>
              <a:buNone/>
            </a:pPr>
            <a:r>
              <a:rPr lang="en-US" sz="1300" dirty="0">
                <a:solidFill>
                  <a:srgbClr val="5C6784"/>
                </a:solidFill>
                <a:latin typeface="Calibri" pitchFamily="34" charset="0"/>
                <a:ea typeface="Calibri" pitchFamily="34" charset="-122"/>
                <a:cs typeface="Calibri" pitchFamily="34" charset="-120"/>
              </a:rPr>
              <a:t>Text as word counts</a:t>
            </a:r>
            <a:endParaRPr lang="en-US" sz="1300" dirty="0"/>
          </a:p>
        </p:txBody>
      </p:sp>
      <p:sp>
        <p:nvSpPr>
          <p:cNvPr id="19" name="Shape 15"/>
          <p:cNvSpPr/>
          <p:nvPr/>
        </p:nvSpPr>
        <p:spPr>
          <a:xfrm>
            <a:off x="3785616" y="4709160"/>
            <a:ext cx="3017520" cy="1170432"/>
          </a:xfrm>
          <a:prstGeom prst="roundRect">
            <a:avLst>
              <a:gd name="adj" fmla="val 9375"/>
            </a:avLst>
          </a:prstGeom>
          <a:solidFill>
            <a:srgbClr val="F2F5FA"/>
          </a:solidFill>
          <a:ln w="12700">
            <a:solidFill>
              <a:srgbClr val="DCE3ED"/>
            </a:solidFill>
            <a:prstDash val="solid"/>
          </a:ln>
        </p:spPr>
      </p:sp>
      <p:sp>
        <p:nvSpPr>
          <p:cNvPr id="20" name="Text 16"/>
          <p:cNvSpPr/>
          <p:nvPr/>
        </p:nvSpPr>
        <p:spPr>
          <a:xfrm>
            <a:off x="4096512" y="4983480"/>
            <a:ext cx="2414016" cy="384048"/>
          </a:xfrm>
          <a:prstGeom prst="rect">
            <a:avLst/>
          </a:prstGeom>
          <a:noFill/>
          <a:ln/>
        </p:spPr>
        <p:txBody>
          <a:bodyPr wrap="square" lIns="0" tIns="0" rIns="0" bIns="0" rtlCol="0" anchor="ctr"/>
          <a:lstStyle/>
          <a:p>
            <a:pPr indent="0" marL="0">
              <a:buNone/>
            </a:pPr>
            <a:r>
              <a:rPr lang="en-US" sz="1550" b="1" dirty="0">
                <a:solidFill>
                  <a:srgbClr val="0B1437"/>
                </a:solidFill>
                <a:latin typeface="Calibri" pitchFamily="34" charset="0"/>
                <a:ea typeface="Calibri" pitchFamily="34" charset="-122"/>
                <a:cs typeface="Calibri" pitchFamily="34" charset="-120"/>
              </a:rPr>
              <a:t>TF-IDF</a:t>
            </a:r>
            <a:endParaRPr lang="en-US" sz="1550" dirty="0"/>
          </a:p>
        </p:txBody>
      </p:sp>
      <p:sp>
        <p:nvSpPr>
          <p:cNvPr id="21" name="Text 17"/>
          <p:cNvSpPr/>
          <p:nvPr/>
        </p:nvSpPr>
        <p:spPr>
          <a:xfrm>
            <a:off x="4096512" y="5404104"/>
            <a:ext cx="2414016" cy="256032"/>
          </a:xfrm>
          <a:prstGeom prst="rect">
            <a:avLst/>
          </a:prstGeom>
          <a:noFill/>
          <a:ln/>
        </p:spPr>
        <p:txBody>
          <a:bodyPr wrap="square" lIns="0" tIns="0" rIns="0" bIns="0" rtlCol="0" anchor="t"/>
          <a:lstStyle/>
          <a:p>
            <a:pPr indent="0" marL="0">
              <a:lnSpc>
                <a:spcPct val="112000"/>
              </a:lnSpc>
              <a:buNone/>
            </a:pPr>
            <a:r>
              <a:rPr lang="en-US" sz="1300" dirty="0">
                <a:solidFill>
                  <a:srgbClr val="5C6784"/>
                </a:solidFill>
                <a:latin typeface="Calibri" pitchFamily="34" charset="0"/>
                <a:ea typeface="Calibri" pitchFamily="34" charset="-122"/>
                <a:cs typeface="Calibri" pitchFamily="34" charset="-120"/>
              </a:rPr>
              <a:t>Weight words by how distinctive they are</a:t>
            </a:r>
            <a:endParaRPr lang="en-US" sz="1300" dirty="0"/>
          </a:p>
        </p:txBody>
      </p:sp>
      <p:sp>
        <p:nvSpPr>
          <p:cNvPr id="22" name="Shape 18"/>
          <p:cNvSpPr/>
          <p:nvPr/>
        </p:nvSpPr>
        <p:spPr>
          <a:xfrm>
            <a:off x="7004304" y="4709160"/>
            <a:ext cx="4617720" cy="1170432"/>
          </a:xfrm>
          <a:prstGeom prst="roundRect">
            <a:avLst>
              <a:gd name="adj" fmla="val 7813"/>
            </a:avLst>
          </a:prstGeom>
          <a:solidFill>
            <a:srgbClr val="0B1437"/>
          </a:solidFill>
          <a:ln w="12700">
            <a:solidFill>
              <a:srgbClr val="16204A"/>
            </a:solidFill>
            <a:prstDash val="solid"/>
          </a:ln>
        </p:spPr>
      </p:sp>
      <p:sp>
        <p:nvSpPr>
          <p:cNvPr id="23" name="Text 19"/>
          <p:cNvSpPr/>
          <p:nvPr/>
        </p:nvSpPr>
        <p:spPr>
          <a:xfrm>
            <a:off x="7242048" y="4837176"/>
            <a:ext cx="4160520" cy="237744"/>
          </a:xfrm>
          <a:prstGeom prst="rect">
            <a:avLst/>
          </a:prstGeom>
          <a:noFill/>
          <a:ln/>
        </p:spPr>
        <p:txBody>
          <a:bodyPr wrap="square" lIns="0" tIns="0" rIns="0" bIns="0" rtlCol="0" anchor="ctr"/>
          <a:lstStyle/>
          <a:p>
            <a:pPr indent="0" marL="0">
              <a:buNone/>
            </a:pPr>
            <a:r>
              <a:rPr lang="en-US" sz="1100" b="1" spc="100" kern="0" dirty="0">
                <a:solidFill>
                  <a:srgbClr val="2EC4B6"/>
                </a:solidFill>
                <a:latin typeface="Calibri" pitchFamily="34" charset="0"/>
                <a:ea typeface="Calibri" pitchFamily="34" charset="-122"/>
                <a:cs typeface="Calibri" pitchFamily="34" charset="-120"/>
              </a:rPr>
              <a:t>TF-IDF IN THREE LINES</a:t>
            </a:r>
            <a:endParaRPr lang="en-US" sz="1100" dirty="0"/>
          </a:p>
        </p:txBody>
      </p:sp>
      <p:sp>
        <p:nvSpPr>
          <p:cNvPr id="24" name="Text 20"/>
          <p:cNvSpPr/>
          <p:nvPr/>
        </p:nvSpPr>
        <p:spPr>
          <a:xfrm>
            <a:off x="7242048" y="5111496"/>
            <a:ext cx="4160520" cy="621792"/>
          </a:xfrm>
          <a:prstGeom prst="rect">
            <a:avLst/>
          </a:prstGeom>
          <a:noFill/>
          <a:ln/>
        </p:spPr>
        <p:txBody>
          <a:bodyPr wrap="square" lIns="0" tIns="0" rIns="0" bIns="0" rtlCol="0" anchor="t"/>
          <a:lstStyle/>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from sklearn.feature_extraction.text \</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    import TfidfVectorizer</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X = TfidfVectorizer().fit_transform(docs)</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74320"/>
          </a:xfrm>
          <a:prstGeom prst="rect">
            <a:avLst/>
          </a:prstGeom>
          <a:noFill/>
          <a:ln/>
        </p:spPr>
        <p:txBody>
          <a:bodyPr wrap="square" lIns="0" tIns="0" rIns="0" bIns="0" rtlCol="0" anchor="ctr"/>
          <a:lstStyle/>
          <a:p>
            <a:pPr algn="l" indent="0" marL="0">
              <a:buNone/>
            </a:pPr>
            <a:r>
              <a:rPr lang="en-US" sz="1200" b="1" spc="200" kern="0" dirty="0">
                <a:solidFill>
                  <a:srgbClr val="13887E"/>
                </a:solidFill>
                <a:latin typeface="Calibri" pitchFamily="34" charset="0"/>
                <a:ea typeface="Calibri" pitchFamily="34" charset="-122"/>
                <a:cs typeface="Calibri" pitchFamily="34" charset="-120"/>
              </a:rPr>
              <a:t>EXAMPLE</a:t>
            </a:r>
            <a:endParaRPr lang="en-US" sz="1200" dirty="0"/>
          </a:p>
        </p:txBody>
      </p:sp>
      <p:sp>
        <p:nvSpPr>
          <p:cNvPr id="3" name="Text 1"/>
          <p:cNvSpPr/>
          <p:nvPr/>
        </p:nvSpPr>
        <p:spPr>
          <a:xfrm>
            <a:off x="566928" y="621792"/>
            <a:ext cx="10143439" cy="777240"/>
          </a:xfrm>
          <a:prstGeom prst="rect">
            <a:avLst/>
          </a:prstGeom>
          <a:noFill/>
          <a:ln/>
        </p:spPr>
        <p:txBody>
          <a:bodyPr wrap="square" lIns="0" tIns="0" rIns="0" bIns="0" rtlCol="0" anchor="t"/>
          <a:lstStyle/>
          <a:p>
            <a:pPr indent="0" marL="0">
              <a:buNone/>
            </a:pPr>
            <a:r>
              <a:rPr lang="en-US" sz="3600" b="1" dirty="0">
                <a:solidFill>
                  <a:srgbClr val="0B1437"/>
                </a:solidFill>
                <a:latin typeface="Cambria" pitchFamily="34" charset="0"/>
                <a:ea typeface="Cambria" pitchFamily="34" charset="-122"/>
                <a:cs typeface="Cambria" pitchFamily="34" charset="-120"/>
              </a:rPr>
              <a:t>Example: Tokenization</a:t>
            </a:r>
            <a:endParaRPr lang="en-US" sz="3600" dirty="0"/>
          </a:p>
        </p:txBody>
      </p:sp>
      <p:sp>
        <p:nvSpPr>
          <p:cNvPr id="4" name="Text 2"/>
          <p:cNvSpPr/>
          <p:nvPr/>
        </p:nvSpPr>
        <p:spPr>
          <a:xfrm>
            <a:off x="10801807" y="310896"/>
            <a:ext cx="822960" cy="365760"/>
          </a:xfrm>
          <a:prstGeom prst="rect">
            <a:avLst/>
          </a:prstGeom>
          <a:noFill/>
          <a:ln/>
        </p:spPr>
        <p:txBody>
          <a:bodyPr wrap="square" lIns="0" tIns="0" rIns="0" bIns="0" rtlCol="0" anchor="ctr"/>
          <a:lstStyle/>
          <a:p>
            <a:pPr algn="r" indent="0" marL="0">
              <a:buNone/>
            </a:pPr>
            <a:r>
              <a:rPr lang="en-US" sz="1300" dirty="0">
                <a:solidFill>
                  <a:srgbClr val="A9B3C6"/>
                </a:solidFill>
                <a:latin typeface="Calibri" pitchFamily="34" charset="0"/>
                <a:ea typeface="Calibri" pitchFamily="34" charset="-122"/>
                <a:cs typeface="Calibri" pitchFamily="34" charset="-120"/>
              </a:rPr>
              <a:t>10</a:t>
            </a:r>
            <a:endParaRPr lang="en-US" sz="1300" dirty="0"/>
          </a:p>
        </p:txBody>
      </p:sp>
      <p:pic>
        <p:nvPicPr>
          <p:cNvPr id="6" name="Image 0" descr="assets/tokens.png">    </p:cNvPr>
          <p:cNvPicPr>
            <a:picLocks noChangeAspect="1"/>
          </p:cNvPicPr>
          <p:nvPr/>
        </p:nvPicPr>
        <p:blipFill>
          <a:blip r:embed="rId1"/>
          <a:stretch>
            <a:fillRect/>
          </a:stretch>
        </p:blipFill>
        <p:spPr>
          <a:xfrm>
            <a:off x="2139215" y="1554480"/>
            <a:ext cx="7883091" cy="1920240"/>
          </a:xfrm>
          <a:prstGeom prst="rect">
            <a:avLst/>
          </a:prstGeom>
        </p:spPr>
      </p:pic>
      <p:sp>
        <p:nvSpPr>
          <p:cNvPr id="7" name="Shape 3"/>
          <p:cNvSpPr/>
          <p:nvPr/>
        </p:nvSpPr>
        <p:spPr>
          <a:xfrm>
            <a:off x="566928" y="3657600"/>
            <a:ext cx="5486400" cy="2468880"/>
          </a:xfrm>
          <a:prstGeom prst="roundRect">
            <a:avLst>
              <a:gd name="adj" fmla="val 3704"/>
            </a:avLst>
          </a:prstGeom>
          <a:solidFill>
            <a:srgbClr val="0B1437"/>
          </a:solidFill>
          <a:ln w="12700">
            <a:solidFill>
              <a:srgbClr val="16204A"/>
            </a:solidFill>
            <a:prstDash val="solid"/>
          </a:ln>
        </p:spPr>
      </p:sp>
      <p:sp>
        <p:nvSpPr>
          <p:cNvPr id="8" name="Text 4"/>
          <p:cNvSpPr/>
          <p:nvPr/>
        </p:nvSpPr>
        <p:spPr>
          <a:xfrm>
            <a:off x="804672" y="3785616"/>
            <a:ext cx="5029200" cy="237744"/>
          </a:xfrm>
          <a:prstGeom prst="rect">
            <a:avLst/>
          </a:prstGeom>
          <a:noFill/>
          <a:ln/>
        </p:spPr>
        <p:txBody>
          <a:bodyPr wrap="square" lIns="0" tIns="0" rIns="0" bIns="0" rtlCol="0" anchor="ctr"/>
          <a:lstStyle/>
          <a:p>
            <a:pPr indent="0" marL="0">
              <a:buNone/>
            </a:pPr>
            <a:r>
              <a:rPr lang="en-US" sz="1100" b="1" spc="100" kern="0" dirty="0">
                <a:solidFill>
                  <a:srgbClr val="2EC4B6"/>
                </a:solidFill>
                <a:latin typeface="Calibri" pitchFamily="34" charset="0"/>
                <a:ea typeface="Calibri" pitchFamily="34" charset="-122"/>
                <a:cs typeface="Calibri" pitchFamily="34" charset="-120"/>
              </a:rPr>
              <a:t>NLTK</a:t>
            </a:r>
            <a:endParaRPr lang="en-US" sz="1100" dirty="0"/>
          </a:p>
        </p:txBody>
      </p:sp>
      <p:sp>
        <p:nvSpPr>
          <p:cNvPr id="9" name="Text 5"/>
          <p:cNvSpPr/>
          <p:nvPr/>
        </p:nvSpPr>
        <p:spPr>
          <a:xfrm>
            <a:off x="804672" y="4059936"/>
            <a:ext cx="5029200" cy="1920240"/>
          </a:xfrm>
          <a:prstGeom prst="rect">
            <a:avLst/>
          </a:prstGeom>
          <a:noFill/>
          <a:ln/>
        </p:spPr>
        <p:txBody>
          <a:bodyPr wrap="square" lIns="0" tIns="0" rIns="0" bIns="0" rtlCol="0" anchor="t"/>
          <a:lstStyle/>
          <a:p>
            <a:pPr indent="0" marL="0">
              <a:lnSpc>
                <a:spcPct val="106000"/>
              </a:lnSpc>
              <a:buNone/>
            </a:pPr>
            <a:r>
              <a:rPr lang="en-US" sz="1200" dirty="0">
                <a:solidFill>
                  <a:srgbClr val="EAF0FA"/>
                </a:solidFill>
                <a:latin typeface="Courier New" pitchFamily="34" charset="0"/>
                <a:ea typeface="Courier New" pitchFamily="34" charset="-122"/>
                <a:cs typeface="Courier New" pitchFamily="34" charset="-120"/>
              </a:rPr>
              <a:t>import nltk</a:t>
            </a:r>
            <a:endParaRPr lang="en-US" sz="1200" dirty="0"/>
          </a:p>
          <a:p>
            <a:pPr indent="0" marL="0">
              <a:lnSpc>
                <a:spcPct val="106000"/>
              </a:lnSpc>
              <a:buNone/>
            </a:pPr>
            <a:r>
              <a:rPr lang="en-US" sz="1200" dirty="0">
                <a:solidFill>
                  <a:srgbClr val="EAF0FA"/>
                </a:solidFill>
                <a:latin typeface="Courier New" pitchFamily="34" charset="0"/>
                <a:ea typeface="Courier New" pitchFamily="34" charset="-122"/>
                <a:cs typeface="Courier New" pitchFamily="34" charset="-120"/>
              </a:rPr>
              <a:t>nltk.download("punkt")</a:t>
            </a:r>
            <a:endParaRPr lang="en-US" sz="1200" dirty="0"/>
          </a:p>
          <a:p>
            <a:pPr indent="0" marL="0">
              <a:lnSpc>
                <a:spcPct val="106000"/>
              </a:lnSpc>
              <a:buNone/>
            </a:pPr>
            <a:r>
              <a:rPr lang="en-US" sz="1200" dirty="0">
                <a:solidFill>
                  <a:srgbClr val="EAF0FA"/>
                </a:solidFill>
                <a:latin typeface="Courier New" pitchFamily="34" charset="0"/>
                <a:ea typeface="Courier New" pitchFamily="34" charset="-122"/>
                <a:cs typeface="Courier New" pitchFamily="34" charset="-120"/>
              </a:rPr>
              <a:t>from nltk.tokenize import word_tokenize</a:t>
            </a:r>
            <a:endParaRPr lang="en-US" sz="1200" dirty="0"/>
          </a:p>
          <a:p>
            <a:pPr indent="0" marL="0">
              <a:lnSpc>
                <a:spcPct val="106000"/>
              </a:lnSpc>
              <a:buNone/>
            </a:pPr>
            <a:r>
              <a:rPr lang="en-US" sz="1200" dirty="0">
                <a:solidFill>
                  <a:srgbClr val="EAF0FA"/>
                </a:solidFill>
                <a:latin typeface="Courier New" pitchFamily="34" charset="0"/>
                <a:ea typeface="Courier New" pitchFamily="34" charset="-122"/>
                <a:cs typeface="Courier New" pitchFamily="34" charset="-120"/>
              </a:rPr>
              <a:t> </a:t>
            </a:r>
            <a:endParaRPr lang="en-US" sz="1200" dirty="0"/>
          </a:p>
          <a:p>
            <a:pPr indent="0" marL="0">
              <a:lnSpc>
                <a:spcPct val="106000"/>
              </a:lnSpc>
              <a:buNone/>
            </a:pPr>
            <a:r>
              <a:rPr lang="en-US" sz="1200" dirty="0">
                <a:solidFill>
                  <a:srgbClr val="EAF0FA"/>
                </a:solidFill>
                <a:latin typeface="Courier New" pitchFamily="34" charset="0"/>
                <a:ea typeface="Courier New" pitchFamily="34" charset="-122"/>
                <a:cs typeface="Courier New" pitchFamily="34" charset="-120"/>
              </a:rPr>
              <a:t>s = "I love natural language processing."</a:t>
            </a:r>
            <a:endParaRPr lang="en-US" sz="1200" dirty="0"/>
          </a:p>
          <a:p>
            <a:pPr indent="0" marL="0">
              <a:lnSpc>
                <a:spcPct val="106000"/>
              </a:lnSpc>
              <a:buNone/>
            </a:pPr>
            <a:r>
              <a:rPr lang="en-US" sz="1200" dirty="0">
                <a:solidFill>
                  <a:srgbClr val="EAF0FA"/>
                </a:solidFill>
                <a:latin typeface="Courier New" pitchFamily="34" charset="0"/>
                <a:ea typeface="Courier New" pitchFamily="34" charset="-122"/>
                <a:cs typeface="Courier New" pitchFamily="34" charset="-120"/>
              </a:rPr>
              <a:t>word_tokenize(s)</a:t>
            </a:r>
            <a:endParaRPr lang="en-US" sz="1200" dirty="0"/>
          </a:p>
          <a:p>
            <a:pPr indent="0" marL="0">
              <a:lnSpc>
                <a:spcPct val="106000"/>
              </a:lnSpc>
              <a:buNone/>
            </a:pPr>
            <a:r>
              <a:rPr lang="en-US" sz="1200" dirty="0">
                <a:solidFill>
                  <a:srgbClr val="7FE3D8"/>
                </a:solidFill>
                <a:latin typeface="Courier New" pitchFamily="34" charset="0"/>
                <a:ea typeface="Courier New" pitchFamily="34" charset="-122"/>
                <a:cs typeface="Courier New" pitchFamily="34" charset="-120"/>
              </a:rPr>
              <a:t># ['I', 'love', 'natural', 'language',</a:t>
            </a:r>
            <a:endParaRPr lang="en-US" sz="1200" dirty="0"/>
          </a:p>
          <a:p>
            <a:pPr indent="0" marL="0">
              <a:lnSpc>
                <a:spcPct val="106000"/>
              </a:lnSpc>
              <a:buNone/>
            </a:pPr>
            <a:r>
              <a:rPr lang="en-US" sz="1200" dirty="0">
                <a:solidFill>
                  <a:srgbClr val="7FE3D8"/>
                </a:solidFill>
                <a:latin typeface="Courier New" pitchFamily="34" charset="0"/>
                <a:ea typeface="Courier New" pitchFamily="34" charset="-122"/>
                <a:cs typeface="Courier New" pitchFamily="34" charset="-120"/>
              </a:rPr>
              <a:t>#  'processing', '.']</a:t>
            </a:r>
            <a:endParaRPr lang="en-US" sz="1200" dirty="0"/>
          </a:p>
        </p:txBody>
      </p:sp>
      <p:sp>
        <p:nvSpPr>
          <p:cNvPr id="10" name="Shape 6"/>
          <p:cNvSpPr/>
          <p:nvPr/>
        </p:nvSpPr>
        <p:spPr>
          <a:xfrm>
            <a:off x="6355080" y="3657600"/>
            <a:ext cx="5285232" cy="2468880"/>
          </a:xfrm>
          <a:prstGeom prst="roundRect">
            <a:avLst>
              <a:gd name="adj" fmla="val 3704"/>
            </a:avLst>
          </a:prstGeom>
          <a:solidFill>
            <a:srgbClr val="0B1437"/>
          </a:solidFill>
          <a:ln w="12700">
            <a:solidFill>
              <a:srgbClr val="16204A"/>
            </a:solidFill>
            <a:prstDash val="solid"/>
          </a:ln>
        </p:spPr>
      </p:sp>
      <p:sp>
        <p:nvSpPr>
          <p:cNvPr id="11" name="Text 7"/>
          <p:cNvSpPr/>
          <p:nvPr/>
        </p:nvSpPr>
        <p:spPr>
          <a:xfrm>
            <a:off x="6592824" y="3785616"/>
            <a:ext cx="4828032" cy="237744"/>
          </a:xfrm>
          <a:prstGeom prst="rect">
            <a:avLst/>
          </a:prstGeom>
          <a:noFill/>
          <a:ln/>
        </p:spPr>
        <p:txBody>
          <a:bodyPr wrap="square" lIns="0" tIns="0" rIns="0" bIns="0" rtlCol="0" anchor="ctr"/>
          <a:lstStyle/>
          <a:p>
            <a:pPr indent="0" marL="0">
              <a:buNone/>
            </a:pPr>
            <a:r>
              <a:rPr lang="en-US" sz="1100" b="1" spc="100" kern="0" dirty="0">
                <a:solidFill>
                  <a:srgbClr val="2EC4B6"/>
                </a:solidFill>
                <a:latin typeface="Calibri" pitchFamily="34" charset="0"/>
                <a:ea typeface="Calibri" pitchFamily="34" charset="-122"/>
                <a:cs typeface="Calibri" pitchFamily="34" charset="-120"/>
              </a:rPr>
              <a:t>SPACY</a:t>
            </a:r>
            <a:endParaRPr lang="en-US" sz="1100" dirty="0"/>
          </a:p>
        </p:txBody>
      </p:sp>
      <p:sp>
        <p:nvSpPr>
          <p:cNvPr id="12" name="Text 8"/>
          <p:cNvSpPr/>
          <p:nvPr/>
        </p:nvSpPr>
        <p:spPr>
          <a:xfrm>
            <a:off x="6592824" y="4059936"/>
            <a:ext cx="4828032" cy="1920240"/>
          </a:xfrm>
          <a:prstGeom prst="rect">
            <a:avLst/>
          </a:prstGeom>
          <a:noFill/>
          <a:ln/>
        </p:spPr>
        <p:txBody>
          <a:bodyPr wrap="square" lIns="0" tIns="0" rIns="0" bIns="0" rtlCol="0" anchor="t"/>
          <a:lstStyle/>
          <a:p>
            <a:pPr indent="0" marL="0">
              <a:lnSpc>
                <a:spcPct val="106000"/>
              </a:lnSpc>
              <a:buNone/>
            </a:pPr>
            <a:r>
              <a:rPr lang="en-US" sz="1200" dirty="0">
                <a:solidFill>
                  <a:srgbClr val="EAF0FA"/>
                </a:solidFill>
                <a:latin typeface="Courier New" pitchFamily="34" charset="0"/>
                <a:ea typeface="Courier New" pitchFamily="34" charset="-122"/>
                <a:cs typeface="Courier New" pitchFamily="34" charset="-120"/>
              </a:rPr>
              <a:t>import spacy</a:t>
            </a:r>
            <a:endParaRPr lang="en-US" sz="1200" dirty="0"/>
          </a:p>
          <a:p>
            <a:pPr indent="0" marL="0">
              <a:lnSpc>
                <a:spcPct val="106000"/>
              </a:lnSpc>
              <a:buNone/>
            </a:pPr>
            <a:r>
              <a:rPr lang="en-US" sz="1200" dirty="0">
                <a:solidFill>
                  <a:srgbClr val="EAF0FA"/>
                </a:solidFill>
                <a:latin typeface="Courier New" pitchFamily="34" charset="0"/>
                <a:ea typeface="Courier New" pitchFamily="34" charset="-122"/>
                <a:cs typeface="Courier New" pitchFamily="34" charset="-120"/>
              </a:rPr>
              <a:t>nlp = spacy.load("en_core_web_sm")</a:t>
            </a:r>
            <a:endParaRPr lang="en-US" sz="1200" dirty="0"/>
          </a:p>
          <a:p>
            <a:pPr indent="0" marL="0">
              <a:lnSpc>
                <a:spcPct val="106000"/>
              </a:lnSpc>
              <a:buNone/>
            </a:pPr>
            <a:r>
              <a:rPr lang="en-US" sz="1200" dirty="0">
                <a:solidFill>
                  <a:srgbClr val="EAF0FA"/>
                </a:solidFill>
                <a:latin typeface="Courier New" pitchFamily="34" charset="0"/>
                <a:ea typeface="Courier New" pitchFamily="34" charset="-122"/>
                <a:cs typeface="Courier New" pitchFamily="34" charset="-120"/>
              </a:rPr>
              <a:t> </a:t>
            </a:r>
            <a:endParaRPr lang="en-US" sz="1200" dirty="0"/>
          </a:p>
          <a:p>
            <a:pPr indent="0" marL="0">
              <a:lnSpc>
                <a:spcPct val="106000"/>
              </a:lnSpc>
              <a:buNone/>
            </a:pPr>
            <a:r>
              <a:rPr lang="en-US" sz="1200" dirty="0">
                <a:solidFill>
                  <a:srgbClr val="EAF0FA"/>
                </a:solidFill>
                <a:latin typeface="Courier New" pitchFamily="34" charset="0"/>
                <a:ea typeface="Courier New" pitchFamily="34" charset="-122"/>
                <a:cs typeface="Courier New" pitchFamily="34" charset="-120"/>
              </a:rPr>
              <a:t>s = "I love natural language processing."</a:t>
            </a:r>
            <a:endParaRPr lang="en-US" sz="1200" dirty="0"/>
          </a:p>
          <a:p>
            <a:pPr indent="0" marL="0">
              <a:lnSpc>
                <a:spcPct val="106000"/>
              </a:lnSpc>
              <a:buNone/>
            </a:pPr>
            <a:r>
              <a:rPr lang="en-US" sz="1200" dirty="0">
                <a:solidFill>
                  <a:srgbClr val="EAF0FA"/>
                </a:solidFill>
                <a:latin typeface="Courier New" pitchFamily="34" charset="0"/>
                <a:ea typeface="Courier New" pitchFamily="34" charset="-122"/>
                <a:cs typeface="Courier New" pitchFamily="34" charset="-120"/>
              </a:rPr>
              <a:t>doc = nlp(s)</a:t>
            </a:r>
            <a:endParaRPr lang="en-US" sz="1200" dirty="0"/>
          </a:p>
          <a:p>
            <a:pPr indent="0" marL="0">
              <a:lnSpc>
                <a:spcPct val="106000"/>
              </a:lnSpc>
              <a:buNone/>
            </a:pPr>
            <a:r>
              <a:rPr lang="en-US" sz="1200" dirty="0">
                <a:solidFill>
                  <a:srgbClr val="EAF0FA"/>
                </a:solidFill>
                <a:latin typeface="Courier New" pitchFamily="34" charset="0"/>
                <a:ea typeface="Courier New" pitchFamily="34" charset="-122"/>
                <a:cs typeface="Courier New" pitchFamily="34" charset="-120"/>
              </a:rPr>
              <a:t>[t.text for t in doc]</a:t>
            </a:r>
            <a:endParaRPr lang="en-US" sz="1200" dirty="0"/>
          </a:p>
          <a:p>
            <a:pPr indent="0" marL="0">
              <a:lnSpc>
                <a:spcPct val="106000"/>
              </a:lnSpc>
              <a:buNone/>
            </a:pPr>
            <a:r>
              <a:rPr lang="en-US" sz="1200" dirty="0">
                <a:solidFill>
                  <a:srgbClr val="7FE3D8"/>
                </a:solidFill>
                <a:latin typeface="Courier New" pitchFamily="34" charset="0"/>
                <a:ea typeface="Courier New" pitchFamily="34" charset="-122"/>
                <a:cs typeface="Courier New" pitchFamily="34" charset="-120"/>
              </a:rPr>
              <a:t># ['I', 'love', 'natural', 'language',</a:t>
            </a:r>
            <a:endParaRPr lang="en-US" sz="1200" dirty="0"/>
          </a:p>
          <a:p>
            <a:pPr indent="0" marL="0">
              <a:lnSpc>
                <a:spcPct val="106000"/>
              </a:lnSpc>
              <a:buNone/>
            </a:pPr>
            <a:r>
              <a:rPr lang="en-US" sz="1200" dirty="0">
                <a:solidFill>
                  <a:srgbClr val="7FE3D8"/>
                </a:solidFill>
                <a:latin typeface="Courier New" pitchFamily="34" charset="0"/>
                <a:ea typeface="Courier New" pitchFamily="34" charset="-122"/>
                <a:cs typeface="Courier New" pitchFamily="34" charset="-120"/>
              </a:rPr>
              <a:t>#  'processing', '.']</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74320"/>
          </a:xfrm>
          <a:prstGeom prst="rect">
            <a:avLst/>
          </a:prstGeom>
          <a:noFill/>
          <a:ln/>
        </p:spPr>
        <p:txBody>
          <a:bodyPr wrap="square" lIns="0" tIns="0" rIns="0" bIns="0" rtlCol="0" anchor="ctr"/>
          <a:lstStyle/>
          <a:p>
            <a:pPr algn="l" indent="0" marL="0">
              <a:buNone/>
            </a:pPr>
            <a:r>
              <a:rPr lang="en-US" sz="1200" b="1" spc="200" kern="0" dirty="0">
                <a:solidFill>
                  <a:srgbClr val="13887E"/>
                </a:solidFill>
                <a:latin typeface="Calibri" pitchFamily="34" charset="0"/>
                <a:ea typeface="Calibri" pitchFamily="34" charset="-122"/>
                <a:cs typeface="Calibri" pitchFamily="34" charset="-120"/>
              </a:rPr>
              <a:t>EVOLUTION</a:t>
            </a:r>
            <a:endParaRPr lang="en-US" sz="1200" dirty="0"/>
          </a:p>
        </p:txBody>
      </p:sp>
      <p:sp>
        <p:nvSpPr>
          <p:cNvPr id="3" name="Text 1"/>
          <p:cNvSpPr/>
          <p:nvPr/>
        </p:nvSpPr>
        <p:spPr>
          <a:xfrm>
            <a:off x="566928" y="621792"/>
            <a:ext cx="10143439" cy="777240"/>
          </a:xfrm>
          <a:prstGeom prst="rect">
            <a:avLst/>
          </a:prstGeom>
          <a:noFill/>
          <a:ln/>
        </p:spPr>
        <p:txBody>
          <a:bodyPr wrap="square" lIns="0" tIns="0" rIns="0" bIns="0" rtlCol="0" anchor="t"/>
          <a:lstStyle/>
          <a:p>
            <a:pPr indent="0" marL="0">
              <a:buNone/>
            </a:pPr>
            <a:r>
              <a:rPr lang="en-US" sz="3600" b="1" dirty="0">
                <a:solidFill>
                  <a:srgbClr val="0B1437"/>
                </a:solidFill>
                <a:latin typeface="Cambria" pitchFamily="34" charset="0"/>
                <a:ea typeface="Cambria" pitchFamily="34" charset="-122"/>
                <a:cs typeface="Cambria" pitchFamily="34" charset="-120"/>
              </a:rPr>
              <a:t>From Rules to Machine Learning</a:t>
            </a:r>
            <a:endParaRPr lang="en-US" sz="3600" dirty="0"/>
          </a:p>
        </p:txBody>
      </p:sp>
      <p:sp>
        <p:nvSpPr>
          <p:cNvPr id="4" name="Text 2"/>
          <p:cNvSpPr/>
          <p:nvPr/>
        </p:nvSpPr>
        <p:spPr>
          <a:xfrm>
            <a:off x="10801807" y="310896"/>
            <a:ext cx="822960" cy="365760"/>
          </a:xfrm>
          <a:prstGeom prst="rect">
            <a:avLst/>
          </a:prstGeom>
          <a:noFill/>
          <a:ln/>
        </p:spPr>
        <p:txBody>
          <a:bodyPr wrap="square" lIns="0" tIns="0" rIns="0" bIns="0" rtlCol="0" anchor="ctr"/>
          <a:lstStyle/>
          <a:p>
            <a:pPr algn="r" indent="0" marL="0">
              <a:buNone/>
            </a:pPr>
            <a:r>
              <a:rPr lang="en-US" sz="1300" dirty="0">
                <a:solidFill>
                  <a:srgbClr val="A9B3C6"/>
                </a:solidFill>
                <a:latin typeface="Calibri" pitchFamily="34" charset="0"/>
                <a:ea typeface="Calibri" pitchFamily="34" charset="-122"/>
                <a:cs typeface="Calibri" pitchFamily="34" charset="-120"/>
              </a:rPr>
              <a:t>11</a:t>
            </a:r>
            <a:endParaRPr lang="en-US" sz="1300" dirty="0"/>
          </a:p>
        </p:txBody>
      </p:sp>
      <p:pic>
        <p:nvPicPr>
          <p:cNvPr id="6" name="Image 0" descr="assets/timeline.png">    </p:cNvPr>
          <p:cNvPicPr>
            <a:picLocks noChangeAspect="1"/>
          </p:cNvPicPr>
          <p:nvPr/>
        </p:nvPicPr>
        <p:blipFill>
          <a:blip r:embed="rId1"/>
          <a:stretch>
            <a:fillRect/>
          </a:stretch>
        </p:blipFill>
        <p:spPr>
          <a:xfrm>
            <a:off x="640080" y="1657350"/>
            <a:ext cx="10881360" cy="2720340"/>
          </a:xfrm>
          <a:prstGeom prst="rect">
            <a:avLst/>
          </a:prstGeom>
        </p:spPr>
      </p:pic>
      <p:sp>
        <p:nvSpPr>
          <p:cNvPr id="7" name="Shape 3"/>
          <p:cNvSpPr/>
          <p:nvPr/>
        </p:nvSpPr>
        <p:spPr>
          <a:xfrm>
            <a:off x="566928" y="4572000"/>
            <a:ext cx="3520440" cy="1371600"/>
          </a:xfrm>
          <a:prstGeom prst="roundRect">
            <a:avLst>
              <a:gd name="adj" fmla="val 8000"/>
            </a:avLst>
          </a:prstGeom>
          <a:solidFill>
            <a:srgbClr val="F2F5FA"/>
          </a:solidFill>
          <a:ln w="12700">
            <a:solidFill>
              <a:srgbClr val="DCE3ED"/>
            </a:solidFill>
            <a:prstDash val="solid"/>
          </a:ln>
        </p:spPr>
      </p:sp>
      <p:sp>
        <p:nvSpPr>
          <p:cNvPr id="8" name="Text 4"/>
          <p:cNvSpPr/>
          <p:nvPr/>
        </p:nvSpPr>
        <p:spPr>
          <a:xfrm>
            <a:off x="877824" y="4846320"/>
            <a:ext cx="2916936" cy="384048"/>
          </a:xfrm>
          <a:prstGeom prst="rect">
            <a:avLst/>
          </a:prstGeom>
          <a:noFill/>
          <a:ln/>
        </p:spPr>
        <p:txBody>
          <a:bodyPr wrap="square" lIns="0" tIns="0" rIns="0" bIns="0" rtlCol="0" anchor="ctr"/>
          <a:lstStyle/>
          <a:p>
            <a:pPr indent="0" marL="0">
              <a:buNone/>
            </a:pPr>
            <a:r>
              <a:rPr lang="en-US" sz="1450" b="1" dirty="0">
                <a:solidFill>
                  <a:srgbClr val="0B1437"/>
                </a:solidFill>
                <a:latin typeface="Calibri" pitchFamily="34" charset="0"/>
                <a:ea typeface="Calibri" pitchFamily="34" charset="-122"/>
                <a:cs typeface="Calibri" pitchFamily="34" charset="-120"/>
              </a:rPr>
              <a:t>Early NLP: hand-written grammar rules</a:t>
            </a:r>
            <a:endParaRPr lang="en-US" sz="1450" dirty="0"/>
          </a:p>
        </p:txBody>
      </p:sp>
      <p:sp>
        <p:nvSpPr>
          <p:cNvPr id="9" name="Text 5"/>
          <p:cNvSpPr/>
          <p:nvPr/>
        </p:nvSpPr>
        <p:spPr>
          <a:xfrm>
            <a:off x="877824" y="5266944"/>
            <a:ext cx="2916936" cy="457200"/>
          </a:xfrm>
          <a:prstGeom prst="rect">
            <a:avLst/>
          </a:prstGeom>
          <a:noFill/>
          <a:ln/>
        </p:spPr>
        <p:txBody>
          <a:bodyPr wrap="square" lIns="0" tIns="0" rIns="0" bIns="0" rtlCol="0" anchor="t"/>
          <a:lstStyle/>
          <a:p>
            <a:pPr indent="0" marL="0">
              <a:lnSpc>
                <a:spcPct val="112000"/>
              </a:lnSpc>
              <a:buNone/>
            </a:pPr>
            <a:r>
              <a:rPr lang="en-US" sz="1250" dirty="0">
                <a:solidFill>
                  <a:srgbClr val="5C6784"/>
                </a:solidFill>
                <a:latin typeface="Calibri" pitchFamily="34" charset="0"/>
                <a:ea typeface="Calibri" pitchFamily="34" charset="-122"/>
                <a:cs typeface="Calibri" pitchFamily="34" charset="-120"/>
              </a:rPr>
              <a:t>Precise, but brittle and impossible to scale</a:t>
            </a:r>
            <a:endParaRPr lang="en-US" sz="1250" dirty="0"/>
          </a:p>
        </p:txBody>
      </p:sp>
      <p:sp>
        <p:nvSpPr>
          <p:cNvPr id="10" name="Shape 6"/>
          <p:cNvSpPr/>
          <p:nvPr/>
        </p:nvSpPr>
        <p:spPr>
          <a:xfrm>
            <a:off x="4297680" y="4572000"/>
            <a:ext cx="3520440" cy="1371600"/>
          </a:xfrm>
          <a:prstGeom prst="roundRect">
            <a:avLst>
              <a:gd name="adj" fmla="val 8000"/>
            </a:avLst>
          </a:prstGeom>
          <a:solidFill>
            <a:srgbClr val="F2F5FA"/>
          </a:solidFill>
          <a:ln w="12700">
            <a:solidFill>
              <a:srgbClr val="DCE3ED"/>
            </a:solidFill>
            <a:prstDash val="solid"/>
          </a:ln>
        </p:spPr>
      </p:sp>
      <p:sp>
        <p:nvSpPr>
          <p:cNvPr id="11" name="Text 7"/>
          <p:cNvSpPr/>
          <p:nvPr/>
        </p:nvSpPr>
        <p:spPr>
          <a:xfrm>
            <a:off x="4608576" y="4846320"/>
            <a:ext cx="2916936" cy="384048"/>
          </a:xfrm>
          <a:prstGeom prst="rect">
            <a:avLst/>
          </a:prstGeom>
          <a:noFill/>
          <a:ln/>
        </p:spPr>
        <p:txBody>
          <a:bodyPr wrap="square" lIns="0" tIns="0" rIns="0" bIns="0" rtlCol="0" anchor="ctr"/>
          <a:lstStyle/>
          <a:p>
            <a:pPr indent="0" marL="0">
              <a:buNone/>
            </a:pPr>
            <a:r>
              <a:rPr lang="en-US" sz="1450" b="1" dirty="0">
                <a:solidFill>
                  <a:srgbClr val="0B1437"/>
                </a:solidFill>
                <a:latin typeface="Calibri" pitchFamily="34" charset="0"/>
                <a:ea typeface="Calibri" pitchFamily="34" charset="-122"/>
                <a:cs typeface="Calibri" pitchFamily="34" charset="-120"/>
              </a:rPr>
              <a:t>Modern NLP: statistical models + machine learning</a:t>
            </a:r>
            <a:endParaRPr lang="en-US" sz="1450" dirty="0"/>
          </a:p>
        </p:txBody>
      </p:sp>
      <p:sp>
        <p:nvSpPr>
          <p:cNvPr id="12" name="Text 8"/>
          <p:cNvSpPr/>
          <p:nvPr/>
        </p:nvSpPr>
        <p:spPr>
          <a:xfrm>
            <a:off x="4608576" y="5266944"/>
            <a:ext cx="2916936" cy="457200"/>
          </a:xfrm>
          <a:prstGeom prst="rect">
            <a:avLst/>
          </a:prstGeom>
          <a:noFill/>
          <a:ln/>
        </p:spPr>
        <p:txBody>
          <a:bodyPr wrap="square" lIns="0" tIns="0" rIns="0" bIns="0" rtlCol="0" anchor="t"/>
          <a:lstStyle/>
          <a:p>
            <a:pPr indent="0" marL="0">
              <a:lnSpc>
                <a:spcPct val="112000"/>
              </a:lnSpc>
              <a:buNone/>
            </a:pPr>
            <a:r>
              <a:rPr lang="en-US" sz="1250" dirty="0">
                <a:solidFill>
                  <a:srgbClr val="5C6784"/>
                </a:solidFill>
                <a:latin typeface="Calibri" pitchFamily="34" charset="0"/>
                <a:ea typeface="Calibri" pitchFamily="34" charset="-122"/>
                <a:cs typeface="Calibri" pitchFamily="34" charset="-120"/>
              </a:rPr>
              <a:t>Learn probabilities from large corpora</a:t>
            </a:r>
            <a:endParaRPr lang="en-US" sz="1250" dirty="0"/>
          </a:p>
        </p:txBody>
      </p:sp>
      <p:sp>
        <p:nvSpPr>
          <p:cNvPr id="13" name="Shape 9"/>
          <p:cNvSpPr/>
          <p:nvPr/>
        </p:nvSpPr>
        <p:spPr>
          <a:xfrm>
            <a:off x="8028432" y="4572000"/>
            <a:ext cx="3520440" cy="1371600"/>
          </a:xfrm>
          <a:prstGeom prst="roundRect">
            <a:avLst>
              <a:gd name="adj" fmla="val 8000"/>
            </a:avLst>
          </a:prstGeom>
          <a:solidFill>
            <a:srgbClr val="F2F5FA"/>
          </a:solidFill>
          <a:ln w="12700">
            <a:solidFill>
              <a:srgbClr val="DCE3ED"/>
            </a:solidFill>
            <a:prstDash val="solid"/>
          </a:ln>
        </p:spPr>
      </p:sp>
      <p:sp>
        <p:nvSpPr>
          <p:cNvPr id="14" name="Text 10"/>
          <p:cNvSpPr/>
          <p:nvPr/>
        </p:nvSpPr>
        <p:spPr>
          <a:xfrm>
            <a:off x="8339328" y="4846320"/>
            <a:ext cx="2916936" cy="384048"/>
          </a:xfrm>
          <a:prstGeom prst="rect">
            <a:avLst/>
          </a:prstGeom>
          <a:noFill/>
          <a:ln/>
        </p:spPr>
        <p:txBody>
          <a:bodyPr wrap="square" lIns="0" tIns="0" rIns="0" bIns="0" rtlCol="0" anchor="ctr"/>
          <a:lstStyle/>
          <a:p>
            <a:pPr indent="0" marL="0">
              <a:buNone/>
            </a:pPr>
            <a:r>
              <a:rPr lang="en-US" sz="1450" b="1" dirty="0">
                <a:solidFill>
                  <a:srgbClr val="0B1437"/>
                </a:solidFill>
                <a:latin typeface="Calibri" pitchFamily="34" charset="0"/>
                <a:ea typeface="Calibri" pitchFamily="34" charset="-122"/>
                <a:cs typeface="Calibri" pitchFamily="34" charset="-120"/>
              </a:rPr>
              <a:t>Deep learning revolution</a:t>
            </a:r>
            <a:endParaRPr lang="en-US" sz="1450" dirty="0"/>
          </a:p>
        </p:txBody>
      </p:sp>
      <p:sp>
        <p:nvSpPr>
          <p:cNvPr id="15" name="Text 11"/>
          <p:cNvSpPr/>
          <p:nvPr/>
        </p:nvSpPr>
        <p:spPr>
          <a:xfrm>
            <a:off x="8339328" y="5266944"/>
            <a:ext cx="2916936" cy="457200"/>
          </a:xfrm>
          <a:prstGeom prst="rect">
            <a:avLst/>
          </a:prstGeom>
          <a:noFill/>
          <a:ln/>
        </p:spPr>
        <p:txBody>
          <a:bodyPr wrap="square" lIns="0" tIns="0" rIns="0" bIns="0" rtlCol="0" anchor="t"/>
          <a:lstStyle/>
          <a:p>
            <a:pPr indent="0" marL="0">
              <a:lnSpc>
                <a:spcPct val="112000"/>
              </a:lnSpc>
              <a:buNone/>
            </a:pPr>
            <a:r>
              <a:rPr lang="en-US" sz="1250" dirty="0">
                <a:solidFill>
                  <a:srgbClr val="5C6784"/>
                </a:solidFill>
                <a:latin typeface="Calibri" pitchFamily="34" charset="0"/>
                <a:ea typeface="Calibri" pitchFamily="34" charset="-122"/>
                <a:cs typeface="Calibri" pitchFamily="34" charset="-120"/>
              </a:rPr>
              <a:t>Patterns learned directly from raw text</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74320"/>
          </a:xfrm>
          <a:prstGeom prst="rect">
            <a:avLst/>
          </a:prstGeom>
          <a:noFill/>
          <a:ln/>
        </p:spPr>
        <p:txBody>
          <a:bodyPr wrap="square" lIns="0" tIns="0" rIns="0" bIns="0" rtlCol="0" anchor="ctr"/>
          <a:lstStyle/>
          <a:p>
            <a:pPr algn="l" indent="0" marL="0">
              <a:buNone/>
            </a:pPr>
            <a:r>
              <a:rPr lang="en-US" sz="1200" b="1" spc="200" kern="0" dirty="0">
                <a:solidFill>
                  <a:srgbClr val="13887E"/>
                </a:solidFill>
                <a:latin typeface="Calibri" pitchFamily="34" charset="0"/>
                <a:ea typeface="Calibri" pitchFamily="34" charset="-122"/>
                <a:cs typeface="Calibri" pitchFamily="34" charset="-120"/>
              </a:rPr>
              <a:t>REPRESENTATION</a:t>
            </a:r>
            <a:endParaRPr lang="en-US" sz="1200" dirty="0"/>
          </a:p>
        </p:txBody>
      </p:sp>
      <p:sp>
        <p:nvSpPr>
          <p:cNvPr id="3" name="Text 1"/>
          <p:cNvSpPr/>
          <p:nvPr/>
        </p:nvSpPr>
        <p:spPr>
          <a:xfrm>
            <a:off x="566928" y="621792"/>
            <a:ext cx="10143439" cy="777240"/>
          </a:xfrm>
          <a:prstGeom prst="rect">
            <a:avLst/>
          </a:prstGeom>
          <a:noFill/>
          <a:ln/>
        </p:spPr>
        <p:txBody>
          <a:bodyPr wrap="square" lIns="0" tIns="0" rIns="0" bIns="0" rtlCol="0" anchor="t"/>
          <a:lstStyle/>
          <a:p>
            <a:pPr indent="0" marL="0">
              <a:buNone/>
            </a:pPr>
            <a:r>
              <a:rPr lang="en-US" sz="3600" b="1" dirty="0">
                <a:solidFill>
                  <a:srgbClr val="0B1437"/>
                </a:solidFill>
                <a:latin typeface="Cambria" pitchFamily="34" charset="0"/>
                <a:ea typeface="Cambria" pitchFamily="34" charset="-122"/>
                <a:cs typeface="Cambria" pitchFamily="34" charset="-120"/>
              </a:rPr>
              <a:t>Word Embeddings</a:t>
            </a:r>
            <a:endParaRPr lang="en-US" sz="3600" dirty="0"/>
          </a:p>
        </p:txBody>
      </p:sp>
      <p:sp>
        <p:nvSpPr>
          <p:cNvPr id="4" name="Text 2"/>
          <p:cNvSpPr/>
          <p:nvPr/>
        </p:nvSpPr>
        <p:spPr>
          <a:xfrm>
            <a:off x="10801807" y="310896"/>
            <a:ext cx="822960" cy="365760"/>
          </a:xfrm>
          <a:prstGeom prst="rect">
            <a:avLst/>
          </a:prstGeom>
          <a:noFill/>
          <a:ln/>
        </p:spPr>
        <p:txBody>
          <a:bodyPr wrap="square" lIns="0" tIns="0" rIns="0" bIns="0" rtlCol="0" anchor="ctr"/>
          <a:lstStyle/>
          <a:p>
            <a:pPr algn="r" indent="0" marL="0">
              <a:buNone/>
            </a:pPr>
            <a:r>
              <a:rPr lang="en-US" sz="1300" dirty="0">
                <a:solidFill>
                  <a:srgbClr val="A9B3C6"/>
                </a:solidFill>
                <a:latin typeface="Calibri" pitchFamily="34" charset="0"/>
                <a:ea typeface="Calibri" pitchFamily="34" charset="-122"/>
                <a:cs typeface="Calibri" pitchFamily="34" charset="-120"/>
              </a:rPr>
              <a:t>12</a:t>
            </a:r>
            <a:endParaRPr lang="en-US" sz="1300" dirty="0"/>
          </a:p>
        </p:txBody>
      </p:sp>
      <p:pic>
        <p:nvPicPr>
          <p:cNvPr id="6" name="Image 0" descr="assets/embeddings.png">    </p:cNvPr>
          <p:cNvPicPr>
            <a:picLocks noChangeAspect="1"/>
          </p:cNvPicPr>
          <p:nvPr/>
        </p:nvPicPr>
        <p:blipFill>
          <a:blip r:embed="rId1"/>
          <a:stretch>
            <a:fillRect/>
          </a:stretch>
        </p:blipFill>
        <p:spPr>
          <a:xfrm>
            <a:off x="7187184" y="1600200"/>
            <a:ext cx="4279392" cy="3291840"/>
          </a:xfrm>
          <a:prstGeom prst="rect">
            <a:avLst/>
          </a:prstGeom>
        </p:spPr>
      </p:pic>
      <p:sp>
        <p:nvSpPr>
          <p:cNvPr id="7" name="Text 3"/>
          <p:cNvSpPr/>
          <p:nvPr/>
        </p:nvSpPr>
        <p:spPr>
          <a:xfrm>
            <a:off x="566928" y="1783080"/>
            <a:ext cx="5943600" cy="1737360"/>
          </a:xfrm>
          <a:prstGeom prst="rect">
            <a:avLst/>
          </a:prstGeom>
          <a:noFill/>
          <a:ln/>
        </p:spPr>
        <p:txBody>
          <a:bodyPr wrap="square" lIns="0" tIns="0" rIns="0" bIns="0" rtlCol="0" anchor="t"/>
          <a:lstStyle/>
          <a:p>
            <a:pPr marL="342900" indent="-342900">
              <a:spcAft>
                <a:spcPts val="1200"/>
              </a:spcAft>
              <a:buSzPct val="100000"/>
              <a:buChar char="●"/>
            </a:pPr>
            <a:r>
              <a:rPr lang="en-US" sz="1650" dirty="0">
                <a:solidFill>
                  <a:srgbClr val="16204A"/>
                </a:solidFill>
                <a:latin typeface="Calibri" pitchFamily="34" charset="0"/>
                <a:ea typeface="Calibri" pitchFamily="34" charset="-122"/>
                <a:cs typeface="Calibri" pitchFamily="34" charset="-120"/>
              </a:rPr>
              <a:t>Word2Vec, GloVe, FastText</a:t>
            </a:r>
            <a:endParaRPr lang="en-US" sz="1650" dirty="0"/>
          </a:p>
          <a:p>
            <a:pPr marL="342900" indent="-342900">
              <a:spcAft>
                <a:spcPts val="1200"/>
              </a:spcAft>
              <a:buSzPct val="100000"/>
              <a:buChar char="●"/>
            </a:pPr>
            <a:r>
              <a:rPr lang="en-US" sz="1650" dirty="0">
                <a:solidFill>
                  <a:srgbClr val="16204A"/>
                </a:solidFill>
                <a:latin typeface="Calibri" pitchFamily="34" charset="0"/>
                <a:ea typeface="Calibri" pitchFamily="34" charset="-122"/>
                <a:cs typeface="Calibri" pitchFamily="34" charset="-120"/>
              </a:rPr>
              <a:t>Represent words as vectors</a:t>
            </a:r>
            <a:endParaRPr lang="en-US" sz="1650" dirty="0"/>
          </a:p>
          <a:p>
            <a:pPr marL="342900" indent="-342900">
              <a:spcAft>
                <a:spcPts val="1200"/>
              </a:spcAft>
              <a:buSzPct val="100000"/>
              <a:buChar char="●"/>
            </a:pPr>
            <a:r>
              <a:rPr lang="en-US" sz="1650" dirty="0">
                <a:solidFill>
                  <a:srgbClr val="16204A"/>
                </a:solidFill>
                <a:latin typeface="Calibri" pitchFamily="34" charset="0"/>
                <a:ea typeface="Calibri" pitchFamily="34" charset="-122"/>
                <a:cs typeface="Calibri" pitchFamily="34" charset="-120"/>
              </a:rPr>
              <a:t>Captures semantic meaning (“king – man + woman ≈ queen”)</a:t>
            </a:r>
            <a:endParaRPr lang="en-US" sz="1650" dirty="0"/>
          </a:p>
        </p:txBody>
      </p:sp>
      <p:sp>
        <p:nvSpPr>
          <p:cNvPr id="8" name="Shape 4"/>
          <p:cNvSpPr/>
          <p:nvPr/>
        </p:nvSpPr>
        <p:spPr>
          <a:xfrm>
            <a:off x="566928" y="3611880"/>
            <a:ext cx="6035040" cy="2514600"/>
          </a:xfrm>
          <a:prstGeom prst="roundRect">
            <a:avLst>
              <a:gd name="adj" fmla="val 3636"/>
            </a:avLst>
          </a:prstGeom>
          <a:solidFill>
            <a:srgbClr val="0B1437"/>
          </a:solidFill>
          <a:ln w="12700">
            <a:solidFill>
              <a:srgbClr val="16204A"/>
            </a:solidFill>
            <a:prstDash val="solid"/>
          </a:ln>
        </p:spPr>
      </p:sp>
      <p:sp>
        <p:nvSpPr>
          <p:cNvPr id="9" name="Text 5"/>
          <p:cNvSpPr/>
          <p:nvPr/>
        </p:nvSpPr>
        <p:spPr>
          <a:xfrm>
            <a:off x="804672" y="3739896"/>
            <a:ext cx="5577840" cy="237744"/>
          </a:xfrm>
          <a:prstGeom prst="rect">
            <a:avLst/>
          </a:prstGeom>
          <a:noFill/>
          <a:ln/>
        </p:spPr>
        <p:txBody>
          <a:bodyPr wrap="square" lIns="0" tIns="0" rIns="0" bIns="0" rtlCol="0" anchor="ctr"/>
          <a:lstStyle/>
          <a:p>
            <a:pPr indent="0" marL="0">
              <a:buNone/>
            </a:pPr>
            <a:r>
              <a:rPr lang="en-US" sz="1100" b="1" spc="100" kern="0" dirty="0">
                <a:solidFill>
                  <a:srgbClr val="2EC4B6"/>
                </a:solidFill>
                <a:latin typeface="Calibri" pitchFamily="34" charset="0"/>
                <a:ea typeface="Calibri" pitchFamily="34" charset="-122"/>
                <a:cs typeface="Calibri" pitchFamily="34" charset="-120"/>
              </a:rPr>
              <a:t>TRAIN YOUR OWN WITH GENSIM</a:t>
            </a:r>
            <a:endParaRPr lang="en-US" sz="1100" dirty="0"/>
          </a:p>
        </p:txBody>
      </p:sp>
      <p:sp>
        <p:nvSpPr>
          <p:cNvPr id="10" name="Text 6"/>
          <p:cNvSpPr/>
          <p:nvPr/>
        </p:nvSpPr>
        <p:spPr>
          <a:xfrm>
            <a:off x="804672" y="4014216"/>
            <a:ext cx="5577840" cy="1965960"/>
          </a:xfrm>
          <a:prstGeom prst="rect">
            <a:avLst/>
          </a:prstGeom>
          <a:noFill/>
          <a:ln/>
        </p:spPr>
        <p:txBody>
          <a:bodyPr wrap="square" lIns="0" tIns="0" rIns="0" bIns="0" rtlCol="0" anchor="t"/>
          <a:lstStyle/>
          <a:p>
            <a:pPr indent="0" marL="0">
              <a:lnSpc>
                <a:spcPct val="106000"/>
              </a:lnSpc>
              <a:buNone/>
            </a:pPr>
            <a:r>
              <a:rPr lang="en-US" sz="1200" dirty="0">
                <a:solidFill>
                  <a:srgbClr val="EAF0FA"/>
                </a:solidFill>
                <a:latin typeface="Courier New" pitchFamily="34" charset="0"/>
                <a:ea typeface="Courier New" pitchFamily="34" charset="-122"/>
                <a:cs typeface="Courier New" pitchFamily="34" charset="-120"/>
              </a:rPr>
              <a:t>from gensim.models import Word2Vec</a:t>
            </a:r>
            <a:endParaRPr lang="en-US" sz="1200" dirty="0"/>
          </a:p>
          <a:p>
            <a:pPr indent="0" marL="0">
              <a:lnSpc>
                <a:spcPct val="106000"/>
              </a:lnSpc>
              <a:buNone/>
            </a:pPr>
            <a:r>
              <a:rPr lang="en-US" sz="1200" dirty="0">
                <a:solidFill>
                  <a:srgbClr val="EAF0FA"/>
                </a:solidFill>
                <a:latin typeface="Courier New" pitchFamily="34" charset="0"/>
                <a:ea typeface="Courier New" pitchFamily="34" charset="-122"/>
                <a:cs typeface="Courier New" pitchFamily="34" charset="-120"/>
              </a:rPr>
              <a:t> </a:t>
            </a:r>
            <a:endParaRPr lang="en-US" sz="1200" dirty="0"/>
          </a:p>
          <a:p>
            <a:pPr indent="0" marL="0">
              <a:lnSpc>
                <a:spcPct val="106000"/>
              </a:lnSpc>
              <a:buNone/>
            </a:pPr>
            <a:r>
              <a:rPr lang="en-US" sz="1200" dirty="0">
                <a:solidFill>
                  <a:srgbClr val="EAF0FA"/>
                </a:solidFill>
                <a:latin typeface="Courier New" pitchFamily="34" charset="0"/>
                <a:ea typeface="Courier New" pitchFamily="34" charset="-122"/>
                <a:cs typeface="Courier New" pitchFamily="34" charset="-120"/>
              </a:rPr>
              <a:t>model = Word2Vec(sentences, vector_size=100,</a:t>
            </a:r>
            <a:endParaRPr lang="en-US" sz="1200" dirty="0"/>
          </a:p>
          <a:p>
            <a:pPr indent="0" marL="0">
              <a:lnSpc>
                <a:spcPct val="106000"/>
              </a:lnSpc>
              <a:buNone/>
            </a:pPr>
            <a:r>
              <a:rPr lang="en-US" sz="1200" dirty="0">
                <a:solidFill>
                  <a:srgbClr val="EAF0FA"/>
                </a:solidFill>
                <a:latin typeface="Courier New" pitchFamily="34" charset="0"/>
                <a:ea typeface="Courier New" pitchFamily="34" charset="-122"/>
                <a:cs typeface="Courier New" pitchFamily="34" charset="-120"/>
              </a:rPr>
              <a:t>                 window=5, min_count=2)</a:t>
            </a:r>
            <a:endParaRPr lang="en-US" sz="1200" dirty="0"/>
          </a:p>
          <a:p>
            <a:pPr indent="0" marL="0">
              <a:lnSpc>
                <a:spcPct val="106000"/>
              </a:lnSpc>
              <a:buNone/>
            </a:pPr>
            <a:r>
              <a:rPr lang="en-US" sz="1200" dirty="0">
                <a:solidFill>
                  <a:srgbClr val="EAF0FA"/>
                </a:solidFill>
                <a:latin typeface="Courier New" pitchFamily="34" charset="0"/>
                <a:ea typeface="Courier New" pitchFamily="34" charset="-122"/>
                <a:cs typeface="Courier New" pitchFamily="34" charset="-120"/>
              </a:rPr>
              <a:t>model.wv.most_similar(</a:t>
            </a:r>
            <a:endParaRPr lang="en-US" sz="1200" dirty="0"/>
          </a:p>
          <a:p>
            <a:pPr indent="0" marL="0">
              <a:lnSpc>
                <a:spcPct val="106000"/>
              </a:lnSpc>
              <a:buNone/>
            </a:pPr>
            <a:r>
              <a:rPr lang="en-US" sz="1200" dirty="0">
                <a:solidFill>
                  <a:srgbClr val="EAF0FA"/>
                </a:solidFill>
                <a:latin typeface="Courier New" pitchFamily="34" charset="0"/>
                <a:ea typeface="Courier New" pitchFamily="34" charset="-122"/>
                <a:cs typeface="Courier New" pitchFamily="34" charset="-120"/>
              </a:rPr>
              <a:t>    positive=["king", "woman"],</a:t>
            </a:r>
            <a:endParaRPr lang="en-US" sz="1200" dirty="0"/>
          </a:p>
          <a:p>
            <a:pPr indent="0" marL="0">
              <a:lnSpc>
                <a:spcPct val="106000"/>
              </a:lnSpc>
              <a:buNone/>
            </a:pPr>
            <a:r>
              <a:rPr lang="en-US" sz="1200" dirty="0">
                <a:solidFill>
                  <a:srgbClr val="EAF0FA"/>
                </a:solidFill>
                <a:latin typeface="Courier New" pitchFamily="34" charset="0"/>
                <a:ea typeface="Courier New" pitchFamily="34" charset="-122"/>
                <a:cs typeface="Courier New" pitchFamily="34" charset="-120"/>
              </a:rPr>
              <a:t>    negative=["man"])   # -&gt; [('queen', 0.78), ...]</a:t>
            </a:r>
            <a:endParaRPr lang="en-US" sz="1200" dirty="0"/>
          </a:p>
        </p:txBody>
      </p:sp>
      <p:sp>
        <p:nvSpPr>
          <p:cNvPr id="11" name="Text 7"/>
          <p:cNvSpPr/>
          <p:nvPr/>
        </p:nvSpPr>
        <p:spPr>
          <a:xfrm>
            <a:off x="6949440" y="5074920"/>
            <a:ext cx="4754880" cy="365760"/>
          </a:xfrm>
          <a:prstGeom prst="rect">
            <a:avLst/>
          </a:prstGeom>
          <a:noFill/>
          <a:ln/>
        </p:spPr>
        <p:txBody>
          <a:bodyPr wrap="square" lIns="0" tIns="0" rIns="0" bIns="0" rtlCol="0" anchor="ctr"/>
          <a:lstStyle/>
          <a:p>
            <a:pPr algn="ctr" indent="0" marL="0">
              <a:buNone/>
            </a:pPr>
            <a:r>
              <a:rPr lang="en-US" sz="1350" i="1" dirty="0">
                <a:solidFill>
                  <a:srgbClr val="5C6784"/>
                </a:solidFill>
                <a:latin typeface="Calibri" pitchFamily="34" charset="0"/>
                <a:ea typeface="Calibri" pitchFamily="34" charset="-122"/>
                <a:cs typeface="Calibri" pitchFamily="34" charset="-120"/>
              </a:rPr>
              <a:t>Similar words end up close together in vector space.</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74320"/>
          </a:xfrm>
          <a:prstGeom prst="rect">
            <a:avLst/>
          </a:prstGeom>
          <a:noFill/>
          <a:ln/>
        </p:spPr>
        <p:txBody>
          <a:bodyPr wrap="square" lIns="0" tIns="0" rIns="0" bIns="0" rtlCol="0" anchor="ctr"/>
          <a:lstStyle/>
          <a:p>
            <a:pPr algn="l" indent="0" marL="0">
              <a:buNone/>
            </a:pPr>
            <a:r>
              <a:rPr lang="en-US" sz="1200" b="1" spc="200" kern="0" dirty="0">
                <a:solidFill>
                  <a:srgbClr val="13887E"/>
                </a:solidFill>
                <a:latin typeface="Calibri" pitchFamily="34" charset="0"/>
                <a:ea typeface="Calibri" pitchFamily="34" charset="-122"/>
                <a:cs typeface="Calibri" pitchFamily="34" charset="-120"/>
              </a:rPr>
              <a:t>STATE OF THE ART</a:t>
            </a:r>
            <a:endParaRPr lang="en-US" sz="1200" dirty="0"/>
          </a:p>
        </p:txBody>
      </p:sp>
      <p:sp>
        <p:nvSpPr>
          <p:cNvPr id="3" name="Text 1"/>
          <p:cNvSpPr/>
          <p:nvPr/>
        </p:nvSpPr>
        <p:spPr>
          <a:xfrm>
            <a:off x="566928" y="621792"/>
            <a:ext cx="10143439" cy="777240"/>
          </a:xfrm>
          <a:prstGeom prst="rect">
            <a:avLst/>
          </a:prstGeom>
          <a:noFill/>
          <a:ln/>
        </p:spPr>
        <p:txBody>
          <a:bodyPr wrap="square" lIns="0" tIns="0" rIns="0" bIns="0" rtlCol="0" anchor="t"/>
          <a:lstStyle/>
          <a:p>
            <a:pPr indent="0" marL="0">
              <a:buNone/>
            </a:pPr>
            <a:r>
              <a:rPr lang="en-US" sz="3600" b="1" dirty="0">
                <a:solidFill>
                  <a:srgbClr val="0B1437"/>
                </a:solidFill>
                <a:latin typeface="Cambria" pitchFamily="34" charset="0"/>
                <a:ea typeface="Cambria" pitchFamily="34" charset="-122"/>
                <a:cs typeface="Cambria" pitchFamily="34" charset="-120"/>
              </a:rPr>
              <a:t>Transformer Revolution</a:t>
            </a:r>
            <a:endParaRPr lang="en-US" sz="3600" dirty="0"/>
          </a:p>
        </p:txBody>
      </p:sp>
      <p:sp>
        <p:nvSpPr>
          <p:cNvPr id="4" name="Text 2"/>
          <p:cNvSpPr/>
          <p:nvPr/>
        </p:nvSpPr>
        <p:spPr>
          <a:xfrm>
            <a:off x="10801807" y="310896"/>
            <a:ext cx="822960" cy="365760"/>
          </a:xfrm>
          <a:prstGeom prst="rect">
            <a:avLst/>
          </a:prstGeom>
          <a:noFill/>
          <a:ln/>
        </p:spPr>
        <p:txBody>
          <a:bodyPr wrap="square" lIns="0" tIns="0" rIns="0" bIns="0" rtlCol="0" anchor="ctr"/>
          <a:lstStyle/>
          <a:p>
            <a:pPr algn="r" indent="0" marL="0">
              <a:buNone/>
            </a:pPr>
            <a:r>
              <a:rPr lang="en-US" sz="1300" dirty="0">
                <a:solidFill>
                  <a:srgbClr val="A9B3C6"/>
                </a:solidFill>
                <a:latin typeface="Calibri" pitchFamily="34" charset="0"/>
                <a:ea typeface="Calibri" pitchFamily="34" charset="-122"/>
                <a:cs typeface="Calibri" pitchFamily="34" charset="-120"/>
              </a:rPr>
              <a:t>13</a:t>
            </a:r>
            <a:endParaRPr lang="en-US" sz="1300" dirty="0"/>
          </a:p>
        </p:txBody>
      </p:sp>
      <p:pic>
        <p:nvPicPr>
          <p:cNvPr id="6" name="Image 0" descr="assets/attention.png">    </p:cNvPr>
          <p:cNvPicPr>
            <a:picLocks noChangeAspect="1"/>
          </p:cNvPicPr>
          <p:nvPr/>
        </p:nvPicPr>
        <p:blipFill>
          <a:blip r:embed="rId1"/>
          <a:stretch>
            <a:fillRect/>
          </a:stretch>
        </p:blipFill>
        <p:spPr>
          <a:xfrm>
            <a:off x="3216075" y="1554480"/>
            <a:ext cx="5729369" cy="2331720"/>
          </a:xfrm>
          <a:prstGeom prst="rect">
            <a:avLst/>
          </a:prstGeom>
        </p:spPr>
      </p:pic>
      <p:sp>
        <p:nvSpPr>
          <p:cNvPr id="7" name="Shape 3"/>
          <p:cNvSpPr/>
          <p:nvPr/>
        </p:nvSpPr>
        <p:spPr>
          <a:xfrm>
            <a:off x="566928" y="4023360"/>
            <a:ext cx="5349240" cy="658368"/>
          </a:xfrm>
          <a:prstGeom prst="roundRect">
            <a:avLst>
              <a:gd name="adj" fmla="val 16667"/>
            </a:avLst>
          </a:prstGeom>
          <a:solidFill>
            <a:srgbClr val="F2F5FA"/>
          </a:solidFill>
          <a:ln w="12700">
            <a:solidFill>
              <a:srgbClr val="DCE3ED"/>
            </a:solidFill>
            <a:prstDash val="solid"/>
          </a:ln>
        </p:spPr>
      </p:sp>
      <p:sp>
        <p:nvSpPr>
          <p:cNvPr id="8" name="Text 4"/>
          <p:cNvSpPr/>
          <p:nvPr/>
        </p:nvSpPr>
        <p:spPr>
          <a:xfrm>
            <a:off x="877824" y="4123944"/>
            <a:ext cx="4745736" cy="384048"/>
          </a:xfrm>
          <a:prstGeom prst="rect">
            <a:avLst/>
          </a:prstGeom>
          <a:noFill/>
          <a:ln/>
        </p:spPr>
        <p:txBody>
          <a:bodyPr wrap="square" lIns="0" tIns="0" rIns="0" bIns="0" rtlCol="0" anchor="ctr"/>
          <a:lstStyle/>
          <a:p>
            <a:pPr indent="0" marL="0">
              <a:buNone/>
            </a:pPr>
            <a:r>
              <a:rPr lang="en-US" sz="1550" b="1" dirty="0">
                <a:solidFill>
                  <a:srgbClr val="0B1437"/>
                </a:solidFill>
                <a:latin typeface="Calibri" pitchFamily="34" charset="0"/>
                <a:ea typeface="Calibri" pitchFamily="34" charset="-122"/>
                <a:cs typeface="Calibri" pitchFamily="34" charset="-120"/>
              </a:rPr>
              <a:t>BERT, GPT, T5</a:t>
            </a:r>
            <a:endParaRPr lang="en-US" sz="1550" dirty="0"/>
          </a:p>
        </p:txBody>
      </p:sp>
      <p:sp>
        <p:nvSpPr>
          <p:cNvPr id="9" name="Shape 5"/>
          <p:cNvSpPr/>
          <p:nvPr/>
        </p:nvSpPr>
        <p:spPr>
          <a:xfrm>
            <a:off x="841248" y="4279392"/>
            <a:ext cx="146304" cy="146304"/>
          </a:xfrm>
          <a:prstGeom prst="ellipse">
            <a:avLst/>
          </a:prstGeom>
          <a:solidFill>
            <a:srgbClr val="7C6BF2"/>
          </a:solidFill>
          <a:ln/>
        </p:spPr>
      </p:sp>
      <p:sp>
        <p:nvSpPr>
          <p:cNvPr id="10" name="Shape 6"/>
          <p:cNvSpPr/>
          <p:nvPr/>
        </p:nvSpPr>
        <p:spPr>
          <a:xfrm>
            <a:off x="566928" y="4773168"/>
            <a:ext cx="5349240" cy="658368"/>
          </a:xfrm>
          <a:prstGeom prst="roundRect">
            <a:avLst>
              <a:gd name="adj" fmla="val 16667"/>
            </a:avLst>
          </a:prstGeom>
          <a:solidFill>
            <a:srgbClr val="F2F5FA"/>
          </a:solidFill>
          <a:ln w="12700">
            <a:solidFill>
              <a:srgbClr val="DCE3ED"/>
            </a:solidFill>
            <a:prstDash val="solid"/>
          </a:ln>
        </p:spPr>
      </p:sp>
      <p:sp>
        <p:nvSpPr>
          <p:cNvPr id="11" name="Text 7"/>
          <p:cNvSpPr/>
          <p:nvPr/>
        </p:nvSpPr>
        <p:spPr>
          <a:xfrm>
            <a:off x="877824" y="4873752"/>
            <a:ext cx="4745736" cy="384048"/>
          </a:xfrm>
          <a:prstGeom prst="rect">
            <a:avLst/>
          </a:prstGeom>
          <a:noFill/>
          <a:ln/>
        </p:spPr>
        <p:txBody>
          <a:bodyPr wrap="square" lIns="0" tIns="0" rIns="0" bIns="0" rtlCol="0" anchor="ctr"/>
          <a:lstStyle/>
          <a:p>
            <a:pPr indent="0" marL="0">
              <a:buNone/>
            </a:pPr>
            <a:r>
              <a:rPr lang="en-US" sz="1550" b="1" dirty="0">
                <a:solidFill>
                  <a:srgbClr val="0B1437"/>
                </a:solidFill>
                <a:latin typeface="Calibri" pitchFamily="34" charset="0"/>
                <a:ea typeface="Calibri" pitchFamily="34" charset="-122"/>
                <a:cs typeface="Calibri" pitchFamily="34" charset="-120"/>
              </a:rPr>
              <a:t>Contextual embeddings</a:t>
            </a:r>
            <a:endParaRPr lang="en-US" sz="1550" dirty="0"/>
          </a:p>
        </p:txBody>
      </p:sp>
      <p:sp>
        <p:nvSpPr>
          <p:cNvPr id="12" name="Shape 8"/>
          <p:cNvSpPr/>
          <p:nvPr/>
        </p:nvSpPr>
        <p:spPr>
          <a:xfrm>
            <a:off x="841248" y="5029200"/>
            <a:ext cx="146304" cy="146304"/>
          </a:xfrm>
          <a:prstGeom prst="ellipse">
            <a:avLst/>
          </a:prstGeom>
          <a:solidFill>
            <a:srgbClr val="2EC4B6"/>
          </a:solidFill>
          <a:ln/>
        </p:spPr>
      </p:sp>
      <p:sp>
        <p:nvSpPr>
          <p:cNvPr id="13" name="Shape 9"/>
          <p:cNvSpPr/>
          <p:nvPr/>
        </p:nvSpPr>
        <p:spPr>
          <a:xfrm>
            <a:off x="566928" y="5522976"/>
            <a:ext cx="5349240" cy="658368"/>
          </a:xfrm>
          <a:prstGeom prst="roundRect">
            <a:avLst>
              <a:gd name="adj" fmla="val 16667"/>
            </a:avLst>
          </a:prstGeom>
          <a:solidFill>
            <a:srgbClr val="F2F5FA"/>
          </a:solidFill>
          <a:ln w="12700">
            <a:solidFill>
              <a:srgbClr val="DCE3ED"/>
            </a:solidFill>
            <a:prstDash val="solid"/>
          </a:ln>
        </p:spPr>
      </p:sp>
      <p:sp>
        <p:nvSpPr>
          <p:cNvPr id="14" name="Text 10"/>
          <p:cNvSpPr/>
          <p:nvPr/>
        </p:nvSpPr>
        <p:spPr>
          <a:xfrm>
            <a:off x="877824" y="5623560"/>
            <a:ext cx="4745736" cy="384048"/>
          </a:xfrm>
          <a:prstGeom prst="rect">
            <a:avLst/>
          </a:prstGeom>
          <a:noFill/>
          <a:ln/>
        </p:spPr>
        <p:txBody>
          <a:bodyPr wrap="square" lIns="0" tIns="0" rIns="0" bIns="0" rtlCol="0" anchor="ctr"/>
          <a:lstStyle/>
          <a:p>
            <a:pPr indent="0" marL="0">
              <a:buNone/>
            </a:pPr>
            <a:r>
              <a:rPr lang="en-US" sz="1550" b="1" dirty="0">
                <a:solidFill>
                  <a:srgbClr val="0B1437"/>
                </a:solidFill>
                <a:latin typeface="Calibri" pitchFamily="34" charset="0"/>
                <a:ea typeface="Calibri" pitchFamily="34" charset="-122"/>
                <a:cs typeface="Calibri" pitchFamily="34" charset="-120"/>
              </a:rPr>
              <a:t>State-of-the-art performance</a:t>
            </a:r>
            <a:endParaRPr lang="en-US" sz="1550" dirty="0"/>
          </a:p>
        </p:txBody>
      </p:sp>
      <p:sp>
        <p:nvSpPr>
          <p:cNvPr id="15" name="Shape 11"/>
          <p:cNvSpPr/>
          <p:nvPr/>
        </p:nvSpPr>
        <p:spPr>
          <a:xfrm>
            <a:off x="841248" y="5779008"/>
            <a:ext cx="146304" cy="146304"/>
          </a:xfrm>
          <a:prstGeom prst="ellipse">
            <a:avLst/>
          </a:prstGeom>
          <a:solidFill>
            <a:srgbClr val="FFB703"/>
          </a:solidFill>
          <a:ln/>
        </p:spPr>
      </p:sp>
      <p:sp>
        <p:nvSpPr>
          <p:cNvPr id="16" name="Shape 12"/>
          <p:cNvSpPr/>
          <p:nvPr/>
        </p:nvSpPr>
        <p:spPr>
          <a:xfrm>
            <a:off x="6355080" y="4023360"/>
            <a:ext cx="5285232" cy="2157984"/>
          </a:xfrm>
          <a:prstGeom prst="roundRect">
            <a:avLst>
              <a:gd name="adj" fmla="val 4237"/>
            </a:avLst>
          </a:prstGeom>
          <a:solidFill>
            <a:srgbClr val="0B1437"/>
          </a:solidFill>
          <a:ln w="12700">
            <a:solidFill>
              <a:srgbClr val="16204A"/>
            </a:solidFill>
            <a:prstDash val="solid"/>
          </a:ln>
        </p:spPr>
      </p:sp>
      <p:sp>
        <p:nvSpPr>
          <p:cNvPr id="17" name="Text 13"/>
          <p:cNvSpPr/>
          <p:nvPr/>
        </p:nvSpPr>
        <p:spPr>
          <a:xfrm>
            <a:off x="6592824" y="4151376"/>
            <a:ext cx="4828032" cy="237744"/>
          </a:xfrm>
          <a:prstGeom prst="rect">
            <a:avLst/>
          </a:prstGeom>
          <a:noFill/>
          <a:ln/>
        </p:spPr>
        <p:txBody>
          <a:bodyPr wrap="square" lIns="0" tIns="0" rIns="0" bIns="0" rtlCol="0" anchor="ctr"/>
          <a:lstStyle/>
          <a:p>
            <a:pPr indent="0" marL="0">
              <a:buNone/>
            </a:pPr>
            <a:r>
              <a:rPr lang="en-US" sz="1100" b="1" spc="100" kern="0" dirty="0">
                <a:solidFill>
                  <a:srgbClr val="2EC4B6"/>
                </a:solidFill>
                <a:latin typeface="Calibri" pitchFamily="34" charset="0"/>
                <a:ea typeface="Calibri" pitchFamily="34" charset="-122"/>
                <a:cs typeface="Calibri" pitchFamily="34" charset="-120"/>
              </a:rPr>
              <a:t>CONTEXTUAL EMBEDDINGS WITH BERT</a:t>
            </a:r>
            <a:endParaRPr lang="en-US" sz="1100" dirty="0"/>
          </a:p>
        </p:txBody>
      </p:sp>
      <p:sp>
        <p:nvSpPr>
          <p:cNvPr id="18" name="Text 14"/>
          <p:cNvSpPr/>
          <p:nvPr/>
        </p:nvSpPr>
        <p:spPr>
          <a:xfrm>
            <a:off x="6592824" y="4425696"/>
            <a:ext cx="4828032" cy="1609344"/>
          </a:xfrm>
          <a:prstGeom prst="rect">
            <a:avLst/>
          </a:prstGeom>
          <a:noFill/>
          <a:ln/>
        </p:spPr>
        <p:txBody>
          <a:bodyPr wrap="square" lIns="0" tIns="0" rIns="0" bIns="0" rtlCol="0" anchor="t"/>
          <a:lstStyle/>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from transformers import AutoTokenizer, AutoModel</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name = "bert-base-uncased"</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tok = AutoTokenizer.from_pretrained(name)</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model = AutoModel.from_pretrained(name)</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ids = tok("river bank", return_tensors="pt")</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out = model(**ids).last_hidden_state</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out.shape   # one 768-d vector per token</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74320"/>
          </a:xfrm>
          <a:prstGeom prst="rect">
            <a:avLst/>
          </a:prstGeom>
          <a:noFill/>
          <a:ln/>
        </p:spPr>
        <p:txBody>
          <a:bodyPr wrap="square" lIns="0" tIns="0" rIns="0" bIns="0" rtlCol="0" anchor="ctr"/>
          <a:lstStyle/>
          <a:p>
            <a:pPr algn="l" indent="0" marL="0">
              <a:buNone/>
            </a:pPr>
            <a:r>
              <a:rPr lang="en-US" sz="1200" b="1" spc="200" kern="0" dirty="0">
                <a:solidFill>
                  <a:srgbClr val="13887E"/>
                </a:solidFill>
                <a:latin typeface="Calibri" pitchFamily="34" charset="0"/>
                <a:ea typeface="Calibri" pitchFamily="34" charset="-122"/>
                <a:cs typeface="Calibri" pitchFamily="34" charset="-120"/>
              </a:rPr>
              <a:t>IN PRODUCTION</a:t>
            </a:r>
            <a:endParaRPr lang="en-US" sz="1200" dirty="0"/>
          </a:p>
        </p:txBody>
      </p:sp>
      <p:sp>
        <p:nvSpPr>
          <p:cNvPr id="3" name="Text 1"/>
          <p:cNvSpPr/>
          <p:nvPr/>
        </p:nvSpPr>
        <p:spPr>
          <a:xfrm>
            <a:off x="566928" y="621792"/>
            <a:ext cx="10143439" cy="777240"/>
          </a:xfrm>
          <a:prstGeom prst="rect">
            <a:avLst/>
          </a:prstGeom>
          <a:noFill/>
          <a:ln/>
        </p:spPr>
        <p:txBody>
          <a:bodyPr wrap="square" lIns="0" tIns="0" rIns="0" bIns="0" rtlCol="0" anchor="t"/>
          <a:lstStyle/>
          <a:p>
            <a:pPr indent="0" marL="0">
              <a:buNone/>
            </a:pPr>
            <a:r>
              <a:rPr lang="en-US" sz="3600" b="1" dirty="0">
                <a:solidFill>
                  <a:srgbClr val="0B1437"/>
                </a:solidFill>
                <a:latin typeface="Cambria" pitchFamily="34" charset="0"/>
                <a:ea typeface="Cambria" pitchFamily="34" charset="-122"/>
                <a:cs typeface="Cambria" pitchFamily="34" charset="-120"/>
              </a:rPr>
              <a:t>Real-World Applications</a:t>
            </a:r>
            <a:endParaRPr lang="en-US" sz="3600" dirty="0"/>
          </a:p>
        </p:txBody>
      </p:sp>
      <p:sp>
        <p:nvSpPr>
          <p:cNvPr id="4" name="Text 2"/>
          <p:cNvSpPr/>
          <p:nvPr/>
        </p:nvSpPr>
        <p:spPr>
          <a:xfrm>
            <a:off x="10801807" y="310896"/>
            <a:ext cx="822960" cy="365760"/>
          </a:xfrm>
          <a:prstGeom prst="rect">
            <a:avLst/>
          </a:prstGeom>
          <a:noFill/>
          <a:ln/>
        </p:spPr>
        <p:txBody>
          <a:bodyPr wrap="square" lIns="0" tIns="0" rIns="0" bIns="0" rtlCol="0" anchor="ctr"/>
          <a:lstStyle/>
          <a:p>
            <a:pPr algn="r" indent="0" marL="0">
              <a:buNone/>
            </a:pPr>
            <a:r>
              <a:rPr lang="en-US" sz="1300" dirty="0">
                <a:solidFill>
                  <a:srgbClr val="A9B3C6"/>
                </a:solidFill>
                <a:latin typeface="Calibri" pitchFamily="34" charset="0"/>
                <a:ea typeface="Calibri" pitchFamily="34" charset="-122"/>
                <a:cs typeface="Calibri" pitchFamily="34" charset="-120"/>
              </a:rPr>
              <a:t>14</a:t>
            </a:r>
            <a:endParaRPr lang="en-US" sz="1300" dirty="0"/>
          </a:p>
        </p:txBody>
      </p:sp>
      <p:sp>
        <p:nvSpPr>
          <p:cNvPr id="6" name="Shape 3"/>
          <p:cNvSpPr/>
          <p:nvPr/>
        </p:nvSpPr>
        <p:spPr>
          <a:xfrm>
            <a:off x="566928" y="1828800"/>
            <a:ext cx="5285232" cy="1737360"/>
          </a:xfrm>
          <a:prstGeom prst="roundRect">
            <a:avLst>
              <a:gd name="adj" fmla="val 6316"/>
            </a:avLst>
          </a:prstGeom>
          <a:solidFill>
            <a:srgbClr val="F2F5FA"/>
          </a:solidFill>
          <a:ln w="12700">
            <a:solidFill>
              <a:srgbClr val="DCE3ED"/>
            </a:solidFill>
            <a:prstDash val="solid"/>
          </a:ln>
        </p:spPr>
      </p:sp>
      <p:sp>
        <p:nvSpPr>
          <p:cNvPr id="7" name="Shape 4"/>
          <p:cNvSpPr/>
          <p:nvPr/>
        </p:nvSpPr>
        <p:spPr>
          <a:xfrm>
            <a:off x="859536" y="2139696"/>
            <a:ext cx="566928" cy="566928"/>
          </a:xfrm>
          <a:prstGeom prst="ellipse">
            <a:avLst/>
          </a:prstGeom>
          <a:solidFill>
            <a:srgbClr val="EF476F"/>
          </a:solidFill>
          <a:ln/>
        </p:spPr>
      </p:sp>
      <p:pic>
        <p:nvPicPr>
          <p:cNvPr id="8" name="Image 0" descr="assets/icons/heartbeat_w.png">    </p:cNvPr>
          <p:cNvPicPr>
            <a:picLocks noChangeAspect="1"/>
          </p:cNvPicPr>
          <p:nvPr/>
        </p:nvPicPr>
        <p:blipFill>
          <a:blip r:embed="rId1"/>
          <a:stretch>
            <a:fillRect/>
          </a:stretch>
        </p:blipFill>
        <p:spPr>
          <a:xfrm>
            <a:off x="987552" y="2267712"/>
            <a:ext cx="310896" cy="310896"/>
          </a:xfrm>
          <a:prstGeom prst="rect">
            <a:avLst/>
          </a:prstGeom>
        </p:spPr>
      </p:pic>
      <p:sp>
        <p:nvSpPr>
          <p:cNvPr id="9" name="Text 5"/>
          <p:cNvSpPr/>
          <p:nvPr/>
        </p:nvSpPr>
        <p:spPr>
          <a:xfrm>
            <a:off x="1609344" y="2103120"/>
            <a:ext cx="3950208" cy="384048"/>
          </a:xfrm>
          <a:prstGeom prst="rect">
            <a:avLst/>
          </a:prstGeom>
          <a:noFill/>
          <a:ln/>
        </p:spPr>
        <p:txBody>
          <a:bodyPr wrap="square" lIns="0" tIns="0" rIns="0" bIns="0" rtlCol="0" anchor="ctr"/>
          <a:lstStyle/>
          <a:p>
            <a:pPr indent="0" marL="0">
              <a:buNone/>
            </a:pPr>
            <a:r>
              <a:rPr lang="en-US" sz="2000" b="1" dirty="0">
                <a:solidFill>
                  <a:srgbClr val="0B1437"/>
                </a:solidFill>
                <a:latin typeface="Calibri" pitchFamily="34" charset="0"/>
                <a:ea typeface="Calibri" pitchFamily="34" charset="-122"/>
                <a:cs typeface="Calibri" pitchFamily="34" charset="-120"/>
              </a:rPr>
              <a:t>Healthcare</a:t>
            </a:r>
            <a:endParaRPr lang="en-US" sz="2000" dirty="0"/>
          </a:p>
        </p:txBody>
      </p:sp>
      <p:sp>
        <p:nvSpPr>
          <p:cNvPr id="10" name="Text 6"/>
          <p:cNvSpPr/>
          <p:nvPr/>
        </p:nvSpPr>
        <p:spPr>
          <a:xfrm>
            <a:off x="1609344" y="2523744"/>
            <a:ext cx="3950208" cy="822960"/>
          </a:xfrm>
          <a:prstGeom prst="rect">
            <a:avLst/>
          </a:prstGeom>
          <a:noFill/>
          <a:ln/>
        </p:spPr>
        <p:txBody>
          <a:bodyPr wrap="square" lIns="0" tIns="0" rIns="0" bIns="0" rtlCol="0" anchor="t"/>
          <a:lstStyle/>
          <a:p>
            <a:pPr indent="0" marL="0">
              <a:lnSpc>
                <a:spcPct val="112000"/>
              </a:lnSpc>
              <a:buNone/>
            </a:pPr>
            <a:r>
              <a:rPr lang="en-US" sz="1400" dirty="0">
                <a:solidFill>
                  <a:srgbClr val="5C6784"/>
                </a:solidFill>
                <a:latin typeface="Calibri" pitchFamily="34" charset="0"/>
                <a:ea typeface="Calibri" pitchFamily="34" charset="-122"/>
                <a:cs typeface="Calibri" pitchFamily="34" charset="-120"/>
              </a:rPr>
              <a:t>Disease prediction from clinical notes</a:t>
            </a:r>
            <a:endParaRPr lang="en-US" sz="1400" dirty="0"/>
          </a:p>
        </p:txBody>
      </p:sp>
      <p:sp>
        <p:nvSpPr>
          <p:cNvPr id="11" name="Shape 7"/>
          <p:cNvSpPr/>
          <p:nvPr/>
        </p:nvSpPr>
        <p:spPr>
          <a:xfrm>
            <a:off x="6355080" y="1828800"/>
            <a:ext cx="5285232" cy="1737360"/>
          </a:xfrm>
          <a:prstGeom prst="roundRect">
            <a:avLst>
              <a:gd name="adj" fmla="val 6316"/>
            </a:avLst>
          </a:prstGeom>
          <a:solidFill>
            <a:srgbClr val="F2F5FA"/>
          </a:solidFill>
          <a:ln w="12700">
            <a:solidFill>
              <a:srgbClr val="DCE3ED"/>
            </a:solidFill>
            <a:prstDash val="solid"/>
          </a:ln>
        </p:spPr>
      </p:sp>
      <p:sp>
        <p:nvSpPr>
          <p:cNvPr id="12" name="Shape 8"/>
          <p:cNvSpPr/>
          <p:nvPr/>
        </p:nvSpPr>
        <p:spPr>
          <a:xfrm>
            <a:off x="6647688" y="2139696"/>
            <a:ext cx="566928" cy="566928"/>
          </a:xfrm>
          <a:prstGeom prst="ellipse">
            <a:avLst/>
          </a:prstGeom>
          <a:solidFill>
            <a:srgbClr val="2EC4B6"/>
          </a:solidFill>
          <a:ln/>
        </p:spPr>
      </p:sp>
      <p:pic>
        <p:nvPicPr>
          <p:cNvPr id="13" name="Image 1" descr="assets/icons/fraud_w.png">    </p:cNvPr>
          <p:cNvPicPr>
            <a:picLocks noChangeAspect="1"/>
          </p:cNvPicPr>
          <p:nvPr/>
        </p:nvPicPr>
        <p:blipFill>
          <a:blip r:embed="rId2"/>
          <a:stretch>
            <a:fillRect/>
          </a:stretch>
        </p:blipFill>
        <p:spPr>
          <a:xfrm>
            <a:off x="6775704" y="2267712"/>
            <a:ext cx="310896" cy="310896"/>
          </a:xfrm>
          <a:prstGeom prst="rect">
            <a:avLst/>
          </a:prstGeom>
        </p:spPr>
      </p:pic>
      <p:sp>
        <p:nvSpPr>
          <p:cNvPr id="14" name="Text 9"/>
          <p:cNvSpPr/>
          <p:nvPr/>
        </p:nvSpPr>
        <p:spPr>
          <a:xfrm>
            <a:off x="7397496" y="2103120"/>
            <a:ext cx="3950208" cy="384048"/>
          </a:xfrm>
          <a:prstGeom prst="rect">
            <a:avLst/>
          </a:prstGeom>
          <a:noFill/>
          <a:ln/>
        </p:spPr>
        <p:txBody>
          <a:bodyPr wrap="square" lIns="0" tIns="0" rIns="0" bIns="0" rtlCol="0" anchor="ctr"/>
          <a:lstStyle/>
          <a:p>
            <a:pPr indent="0" marL="0">
              <a:buNone/>
            </a:pPr>
            <a:r>
              <a:rPr lang="en-US" sz="2000" b="1" dirty="0">
                <a:solidFill>
                  <a:srgbClr val="0B1437"/>
                </a:solidFill>
                <a:latin typeface="Calibri" pitchFamily="34" charset="0"/>
                <a:ea typeface="Calibri" pitchFamily="34" charset="-122"/>
                <a:cs typeface="Calibri" pitchFamily="34" charset="-120"/>
              </a:rPr>
              <a:t>Finance</a:t>
            </a:r>
            <a:endParaRPr lang="en-US" sz="2000" dirty="0"/>
          </a:p>
        </p:txBody>
      </p:sp>
      <p:sp>
        <p:nvSpPr>
          <p:cNvPr id="15" name="Text 10"/>
          <p:cNvSpPr/>
          <p:nvPr/>
        </p:nvSpPr>
        <p:spPr>
          <a:xfrm>
            <a:off x="7397496" y="2523744"/>
            <a:ext cx="3950208" cy="822960"/>
          </a:xfrm>
          <a:prstGeom prst="rect">
            <a:avLst/>
          </a:prstGeom>
          <a:noFill/>
          <a:ln/>
        </p:spPr>
        <p:txBody>
          <a:bodyPr wrap="square" lIns="0" tIns="0" rIns="0" bIns="0" rtlCol="0" anchor="t"/>
          <a:lstStyle/>
          <a:p>
            <a:pPr indent="0" marL="0">
              <a:lnSpc>
                <a:spcPct val="112000"/>
              </a:lnSpc>
              <a:buNone/>
            </a:pPr>
            <a:r>
              <a:rPr lang="en-US" sz="1400" dirty="0">
                <a:solidFill>
                  <a:srgbClr val="5C6784"/>
                </a:solidFill>
                <a:latin typeface="Calibri" pitchFamily="34" charset="0"/>
                <a:ea typeface="Calibri" pitchFamily="34" charset="-122"/>
                <a:cs typeface="Calibri" pitchFamily="34" charset="-120"/>
              </a:rPr>
              <a:t>Fraud detection and market sentiment</a:t>
            </a:r>
            <a:endParaRPr lang="en-US" sz="1400" dirty="0"/>
          </a:p>
        </p:txBody>
      </p:sp>
      <p:sp>
        <p:nvSpPr>
          <p:cNvPr id="16" name="Shape 11"/>
          <p:cNvSpPr/>
          <p:nvPr/>
        </p:nvSpPr>
        <p:spPr>
          <a:xfrm>
            <a:off x="566928" y="3794760"/>
            <a:ext cx="5285232" cy="1737360"/>
          </a:xfrm>
          <a:prstGeom prst="roundRect">
            <a:avLst>
              <a:gd name="adj" fmla="val 6316"/>
            </a:avLst>
          </a:prstGeom>
          <a:solidFill>
            <a:srgbClr val="F2F5FA"/>
          </a:solidFill>
          <a:ln w="12700">
            <a:solidFill>
              <a:srgbClr val="DCE3ED"/>
            </a:solidFill>
            <a:prstDash val="solid"/>
          </a:ln>
        </p:spPr>
      </p:sp>
      <p:sp>
        <p:nvSpPr>
          <p:cNvPr id="17" name="Shape 12"/>
          <p:cNvSpPr/>
          <p:nvPr/>
        </p:nvSpPr>
        <p:spPr>
          <a:xfrm>
            <a:off x="859536" y="4105656"/>
            <a:ext cx="566928" cy="566928"/>
          </a:xfrm>
          <a:prstGeom prst="ellipse">
            <a:avLst/>
          </a:prstGeom>
          <a:solidFill>
            <a:srgbClr val="7C6BF2"/>
          </a:solidFill>
          <a:ln/>
        </p:spPr>
      </p:sp>
      <p:pic>
        <p:nvPicPr>
          <p:cNvPr id="18" name="Image 2" descr="assets/icons/legal_w.png">    </p:cNvPr>
          <p:cNvPicPr>
            <a:picLocks noChangeAspect="1"/>
          </p:cNvPicPr>
          <p:nvPr/>
        </p:nvPicPr>
        <p:blipFill>
          <a:blip r:embed="rId3"/>
          <a:stretch>
            <a:fillRect/>
          </a:stretch>
        </p:blipFill>
        <p:spPr>
          <a:xfrm>
            <a:off x="987552" y="4233672"/>
            <a:ext cx="310896" cy="310896"/>
          </a:xfrm>
          <a:prstGeom prst="rect">
            <a:avLst/>
          </a:prstGeom>
        </p:spPr>
      </p:pic>
      <p:sp>
        <p:nvSpPr>
          <p:cNvPr id="19" name="Text 13"/>
          <p:cNvSpPr/>
          <p:nvPr/>
        </p:nvSpPr>
        <p:spPr>
          <a:xfrm>
            <a:off x="1609344" y="4069080"/>
            <a:ext cx="3950208" cy="384048"/>
          </a:xfrm>
          <a:prstGeom prst="rect">
            <a:avLst/>
          </a:prstGeom>
          <a:noFill/>
          <a:ln/>
        </p:spPr>
        <p:txBody>
          <a:bodyPr wrap="square" lIns="0" tIns="0" rIns="0" bIns="0" rtlCol="0" anchor="ctr"/>
          <a:lstStyle/>
          <a:p>
            <a:pPr indent="0" marL="0">
              <a:buNone/>
            </a:pPr>
            <a:r>
              <a:rPr lang="en-US" sz="2000" b="1" dirty="0">
                <a:solidFill>
                  <a:srgbClr val="0B1437"/>
                </a:solidFill>
                <a:latin typeface="Calibri" pitchFamily="34" charset="0"/>
                <a:ea typeface="Calibri" pitchFamily="34" charset="-122"/>
                <a:cs typeface="Calibri" pitchFamily="34" charset="-120"/>
              </a:rPr>
              <a:t>Legal</a:t>
            </a:r>
            <a:endParaRPr lang="en-US" sz="2000" dirty="0"/>
          </a:p>
        </p:txBody>
      </p:sp>
      <p:sp>
        <p:nvSpPr>
          <p:cNvPr id="20" name="Text 14"/>
          <p:cNvSpPr/>
          <p:nvPr/>
        </p:nvSpPr>
        <p:spPr>
          <a:xfrm>
            <a:off x="1609344" y="4489704"/>
            <a:ext cx="3950208" cy="822960"/>
          </a:xfrm>
          <a:prstGeom prst="rect">
            <a:avLst/>
          </a:prstGeom>
          <a:noFill/>
          <a:ln/>
        </p:spPr>
        <p:txBody>
          <a:bodyPr wrap="square" lIns="0" tIns="0" rIns="0" bIns="0" rtlCol="0" anchor="t"/>
          <a:lstStyle/>
          <a:p>
            <a:pPr indent="0" marL="0">
              <a:lnSpc>
                <a:spcPct val="112000"/>
              </a:lnSpc>
              <a:buNone/>
            </a:pPr>
            <a:r>
              <a:rPr lang="en-US" sz="1400" dirty="0">
                <a:solidFill>
                  <a:srgbClr val="5C6784"/>
                </a:solidFill>
                <a:latin typeface="Calibri" pitchFamily="34" charset="0"/>
                <a:ea typeface="Calibri" pitchFamily="34" charset="-122"/>
                <a:cs typeface="Calibri" pitchFamily="34" charset="-120"/>
              </a:rPr>
              <a:t>Contract analysis and case research</a:t>
            </a:r>
            <a:endParaRPr lang="en-US" sz="1400" dirty="0"/>
          </a:p>
        </p:txBody>
      </p:sp>
      <p:sp>
        <p:nvSpPr>
          <p:cNvPr id="21" name="Shape 15"/>
          <p:cNvSpPr/>
          <p:nvPr/>
        </p:nvSpPr>
        <p:spPr>
          <a:xfrm>
            <a:off x="6355080" y="3794760"/>
            <a:ext cx="5285232" cy="1737360"/>
          </a:xfrm>
          <a:prstGeom prst="roundRect">
            <a:avLst>
              <a:gd name="adj" fmla="val 6316"/>
            </a:avLst>
          </a:prstGeom>
          <a:solidFill>
            <a:srgbClr val="F2F5FA"/>
          </a:solidFill>
          <a:ln w="12700">
            <a:solidFill>
              <a:srgbClr val="DCE3ED"/>
            </a:solidFill>
            <a:prstDash val="solid"/>
          </a:ln>
        </p:spPr>
      </p:sp>
      <p:sp>
        <p:nvSpPr>
          <p:cNvPr id="22" name="Shape 16"/>
          <p:cNvSpPr/>
          <p:nvPr/>
        </p:nvSpPr>
        <p:spPr>
          <a:xfrm>
            <a:off x="6647688" y="4105656"/>
            <a:ext cx="566928" cy="566928"/>
          </a:xfrm>
          <a:prstGeom prst="ellipse">
            <a:avLst/>
          </a:prstGeom>
          <a:solidFill>
            <a:srgbClr val="FFB703"/>
          </a:solidFill>
          <a:ln/>
        </p:spPr>
      </p:sp>
      <p:pic>
        <p:nvPicPr>
          <p:cNvPr id="23" name="Image 3" descr="assets/icons/marketing_w.png">    </p:cNvPr>
          <p:cNvPicPr>
            <a:picLocks noChangeAspect="1"/>
          </p:cNvPicPr>
          <p:nvPr/>
        </p:nvPicPr>
        <p:blipFill>
          <a:blip r:embed="rId4"/>
          <a:stretch>
            <a:fillRect/>
          </a:stretch>
        </p:blipFill>
        <p:spPr>
          <a:xfrm>
            <a:off x="6775704" y="4233672"/>
            <a:ext cx="310896" cy="310896"/>
          </a:xfrm>
          <a:prstGeom prst="rect">
            <a:avLst/>
          </a:prstGeom>
        </p:spPr>
      </p:pic>
      <p:sp>
        <p:nvSpPr>
          <p:cNvPr id="24" name="Text 17"/>
          <p:cNvSpPr/>
          <p:nvPr/>
        </p:nvSpPr>
        <p:spPr>
          <a:xfrm>
            <a:off x="7397496" y="4069080"/>
            <a:ext cx="3950208" cy="384048"/>
          </a:xfrm>
          <a:prstGeom prst="rect">
            <a:avLst/>
          </a:prstGeom>
          <a:noFill/>
          <a:ln/>
        </p:spPr>
        <p:txBody>
          <a:bodyPr wrap="square" lIns="0" tIns="0" rIns="0" bIns="0" rtlCol="0" anchor="ctr"/>
          <a:lstStyle/>
          <a:p>
            <a:pPr indent="0" marL="0">
              <a:buNone/>
            </a:pPr>
            <a:r>
              <a:rPr lang="en-US" sz="2000" b="1" dirty="0">
                <a:solidFill>
                  <a:srgbClr val="0B1437"/>
                </a:solidFill>
                <a:latin typeface="Calibri" pitchFamily="34" charset="0"/>
                <a:ea typeface="Calibri" pitchFamily="34" charset="-122"/>
                <a:cs typeface="Calibri" pitchFamily="34" charset="-120"/>
              </a:rPr>
              <a:t>Marketing</a:t>
            </a:r>
            <a:endParaRPr lang="en-US" sz="2000" dirty="0"/>
          </a:p>
        </p:txBody>
      </p:sp>
      <p:sp>
        <p:nvSpPr>
          <p:cNvPr id="25" name="Text 18"/>
          <p:cNvSpPr/>
          <p:nvPr/>
        </p:nvSpPr>
        <p:spPr>
          <a:xfrm>
            <a:off x="7397496" y="4489704"/>
            <a:ext cx="3950208" cy="822960"/>
          </a:xfrm>
          <a:prstGeom prst="rect">
            <a:avLst/>
          </a:prstGeom>
          <a:noFill/>
          <a:ln/>
        </p:spPr>
        <p:txBody>
          <a:bodyPr wrap="square" lIns="0" tIns="0" rIns="0" bIns="0" rtlCol="0" anchor="t"/>
          <a:lstStyle/>
          <a:p>
            <a:pPr indent="0" marL="0">
              <a:lnSpc>
                <a:spcPct val="112000"/>
              </a:lnSpc>
              <a:buNone/>
            </a:pPr>
            <a:r>
              <a:rPr lang="en-US" sz="1400" dirty="0">
                <a:solidFill>
                  <a:srgbClr val="5C6784"/>
                </a:solidFill>
                <a:latin typeface="Calibri" pitchFamily="34" charset="0"/>
                <a:ea typeface="Calibri" pitchFamily="34" charset="-122"/>
                <a:cs typeface="Calibri" pitchFamily="34" charset="-120"/>
              </a:rPr>
              <a:t>Customer insights and personalization</a:t>
            </a:r>
            <a:endParaRPr lang="en-US" sz="1400" dirty="0"/>
          </a:p>
        </p:txBody>
      </p:sp>
      <p:sp>
        <p:nvSpPr>
          <p:cNvPr id="26" name="Text 19"/>
          <p:cNvSpPr/>
          <p:nvPr/>
        </p:nvSpPr>
        <p:spPr>
          <a:xfrm>
            <a:off x="566928" y="5806440"/>
            <a:ext cx="11064240" cy="365760"/>
          </a:xfrm>
          <a:prstGeom prst="rect">
            <a:avLst/>
          </a:prstGeom>
          <a:noFill/>
          <a:ln/>
        </p:spPr>
        <p:txBody>
          <a:bodyPr wrap="square" lIns="0" tIns="0" rIns="0" bIns="0" rtlCol="0" anchor="ctr"/>
          <a:lstStyle/>
          <a:p>
            <a:pPr indent="0" marL="0">
              <a:buNone/>
            </a:pPr>
            <a:r>
              <a:rPr lang="en-US" sz="1400" i="1" dirty="0">
                <a:solidFill>
                  <a:srgbClr val="5C6784"/>
                </a:solidFill>
                <a:latin typeface="Calibri" pitchFamily="34" charset="0"/>
                <a:ea typeface="Calibri" pitchFamily="34" charset="-122"/>
                <a:cs typeface="Calibri" pitchFamily="34" charset="-120"/>
              </a:rPr>
              <a:t>Not futuristic — running today in hospitals, banks, law firms and marketing teams.</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74320"/>
          </a:xfrm>
          <a:prstGeom prst="rect">
            <a:avLst/>
          </a:prstGeom>
          <a:noFill/>
          <a:ln/>
        </p:spPr>
        <p:txBody>
          <a:bodyPr wrap="square" lIns="0" tIns="0" rIns="0" bIns="0" rtlCol="0" anchor="ctr"/>
          <a:lstStyle/>
          <a:p>
            <a:pPr algn="l" indent="0" marL="0">
              <a:buNone/>
            </a:pPr>
            <a:r>
              <a:rPr lang="en-US" sz="1200" b="1" spc="200" kern="0" dirty="0">
                <a:solidFill>
                  <a:srgbClr val="13887E"/>
                </a:solidFill>
                <a:latin typeface="Calibri" pitchFamily="34" charset="0"/>
                <a:ea typeface="Calibri" pitchFamily="34" charset="-122"/>
                <a:cs typeface="Calibri" pitchFamily="34" charset="-120"/>
              </a:rPr>
              <a:t>ECOSYSTEM</a:t>
            </a:r>
            <a:endParaRPr lang="en-US" sz="1200" dirty="0"/>
          </a:p>
        </p:txBody>
      </p:sp>
      <p:sp>
        <p:nvSpPr>
          <p:cNvPr id="3" name="Text 1"/>
          <p:cNvSpPr/>
          <p:nvPr/>
        </p:nvSpPr>
        <p:spPr>
          <a:xfrm>
            <a:off x="566928" y="621792"/>
            <a:ext cx="10143439" cy="777240"/>
          </a:xfrm>
          <a:prstGeom prst="rect">
            <a:avLst/>
          </a:prstGeom>
          <a:noFill/>
          <a:ln/>
        </p:spPr>
        <p:txBody>
          <a:bodyPr wrap="square" lIns="0" tIns="0" rIns="0" bIns="0" rtlCol="0" anchor="t"/>
          <a:lstStyle/>
          <a:p>
            <a:pPr indent="0" marL="0">
              <a:buNone/>
            </a:pPr>
            <a:r>
              <a:rPr lang="en-US" sz="3600" b="1" dirty="0">
                <a:solidFill>
                  <a:srgbClr val="0B1437"/>
                </a:solidFill>
                <a:latin typeface="Cambria" pitchFamily="34" charset="0"/>
                <a:ea typeface="Cambria" pitchFamily="34" charset="-122"/>
                <a:cs typeface="Cambria" pitchFamily="34" charset="-120"/>
              </a:rPr>
              <a:t>Tools &amp; Libraries</a:t>
            </a:r>
            <a:endParaRPr lang="en-US" sz="3600" dirty="0"/>
          </a:p>
        </p:txBody>
      </p:sp>
      <p:sp>
        <p:nvSpPr>
          <p:cNvPr id="4" name="Text 2"/>
          <p:cNvSpPr/>
          <p:nvPr/>
        </p:nvSpPr>
        <p:spPr>
          <a:xfrm>
            <a:off x="10801807" y="310896"/>
            <a:ext cx="822960" cy="365760"/>
          </a:xfrm>
          <a:prstGeom prst="rect">
            <a:avLst/>
          </a:prstGeom>
          <a:noFill/>
          <a:ln/>
        </p:spPr>
        <p:txBody>
          <a:bodyPr wrap="square" lIns="0" tIns="0" rIns="0" bIns="0" rtlCol="0" anchor="ctr"/>
          <a:lstStyle/>
          <a:p>
            <a:pPr algn="r" indent="0" marL="0">
              <a:buNone/>
            </a:pPr>
            <a:r>
              <a:rPr lang="en-US" sz="1300" dirty="0">
                <a:solidFill>
                  <a:srgbClr val="A9B3C6"/>
                </a:solidFill>
                <a:latin typeface="Calibri" pitchFamily="34" charset="0"/>
                <a:ea typeface="Calibri" pitchFamily="34" charset="-122"/>
                <a:cs typeface="Calibri" pitchFamily="34" charset="-120"/>
              </a:rPr>
              <a:t>15</a:t>
            </a:r>
            <a:endParaRPr lang="en-US" sz="1300" dirty="0"/>
          </a:p>
        </p:txBody>
      </p:sp>
      <p:sp>
        <p:nvSpPr>
          <p:cNvPr id="6" name="Shape 3"/>
          <p:cNvSpPr/>
          <p:nvPr/>
        </p:nvSpPr>
        <p:spPr>
          <a:xfrm>
            <a:off x="566928" y="1783080"/>
            <a:ext cx="3520440" cy="2651760"/>
          </a:xfrm>
          <a:prstGeom prst="roundRect">
            <a:avLst>
              <a:gd name="adj" fmla="val 4138"/>
            </a:avLst>
          </a:prstGeom>
          <a:solidFill>
            <a:srgbClr val="F2F5FA"/>
          </a:solidFill>
          <a:ln w="12700">
            <a:solidFill>
              <a:srgbClr val="DCE3ED"/>
            </a:solidFill>
            <a:prstDash val="solid"/>
          </a:ln>
        </p:spPr>
      </p:sp>
      <p:sp>
        <p:nvSpPr>
          <p:cNvPr id="7" name="Shape 4"/>
          <p:cNvSpPr/>
          <p:nvPr/>
        </p:nvSpPr>
        <p:spPr>
          <a:xfrm>
            <a:off x="859536" y="2093976"/>
            <a:ext cx="566928" cy="566928"/>
          </a:xfrm>
          <a:prstGeom prst="ellipse">
            <a:avLst/>
          </a:prstGeom>
          <a:solidFill>
            <a:srgbClr val="7C6BF2"/>
          </a:solidFill>
          <a:ln/>
        </p:spPr>
      </p:sp>
      <p:pic>
        <p:nvPicPr>
          <p:cNvPr id="8" name="Image 0" descr="assets/icons/book_w.png">    </p:cNvPr>
          <p:cNvPicPr>
            <a:picLocks noChangeAspect="1"/>
          </p:cNvPicPr>
          <p:nvPr/>
        </p:nvPicPr>
        <p:blipFill>
          <a:blip r:embed="rId1"/>
          <a:stretch>
            <a:fillRect/>
          </a:stretch>
        </p:blipFill>
        <p:spPr>
          <a:xfrm>
            <a:off x="987552" y="2221992"/>
            <a:ext cx="310896" cy="310896"/>
          </a:xfrm>
          <a:prstGeom prst="rect">
            <a:avLst/>
          </a:prstGeom>
        </p:spPr>
      </p:pic>
      <p:sp>
        <p:nvSpPr>
          <p:cNvPr id="9" name="Text 5"/>
          <p:cNvSpPr/>
          <p:nvPr/>
        </p:nvSpPr>
        <p:spPr>
          <a:xfrm>
            <a:off x="1609344" y="2057400"/>
            <a:ext cx="2185416" cy="384048"/>
          </a:xfrm>
          <a:prstGeom prst="rect">
            <a:avLst/>
          </a:prstGeom>
          <a:noFill/>
          <a:ln/>
        </p:spPr>
        <p:txBody>
          <a:bodyPr wrap="square" lIns="0" tIns="0" rIns="0" bIns="0" rtlCol="0" anchor="ctr"/>
          <a:lstStyle/>
          <a:p>
            <a:pPr indent="0" marL="0">
              <a:buNone/>
            </a:pPr>
            <a:r>
              <a:rPr lang="en-US" sz="2000" b="1" dirty="0">
                <a:solidFill>
                  <a:srgbClr val="0B1437"/>
                </a:solidFill>
                <a:latin typeface="Calibri" pitchFamily="34" charset="0"/>
                <a:ea typeface="Calibri" pitchFamily="34" charset="-122"/>
                <a:cs typeface="Calibri" pitchFamily="34" charset="-120"/>
              </a:rPr>
              <a:t>NLTK</a:t>
            </a:r>
            <a:endParaRPr lang="en-US" sz="2000" dirty="0"/>
          </a:p>
        </p:txBody>
      </p:sp>
      <p:sp>
        <p:nvSpPr>
          <p:cNvPr id="10" name="Text 6"/>
          <p:cNvSpPr/>
          <p:nvPr/>
        </p:nvSpPr>
        <p:spPr>
          <a:xfrm>
            <a:off x="1609344" y="2478024"/>
            <a:ext cx="2185416" cy="1737360"/>
          </a:xfrm>
          <a:prstGeom prst="rect">
            <a:avLst/>
          </a:prstGeom>
          <a:noFill/>
          <a:ln/>
        </p:spPr>
        <p:txBody>
          <a:bodyPr wrap="square" lIns="0" tIns="0" rIns="0" bIns="0" rtlCol="0" anchor="t"/>
          <a:lstStyle/>
          <a:p>
            <a:pPr indent="0" marL="0">
              <a:lnSpc>
                <a:spcPct val="112000"/>
              </a:lnSpc>
              <a:buNone/>
            </a:pPr>
            <a:r>
              <a:rPr lang="en-US" sz="1350" dirty="0">
                <a:solidFill>
                  <a:srgbClr val="5C6784"/>
                </a:solidFill>
                <a:latin typeface="Calibri" pitchFamily="34" charset="0"/>
                <a:ea typeface="Calibri" pitchFamily="34" charset="-122"/>
                <a:cs typeface="Calibri" pitchFamily="34" charset="-120"/>
              </a:rPr>
              <a:t>Classical NLP toolkit — built for teaching and research</a:t>
            </a:r>
            <a:endParaRPr lang="en-US" sz="1350" dirty="0"/>
          </a:p>
        </p:txBody>
      </p:sp>
      <p:sp>
        <p:nvSpPr>
          <p:cNvPr id="11" name="Shape 7"/>
          <p:cNvSpPr/>
          <p:nvPr/>
        </p:nvSpPr>
        <p:spPr>
          <a:xfrm>
            <a:off x="4297680" y="1783080"/>
            <a:ext cx="3520440" cy="2651760"/>
          </a:xfrm>
          <a:prstGeom prst="roundRect">
            <a:avLst>
              <a:gd name="adj" fmla="val 4138"/>
            </a:avLst>
          </a:prstGeom>
          <a:solidFill>
            <a:srgbClr val="F2F5FA"/>
          </a:solidFill>
          <a:ln w="12700">
            <a:solidFill>
              <a:srgbClr val="DCE3ED"/>
            </a:solidFill>
            <a:prstDash val="solid"/>
          </a:ln>
        </p:spPr>
      </p:sp>
      <p:sp>
        <p:nvSpPr>
          <p:cNvPr id="12" name="Shape 8"/>
          <p:cNvSpPr/>
          <p:nvPr/>
        </p:nvSpPr>
        <p:spPr>
          <a:xfrm>
            <a:off x="4590288" y="2093976"/>
            <a:ext cx="566928" cy="566928"/>
          </a:xfrm>
          <a:prstGeom prst="ellipse">
            <a:avLst/>
          </a:prstGeom>
          <a:solidFill>
            <a:srgbClr val="2EC4B6"/>
          </a:solidFill>
          <a:ln/>
        </p:spPr>
      </p:sp>
      <p:pic>
        <p:nvPicPr>
          <p:cNvPr id="13" name="Image 1" descr="assets/icons/bolt_w.png">    </p:cNvPr>
          <p:cNvPicPr>
            <a:picLocks noChangeAspect="1"/>
          </p:cNvPicPr>
          <p:nvPr/>
        </p:nvPicPr>
        <p:blipFill>
          <a:blip r:embed="rId2"/>
          <a:stretch>
            <a:fillRect/>
          </a:stretch>
        </p:blipFill>
        <p:spPr>
          <a:xfrm>
            <a:off x="4718304" y="2221992"/>
            <a:ext cx="310896" cy="310896"/>
          </a:xfrm>
          <a:prstGeom prst="rect">
            <a:avLst/>
          </a:prstGeom>
        </p:spPr>
      </p:pic>
      <p:sp>
        <p:nvSpPr>
          <p:cNvPr id="14" name="Text 9"/>
          <p:cNvSpPr/>
          <p:nvPr/>
        </p:nvSpPr>
        <p:spPr>
          <a:xfrm>
            <a:off x="5340096" y="2057400"/>
            <a:ext cx="2185416" cy="384048"/>
          </a:xfrm>
          <a:prstGeom prst="rect">
            <a:avLst/>
          </a:prstGeom>
          <a:noFill/>
          <a:ln/>
        </p:spPr>
        <p:txBody>
          <a:bodyPr wrap="square" lIns="0" tIns="0" rIns="0" bIns="0" rtlCol="0" anchor="ctr"/>
          <a:lstStyle/>
          <a:p>
            <a:pPr indent="0" marL="0">
              <a:buNone/>
            </a:pPr>
            <a:r>
              <a:rPr lang="en-US" sz="2000" b="1" dirty="0">
                <a:solidFill>
                  <a:srgbClr val="0B1437"/>
                </a:solidFill>
                <a:latin typeface="Calibri" pitchFamily="34" charset="0"/>
                <a:ea typeface="Calibri" pitchFamily="34" charset="-122"/>
                <a:cs typeface="Calibri" pitchFamily="34" charset="-120"/>
              </a:rPr>
              <a:t>spaCy</a:t>
            </a:r>
            <a:endParaRPr lang="en-US" sz="2000" dirty="0"/>
          </a:p>
        </p:txBody>
      </p:sp>
      <p:sp>
        <p:nvSpPr>
          <p:cNvPr id="15" name="Text 10"/>
          <p:cNvSpPr/>
          <p:nvPr/>
        </p:nvSpPr>
        <p:spPr>
          <a:xfrm>
            <a:off x="5340096" y="2478024"/>
            <a:ext cx="2185416" cy="1737360"/>
          </a:xfrm>
          <a:prstGeom prst="rect">
            <a:avLst/>
          </a:prstGeom>
          <a:noFill/>
          <a:ln/>
        </p:spPr>
        <p:txBody>
          <a:bodyPr wrap="square" lIns="0" tIns="0" rIns="0" bIns="0" rtlCol="0" anchor="t"/>
          <a:lstStyle/>
          <a:p>
            <a:pPr indent="0" marL="0">
              <a:lnSpc>
                <a:spcPct val="112000"/>
              </a:lnSpc>
              <a:buNone/>
            </a:pPr>
            <a:r>
              <a:rPr lang="en-US" sz="1350" dirty="0">
                <a:solidFill>
                  <a:srgbClr val="5C6784"/>
                </a:solidFill>
                <a:latin typeface="Calibri" pitchFamily="34" charset="0"/>
                <a:ea typeface="Calibri" pitchFamily="34" charset="-122"/>
                <a:cs typeface="Calibri" pitchFamily="34" charset="-120"/>
              </a:rPr>
              <a:t>Modern, production-ready library — fast and opinionated</a:t>
            </a:r>
            <a:endParaRPr lang="en-US" sz="1350" dirty="0"/>
          </a:p>
        </p:txBody>
      </p:sp>
      <p:sp>
        <p:nvSpPr>
          <p:cNvPr id="16" name="Shape 11"/>
          <p:cNvSpPr/>
          <p:nvPr/>
        </p:nvSpPr>
        <p:spPr>
          <a:xfrm>
            <a:off x="8028432" y="1783080"/>
            <a:ext cx="3520440" cy="2651760"/>
          </a:xfrm>
          <a:prstGeom prst="roundRect">
            <a:avLst>
              <a:gd name="adj" fmla="val 4138"/>
            </a:avLst>
          </a:prstGeom>
          <a:solidFill>
            <a:srgbClr val="F2F5FA"/>
          </a:solidFill>
          <a:ln w="12700">
            <a:solidFill>
              <a:srgbClr val="DCE3ED"/>
            </a:solidFill>
            <a:prstDash val="solid"/>
          </a:ln>
        </p:spPr>
      </p:sp>
      <p:sp>
        <p:nvSpPr>
          <p:cNvPr id="17" name="Shape 12"/>
          <p:cNvSpPr/>
          <p:nvPr/>
        </p:nvSpPr>
        <p:spPr>
          <a:xfrm>
            <a:off x="8321040" y="2093976"/>
            <a:ext cx="566928" cy="566928"/>
          </a:xfrm>
          <a:prstGeom prst="ellipse">
            <a:avLst/>
          </a:prstGeom>
          <a:solidFill>
            <a:srgbClr val="FFB703"/>
          </a:solidFill>
          <a:ln/>
        </p:spPr>
      </p:sp>
      <p:pic>
        <p:nvPicPr>
          <p:cNvPr id="18" name="Image 2" descr="assets/icons/robot_w.png">    </p:cNvPr>
          <p:cNvPicPr>
            <a:picLocks noChangeAspect="1"/>
          </p:cNvPicPr>
          <p:nvPr/>
        </p:nvPicPr>
        <p:blipFill>
          <a:blip r:embed="rId3"/>
          <a:stretch>
            <a:fillRect/>
          </a:stretch>
        </p:blipFill>
        <p:spPr>
          <a:xfrm>
            <a:off x="8449056" y="2221992"/>
            <a:ext cx="310896" cy="310896"/>
          </a:xfrm>
          <a:prstGeom prst="rect">
            <a:avLst/>
          </a:prstGeom>
        </p:spPr>
      </p:pic>
      <p:sp>
        <p:nvSpPr>
          <p:cNvPr id="19" name="Text 13"/>
          <p:cNvSpPr/>
          <p:nvPr/>
        </p:nvSpPr>
        <p:spPr>
          <a:xfrm>
            <a:off x="9070848" y="2057400"/>
            <a:ext cx="2185416" cy="384048"/>
          </a:xfrm>
          <a:prstGeom prst="rect">
            <a:avLst/>
          </a:prstGeom>
          <a:noFill/>
          <a:ln/>
        </p:spPr>
        <p:txBody>
          <a:bodyPr wrap="square" lIns="0" tIns="0" rIns="0" bIns="0" rtlCol="0" anchor="ctr"/>
          <a:lstStyle/>
          <a:p>
            <a:pPr indent="0" marL="0">
              <a:buNone/>
            </a:pPr>
            <a:r>
              <a:rPr lang="en-US" sz="2000" b="1" dirty="0">
                <a:solidFill>
                  <a:srgbClr val="0B1437"/>
                </a:solidFill>
                <a:latin typeface="Calibri" pitchFamily="34" charset="0"/>
                <a:ea typeface="Calibri" pitchFamily="34" charset="-122"/>
                <a:cs typeface="Calibri" pitchFamily="34" charset="-120"/>
              </a:rPr>
              <a:t>Hugging Face Transformers</a:t>
            </a:r>
            <a:endParaRPr lang="en-US" sz="2000" dirty="0"/>
          </a:p>
        </p:txBody>
      </p:sp>
      <p:sp>
        <p:nvSpPr>
          <p:cNvPr id="20" name="Text 14"/>
          <p:cNvSpPr/>
          <p:nvPr/>
        </p:nvSpPr>
        <p:spPr>
          <a:xfrm>
            <a:off x="9070848" y="2478024"/>
            <a:ext cx="2185416" cy="1737360"/>
          </a:xfrm>
          <a:prstGeom prst="rect">
            <a:avLst/>
          </a:prstGeom>
          <a:noFill/>
          <a:ln/>
        </p:spPr>
        <p:txBody>
          <a:bodyPr wrap="square" lIns="0" tIns="0" rIns="0" bIns="0" rtlCol="0" anchor="t"/>
          <a:lstStyle/>
          <a:p>
            <a:pPr indent="0" marL="0">
              <a:lnSpc>
                <a:spcPct val="112000"/>
              </a:lnSpc>
              <a:buNone/>
            </a:pPr>
            <a:r>
              <a:rPr lang="en-US" sz="1350" dirty="0">
                <a:solidFill>
                  <a:srgbClr val="5C6784"/>
                </a:solidFill>
                <a:latin typeface="Calibri" pitchFamily="34" charset="0"/>
                <a:ea typeface="Calibri" pitchFamily="34" charset="-122"/>
                <a:cs typeface="Calibri" pitchFamily="34" charset="-120"/>
              </a:rPr>
              <a:t>Thousands of pre-trained models, one API</a:t>
            </a:r>
            <a:endParaRPr lang="en-US" sz="1350" dirty="0"/>
          </a:p>
        </p:txBody>
      </p:sp>
      <p:sp>
        <p:nvSpPr>
          <p:cNvPr id="21" name="Shape 15"/>
          <p:cNvSpPr/>
          <p:nvPr/>
        </p:nvSpPr>
        <p:spPr>
          <a:xfrm>
            <a:off x="566928" y="4663440"/>
            <a:ext cx="11064240" cy="1463040"/>
          </a:xfrm>
          <a:prstGeom prst="roundRect">
            <a:avLst>
              <a:gd name="adj" fmla="val 6250"/>
            </a:avLst>
          </a:prstGeom>
          <a:solidFill>
            <a:srgbClr val="0B1437"/>
          </a:solidFill>
          <a:ln w="12700">
            <a:solidFill>
              <a:srgbClr val="16204A"/>
            </a:solidFill>
            <a:prstDash val="solid"/>
          </a:ln>
        </p:spPr>
      </p:sp>
      <p:sp>
        <p:nvSpPr>
          <p:cNvPr id="22" name="Text 16"/>
          <p:cNvSpPr/>
          <p:nvPr/>
        </p:nvSpPr>
        <p:spPr>
          <a:xfrm>
            <a:off x="804672" y="4791456"/>
            <a:ext cx="10607040" cy="237744"/>
          </a:xfrm>
          <a:prstGeom prst="rect">
            <a:avLst/>
          </a:prstGeom>
          <a:noFill/>
          <a:ln/>
        </p:spPr>
        <p:txBody>
          <a:bodyPr wrap="square" lIns="0" tIns="0" rIns="0" bIns="0" rtlCol="0" anchor="ctr"/>
          <a:lstStyle/>
          <a:p>
            <a:pPr indent="0" marL="0">
              <a:buNone/>
            </a:pPr>
            <a:r>
              <a:rPr lang="en-US" sz="1100" b="1" spc="100" kern="0" dirty="0">
                <a:solidFill>
                  <a:srgbClr val="2EC4B6"/>
                </a:solidFill>
                <a:latin typeface="Calibri" pitchFamily="34" charset="0"/>
                <a:ea typeface="Calibri" pitchFamily="34" charset="-122"/>
                <a:cs typeface="Calibri" pitchFamily="34" charset="-120"/>
              </a:rPr>
              <a:t>GET SET UP</a:t>
            </a:r>
            <a:endParaRPr lang="en-US" sz="1100" dirty="0"/>
          </a:p>
        </p:txBody>
      </p:sp>
      <p:sp>
        <p:nvSpPr>
          <p:cNvPr id="23" name="Text 17"/>
          <p:cNvSpPr/>
          <p:nvPr/>
        </p:nvSpPr>
        <p:spPr>
          <a:xfrm>
            <a:off x="804672" y="5065776"/>
            <a:ext cx="10607040" cy="914400"/>
          </a:xfrm>
          <a:prstGeom prst="rect">
            <a:avLst/>
          </a:prstGeom>
          <a:noFill/>
          <a:ln/>
        </p:spPr>
        <p:txBody>
          <a:bodyPr wrap="square" lIns="0" tIns="0" rIns="0" bIns="0" rtlCol="0" anchor="t"/>
          <a:lstStyle/>
          <a:p>
            <a:pPr indent="0" marL="0">
              <a:lnSpc>
                <a:spcPct val="106000"/>
              </a:lnSpc>
              <a:buNone/>
            </a:pPr>
            <a:r>
              <a:rPr lang="en-US" sz="1250" dirty="0">
                <a:solidFill>
                  <a:srgbClr val="EAF0FA"/>
                </a:solidFill>
                <a:latin typeface="Courier New" pitchFamily="34" charset="0"/>
                <a:ea typeface="Courier New" pitchFamily="34" charset="-122"/>
                <a:cs typeface="Courier New" pitchFamily="34" charset="-120"/>
              </a:rPr>
              <a:t>pip install nltk spacy transformers scikit-learn</a:t>
            </a:r>
            <a:endParaRPr lang="en-US" sz="1250" dirty="0"/>
          </a:p>
          <a:p>
            <a:pPr indent="0" marL="0">
              <a:lnSpc>
                <a:spcPct val="106000"/>
              </a:lnSpc>
              <a:buNone/>
            </a:pPr>
            <a:r>
              <a:rPr lang="en-US" sz="1250" dirty="0">
                <a:solidFill>
                  <a:srgbClr val="EAF0FA"/>
                </a:solidFill>
                <a:latin typeface="Courier New" pitchFamily="34" charset="0"/>
                <a:ea typeface="Courier New" pitchFamily="34" charset="-122"/>
                <a:cs typeface="Courier New" pitchFamily="34" charset="-120"/>
              </a:rPr>
              <a:t>python -m spacy download en_core_web_sm   # small English model</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74320"/>
          </a:xfrm>
          <a:prstGeom prst="rect">
            <a:avLst/>
          </a:prstGeom>
          <a:noFill/>
          <a:ln/>
        </p:spPr>
        <p:txBody>
          <a:bodyPr wrap="square" lIns="0" tIns="0" rIns="0" bIns="0" rtlCol="0" anchor="ctr"/>
          <a:lstStyle/>
          <a:p>
            <a:pPr algn="l" indent="0" marL="0">
              <a:buNone/>
            </a:pPr>
            <a:r>
              <a:rPr lang="en-US" sz="1200" b="1" spc="200" kern="0" dirty="0">
                <a:solidFill>
                  <a:srgbClr val="13887E"/>
                </a:solidFill>
                <a:latin typeface="Calibri" pitchFamily="34" charset="0"/>
                <a:ea typeface="Calibri" pitchFamily="34" charset="-122"/>
                <a:cs typeface="Calibri" pitchFamily="34" charset="-120"/>
              </a:rPr>
              <a:t>DEEP DIVE</a:t>
            </a:r>
            <a:endParaRPr lang="en-US" sz="1200" dirty="0"/>
          </a:p>
        </p:txBody>
      </p:sp>
      <p:sp>
        <p:nvSpPr>
          <p:cNvPr id="3" name="Text 1"/>
          <p:cNvSpPr/>
          <p:nvPr/>
        </p:nvSpPr>
        <p:spPr>
          <a:xfrm>
            <a:off x="566928" y="621792"/>
            <a:ext cx="10143439" cy="777240"/>
          </a:xfrm>
          <a:prstGeom prst="rect">
            <a:avLst/>
          </a:prstGeom>
          <a:noFill/>
          <a:ln/>
        </p:spPr>
        <p:txBody>
          <a:bodyPr wrap="square" lIns="0" tIns="0" rIns="0" bIns="0" rtlCol="0" anchor="t"/>
          <a:lstStyle/>
          <a:p>
            <a:pPr indent="0" marL="0">
              <a:buNone/>
            </a:pPr>
            <a:r>
              <a:rPr lang="en-US" sz="3600" b="1" dirty="0">
                <a:solidFill>
                  <a:srgbClr val="0B1437"/>
                </a:solidFill>
                <a:latin typeface="Cambria" pitchFamily="34" charset="0"/>
                <a:ea typeface="Cambria" pitchFamily="34" charset="-122"/>
                <a:cs typeface="Cambria" pitchFamily="34" charset="-120"/>
              </a:rPr>
              <a:t>NLTK Overview</a:t>
            </a:r>
            <a:endParaRPr lang="en-US" sz="3600" dirty="0"/>
          </a:p>
        </p:txBody>
      </p:sp>
      <p:sp>
        <p:nvSpPr>
          <p:cNvPr id="4" name="Text 2"/>
          <p:cNvSpPr/>
          <p:nvPr/>
        </p:nvSpPr>
        <p:spPr>
          <a:xfrm>
            <a:off x="10801807" y="310896"/>
            <a:ext cx="822960" cy="365760"/>
          </a:xfrm>
          <a:prstGeom prst="rect">
            <a:avLst/>
          </a:prstGeom>
          <a:noFill/>
          <a:ln/>
        </p:spPr>
        <p:txBody>
          <a:bodyPr wrap="square" lIns="0" tIns="0" rIns="0" bIns="0" rtlCol="0" anchor="ctr"/>
          <a:lstStyle/>
          <a:p>
            <a:pPr algn="r" indent="0" marL="0">
              <a:buNone/>
            </a:pPr>
            <a:r>
              <a:rPr lang="en-US" sz="1300" dirty="0">
                <a:solidFill>
                  <a:srgbClr val="A9B3C6"/>
                </a:solidFill>
                <a:latin typeface="Calibri" pitchFamily="34" charset="0"/>
                <a:ea typeface="Calibri" pitchFamily="34" charset="-122"/>
                <a:cs typeface="Calibri" pitchFamily="34" charset="-120"/>
              </a:rPr>
              <a:t>16</a:t>
            </a:r>
            <a:endParaRPr lang="en-US" sz="1300" dirty="0"/>
          </a:p>
        </p:txBody>
      </p:sp>
      <p:sp>
        <p:nvSpPr>
          <p:cNvPr id="6" name="Shape 3"/>
          <p:cNvSpPr/>
          <p:nvPr/>
        </p:nvSpPr>
        <p:spPr>
          <a:xfrm>
            <a:off x="566928" y="1783080"/>
            <a:ext cx="5394960" cy="914400"/>
          </a:xfrm>
          <a:prstGeom prst="roundRect">
            <a:avLst>
              <a:gd name="adj" fmla="val 12000"/>
            </a:avLst>
          </a:prstGeom>
          <a:solidFill>
            <a:srgbClr val="F2F5FA"/>
          </a:solidFill>
          <a:ln w="12700">
            <a:solidFill>
              <a:srgbClr val="DCE3ED"/>
            </a:solidFill>
            <a:prstDash val="solid"/>
          </a:ln>
        </p:spPr>
      </p:sp>
      <p:sp>
        <p:nvSpPr>
          <p:cNvPr id="7" name="Text 4"/>
          <p:cNvSpPr/>
          <p:nvPr/>
        </p:nvSpPr>
        <p:spPr>
          <a:xfrm>
            <a:off x="877824" y="2011680"/>
            <a:ext cx="4791456" cy="384048"/>
          </a:xfrm>
          <a:prstGeom prst="rect">
            <a:avLst/>
          </a:prstGeom>
          <a:noFill/>
          <a:ln/>
        </p:spPr>
        <p:txBody>
          <a:bodyPr wrap="square" lIns="0" tIns="0" rIns="0" bIns="0" rtlCol="0" anchor="ctr"/>
          <a:lstStyle/>
          <a:p>
            <a:pPr indent="0" marL="0">
              <a:buNone/>
            </a:pPr>
            <a:r>
              <a:rPr lang="en-US" sz="1600" b="1" dirty="0">
                <a:solidFill>
                  <a:srgbClr val="0B1437"/>
                </a:solidFill>
                <a:latin typeface="Calibri" pitchFamily="34" charset="0"/>
                <a:ea typeface="Calibri" pitchFamily="34" charset="-122"/>
                <a:cs typeface="Calibri" pitchFamily="34" charset="-120"/>
              </a:rPr>
              <a:t>Great for teaching &amp; research</a:t>
            </a:r>
            <a:endParaRPr lang="en-US" sz="1600" dirty="0"/>
          </a:p>
        </p:txBody>
      </p:sp>
      <p:sp>
        <p:nvSpPr>
          <p:cNvPr id="8" name="Shape 5"/>
          <p:cNvSpPr/>
          <p:nvPr/>
        </p:nvSpPr>
        <p:spPr>
          <a:xfrm>
            <a:off x="841248" y="2167128"/>
            <a:ext cx="146304" cy="146304"/>
          </a:xfrm>
          <a:prstGeom prst="ellipse">
            <a:avLst/>
          </a:prstGeom>
          <a:solidFill>
            <a:srgbClr val="2EC4B6"/>
          </a:solidFill>
          <a:ln/>
        </p:spPr>
      </p:sp>
      <p:sp>
        <p:nvSpPr>
          <p:cNvPr id="9" name="Shape 6"/>
          <p:cNvSpPr/>
          <p:nvPr/>
        </p:nvSpPr>
        <p:spPr>
          <a:xfrm>
            <a:off x="566928" y="2843784"/>
            <a:ext cx="5394960" cy="914400"/>
          </a:xfrm>
          <a:prstGeom prst="roundRect">
            <a:avLst>
              <a:gd name="adj" fmla="val 12000"/>
            </a:avLst>
          </a:prstGeom>
          <a:solidFill>
            <a:srgbClr val="F2F5FA"/>
          </a:solidFill>
          <a:ln w="12700">
            <a:solidFill>
              <a:srgbClr val="DCE3ED"/>
            </a:solidFill>
            <a:prstDash val="solid"/>
          </a:ln>
        </p:spPr>
      </p:sp>
      <p:sp>
        <p:nvSpPr>
          <p:cNvPr id="10" name="Text 7"/>
          <p:cNvSpPr/>
          <p:nvPr/>
        </p:nvSpPr>
        <p:spPr>
          <a:xfrm>
            <a:off x="877824" y="3072384"/>
            <a:ext cx="4791456" cy="384048"/>
          </a:xfrm>
          <a:prstGeom prst="rect">
            <a:avLst/>
          </a:prstGeom>
          <a:noFill/>
          <a:ln/>
        </p:spPr>
        <p:txBody>
          <a:bodyPr wrap="square" lIns="0" tIns="0" rIns="0" bIns="0" rtlCol="0" anchor="ctr"/>
          <a:lstStyle/>
          <a:p>
            <a:pPr indent="0" marL="0">
              <a:buNone/>
            </a:pPr>
            <a:r>
              <a:rPr lang="en-US" sz="1600" b="1" dirty="0">
                <a:solidFill>
                  <a:srgbClr val="0B1437"/>
                </a:solidFill>
                <a:latin typeface="Calibri" pitchFamily="34" charset="0"/>
                <a:ea typeface="Calibri" pitchFamily="34" charset="-122"/>
                <a:cs typeface="Calibri" pitchFamily="34" charset="-120"/>
              </a:rPr>
              <a:t>Includes tokenization, stemming, POS tagging</a:t>
            </a:r>
            <a:endParaRPr lang="en-US" sz="1600" dirty="0"/>
          </a:p>
        </p:txBody>
      </p:sp>
      <p:sp>
        <p:nvSpPr>
          <p:cNvPr id="11" name="Shape 8"/>
          <p:cNvSpPr/>
          <p:nvPr/>
        </p:nvSpPr>
        <p:spPr>
          <a:xfrm>
            <a:off x="841248" y="3227832"/>
            <a:ext cx="146304" cy="146304"/>
          </a:xfrm>
          <a:prstGeom prst="ellipse">
            <a:avLst/>
          </a:prstGeom>
          <a:solidFill>
            <a:srgbClr val="7C6BF2"/>
          </a:solidFill>
          <a:ln/>
        </p:spPr>
      </p:sp>
      <p:sp>
        <p:nvSpPr>
          <p:cNvPr id="12" name="Shape 9"/>
          <p:cNvSpPr/>
          <p:nvPr/>
        </p:nvSpPr>
        <p:spPr>
          <a:xfrm>
            <a:off x="566928" y="3904488"/>
            <a:ext cx="5394960" cy="914400"/>
          </a:xfrm>
          <a:prstGeom prst="roundRect">
            <a:avLst>
              <a:gd name="adj" fmla="val 12000"/>
            </a:avLst>
          </a:prstGeom>
          <a:solidFill>
            <a:srgbClr val="F2F5FA"/>
          </a:solidFill>
          <a:ln w="12700">
            <a:solidFill>
              <a:srgbClr val="DCE3ED"/>
            </a:solidFill>
            <a:prstDash val="solid"/>
          </a:ln>
        </p:spPr>
      </p:sp>
      <p:sp>
        <p:nvSpPr>
          <p:cNvPr id="13" name="Text 10"/>
          <p:cNvSpPr/>
          <p:nvPr/>
        </p:nvSpPr>
        <p:spPr>
          <a:xfrm>
            <a:off x="877824" y="4133088"/>
            <a:ext cx="4791456" cy="384048"/>
          </a:xfrm>
          <a:prstGeom prst="rect">
            <a:avLst/>
          </a:prstGeom>
          <a:noFill/>
          <a:ln/>
        </p:spPr>
        <p:txBody>
          <a:bodyPr wrap="square" lIns="0" tIns="0" rIns="0" bIns="0" rtlCol="0" anchor="ctr"/>
          <a:lstStyle/>
          <a:p>
            <a:pPr indent="0" marL="0">
              <a:buNone/>
            </a:pPr>
            <a:r>
              <a:rPr lang="en-US" sz="1600" b="1" dirty="0">
                <a:solidFill>
                  <a:srgbClr val="0B1437"/>
                </a:solidFill>
                <a:latin typeface="Calibri" pitchFamily="34" charset="0"/>
                <a:ea typeface="Calibri" pitchFamily="34" charset="-122"/>
                <a:cs typeface="Calibri" pitchFamily="34" charset="-120"/>
              </a:rPr>
              <a:t>Slower, not designed for production</a:t>
            </a:r>
            <a:endParaRPr lang="en-US" sz="1600" dirty="0"/>
          </a:p>
        </p:txBody>
      </p:sp>
      <p:sp>
        <p:nvSpPr>
          <p:cNvPr id="14" name="Shape 11"/>
          <p:cNvSpPr/>
          <p:nvPr/>
        </p:nvSpPr>
        <p:spPr>
          <a:xfrm>
            <a:off x="841248" y="4288536"/>
            <a:ext cx="146304" cy="146304"/>
          </a:xfrm>
          <a:prstGeom prst="ellipse">
            <a:avLst/>
          </a:prstGeom>
          <a:solidFill>
            <a:srgbClr val="FFB703"/>
          </a:solidFill>
          <a:ln/>
        </p:spPr>
      </p:sp>
      <p:sp>
        <p:nvSpPr>
          <p:cNvPr id="15" name="Text 12"/>
          <p:cNvSpPr/>
          <p:nvPr/>
        </p:nvSpPr>
        <p:spPr>
          <a:xfrm>
            <a:off x="566928" y="5074920"/>
            <a:ext cx="5394960" cy="822960"/>
          </a:xfrm>
          <a:prstGeom prst="rect">
            <a:avLst/>
          </a:prstGeom>
          <a:noFill/>
          <a:ln/>
        </p:spPr>
        <p:txBody>
          <a:bodyPr wrap="square" lIns="0" tIns="0" rIns="0" bIns="0" rtlCol="0" anchor="ctr"/>
          <a:lstStyle/>
          <a:p>
            <a:pPr indent="0" marL="0">
              <a:buNone/>
            </a:pPr>
            <a:r>
              <a:rPr lang="en-US" sz="1400" i="1" dirty="0">
                <a:solidFill>
                  <a:srgbClr val="5C6784"/>
                </a:solidFill>
                <a:latin typeface="Calibri" pitchFamily="34" charset="0"/>
                <a:ea typeface="Calibri" pitchFamily="34" charset="-122"/>
                <a:cs typeface="Calibri" pitchFamily="34" charset="-120"/>
              </a:rPr>
              <a:t>Think of NLTK as your training wheels — excellent for learning how NLP works under the hood.</a:t>
            </a:r>
            <a:endParaRPr lang="en-US" sz="1400" dirty="0"/>
          </a:p>
        </p:txBody>
      </p:sp>
      <p:sp>
        <p:nvSpPr>
          <p:cNvPr id="16" name="Shape 13"/>
          <p:cNvSpPr/>
          <p:nvPr/>
        </p:nvSpPr>
        <p:spPr>
          <a:xfrm>
            <a:off x="6355080" y="1783080"/>
            <a:ext cx="5285232" cy="4114800"/>
          </a:xfrm>
          <a:prstGeom prst="roundRect">
            <a:avLst>
              <a:gd name="adj" fmla="val 2222"/>
            </a:avLst>
          </a:prstGeom>
          <a:solidFill>
            <a:srgbClr val="0B1437"/>
          </a:solidFill>
          <a:ln w="12700">
            <a:solidFill>
              <a:srgbClr val="16204A"/>
            </a:solidFill>
            <a:prstDash val="solid"/>
          </a:ln>
        </p:spPr>
      </p:sp>
      <p:sp>
        <p:nvSpPr>
          <p:cNvPr id="17" name="Text 14"/>
          <p:cNvSpPr/>
          <p:nvPr/>
        </p:nvSpPr>
        <p:spPr>
          <a:xfrm>
            <a:off x="6592824" y="1911096"/>
            <a:ext cx="4828032" cy="237744"/>
          </a:xfrm>
          <a:prstGeom prst="rect">
            <a:avLst/>
          </a:prstGeom>
          <a:noFill/>
          <a:ln/>
        </p:spPr>
        <p:txBody>
          <a:bodyPr wrap="square" lIns="0" tIns="0" rIns="0" bIns="0" rtlCol="0" anchor="ctr"/>
          <a:lstStyle/>
          <a:p>
            <a:pPr indent="0" marL="0">
              <a:buNone/>
            </a:pPr>
            <a:r>
              <a:rPr lang="en-US" sz="1100" b="1" spc="100" kern="0" dirty="0">
                <a:solidFill>
                  <a:srgbClr val="2EC4B6"/>
                </a:solidFill>
                <a:latin typeface="Calibri" pitchFamily="34" charset="0"/>
                <a:ea typeface="Calibri" pitchFamily="34" charset="-122"/>
                <a:cs typeface="Calibri" pitchFamily="34" charset="-120"/>
              </a:rPr>
              <a:t>NLTK IN PRACTICE</a:t>
            </a:r>
            <a:endParaRPr lang="en-US" sz="1100" dirty="0"/>
          </a:p>
        </p:txBody>
      </p:sp>
      <p:sp>
        <p:nvSpPr>
          <p:cNvPr id="18" name="Text 15"/>
          <p:cNvSpPr/>
          <p:nvPr/>
        </p:nvSpPr>
        <p:spPr>
          <a:xfrm>
            <a:off x="6592824" y="2185416"/>
            <a:ext cx="4828032" cy="3566160"/>
          </a:xfrm>
          <a:prstGeom prst="rect">
            <a:avLst/>
          </a:prstGeom>
          <a:noFill/>
          <a:ln/>
        </p:spPr>
        <p:txBody>
          <a:bodyPr wrap="square" lIns="0" tIns="0" rIns="0" bIns="0" rtlCol="0" anchor="t"/>
          <a:lstStyle/>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import nltk</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from nltk.tokenize import word_tokenize</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from nltk.corpus import stopwords</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from nltk.stem import WordNetLemmatizer</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text = "The striped bats are hanging"</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tokens = word_tokenize(text.lower())</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7FE3D8"/>
                </a:solidFill>
                <a:latin typeface="Courier New" pitchFamily="34" charset="0"/>
                <a:ea typeface="Courier New" pitchFamily="34" charset="-122"/>
                <a:cs typeface="Courier New" pitchFamily="34" charset="-120"/>
              </a:rPr>
              <a:t># 1. drop stop-words</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stop = set(stopwords.words("english"))</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tokens = [t for t in tokens if t not in stop]</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7FE3D8"/>
                </a:solidFill>
                <a:latin typeface="Courier New" pitchFamily="34" charset="0"/>
                <a:ea typeface="Courier New" pitchFamily="34" charset="-122"/>
                <a:cs typeface="Courier New" pitchFamily="34" charset="-120"/>
              </a:rPr>
              <a:t># 2. lemmatize + POS tag</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lem = WordNetLemmatizer()</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roots = [lem.lemmatize(t, "v") for t in tokens]</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nltk.pos_tag(roots)</a:t>
            </a:r>
            <a:endParaRPr lang="en-US" sz="1100" dirty="0"/>
          </a:p>
          <a:p>
            <a:pPr indent="0" marL="0">
              <a:lnSpc>
                <a:spcPct val="106000"/>
              </a:lnSpc>
              <a:buNone/>
            </a:pPr>
            <a:r>
              <a:rPr lang="en-US" sz="1100" dirty="0">
                <a:solidFill>
                  <a:srgbClr val="7FE3D8"/>
                </a:solidFill>
                <a:latin typeface="Courier New" pitchFamily="34" charset="0"/>
                <a:ea typeface="Courier New" pitchFamily="34" charset="-122"/>
                <a:cs typeface="Courier New" pitchFamily="34" charset="-120"/>
              </a:rPr>
              <a:t># [('striped','JJ'), ('bat','NN'), ('hang','VB')]</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74320"/>
          </a:xfrm>
          <a:prstGeom prst="rect">
            <a:avLst/>
          </a:prstGeom>
          <a:noFill/>
          <a:ln/>
        </p:spPr>
        <p:txBody>
          <a:bodyPr wrap="square" lIns="0" tIns="0" rIns="0" bIns="0" rtlCol="0" anchor="ctr"/>
          <a:lstStyle/>
          <a:p>
            <a:pPr algn="l" indent="0" marL="0">
              <a:buNone/>
            </a:pPr>
            <a:r>
              <a:rPr lang="en-US" sz="1200" b="1" spc="200" kern="0" dirty="0">
                <a:solidFill>
                  <a:srgbClr val="13887E"/>
                </a:solidFill>
                <a:latin typeface="Calibri" pitchFamily="34" charset="0"/>
                <a:ea typeface="Calibri" pitchFamily="34" charset="-122"/>
                <a:cs typeface="Calibri" pitchFamily="34" charset="-120"/>
              </a:rPr>
              <a:t>DEEP DIVE</a:t>
            </a:r>
            <a:endParaRPr lang="en-US" sz="1200" dirty="0"/>
          </a:p>
        </p:txBody>
      </p:sp>
      <p:sp>
        <p:nvSpPr>
          <p:cNvPr id="3" name="Text 1"/>
          <p:cNvSpPr/>
          <p:nvPr/>
        </p:nvSpPr>
        <p:spPr>
          <a:xfrm>
            <a:off x="566928" y="621792"/>
            <a:ext cx="10143439" cy="777240"/>
          </a:xfrm>
          <a:prstGeom prst="rect">
            <a:avLst/>
          </a:prstGeom>
          <a:noFill/>
          <a:ln/>
        </p:spPr>
        <p:txBody>
          <a:bodyPr wrap="square" lIns="0" tIns="0" rIns="0" bIns="0" rtlCol="0" anchor="t"/>
          <a:lstStyle/>
          <a:p>
            <a:pPr indent="0" marL="0">
              <a:buNone/>
            </a:pPr>
            <a:r>
              <a:rPr lang="en-US" sz="3600" b="1" dirty="0">
                <a:solidFill>
                  <a:srgbClr val="0B1437"/>
                </a:solidFill>
                <a:latin typeface="Cambria" pitchFamily="34" charset="0"/>
                <a:ea typeface="Cambria" pitchFamily="34" charset="-122"/>
                <a:cs typeface="Cambria" pitchFamily="34" charset="-120"/>
              </a:rPr>
              <a:t>spaCy Overview</a:t>
            </a:r>
            <a:endParaRPr lang="en-US" sz="3600" dirty="0"/>
          </a:p>
        </p:txBody>
      </p:sp>
      <p:sp>
        <p:nvSpPr>
          <p:cNvPr id="4" name="Text 2"/>
          <p:cNvSpPr/>
          <p:nvPr/>
        </p:nvSpPr>
        <p:spPr>
          <a:xfrm>
            <a:off x="10801807" y="310896"/>
            <a:ext cx="822960" cy="365760"/>
          </a:xfrm>
          <a:prstGeom prst="rect">
            <a:avLst/>
          </a:prstGeom>
          <a:noFill/>
          <a:ln/>
        </p:spPr>
        <p:txBody>
          <a:bodyPr wrap="square" lIns="0" tIns="0" rIns="0" bIns="0" rtlCol="0" anchor="ctr"/>
          <a:lstStyle/>
          <a:p>
            <a:pPr algn="r" indent="0" marL="0">
              <a:buNone/>
            </a:pPr>
            <a:r>
              <a:rPr lang="en-US" sz="1300" dirty="0">
                <a:solidFill>
                  <a:srgbClr val="A9B3C6"/>
                </a:solidFill>
                <a:latin typeface="Calibri" pitchFamily="34" charset="0"/>
                <a:ea typeface="Calibri" pitchFamily="34" charset="-122"/>
                <a:cs typeface="Calibri" pitchFamily="34" charset="-120"/>
              </a:rPr>
              <a:t>17</a:t>
            </a:r>
            <a:endParaRPr lang="en-US" sz="1300" dirty="0"/>
          </a:p>
        </p:txBody>
      </p:sp>
      <p:sp>
        <p:nvSpPr>
          <p:cNvPr id="6" name="Shape 3"/>
          <p:cNvSpPr/>
          <p:nvPr/>
        </p:nvSpPr>
        <p:spPr>
          <a:xfrm>
            <a:off x="566928" y="1783080"/>
            <a:ext cx="5394960" cy="877824"/>
          </a:xfrm>
          <a:prstGeom prst="roundRect">
            <a:avLst>
              <a:gd name="adj" fmla="val 12500"/>
            </a:avLst>
          </a:prstGeom>
          <a:solidFill>
            <a:srgbClr val="F2F5FA"/>
          </a:solidFill>
          <a:ln w="12700">
            <a:solidFill>
              <a:srgbClr val="DCE3ED"/>
            </a:solidFill>
            <a:prstDash val="solid"/>
          </a:ln>
        </p:spPr>
      </p:sp>
      <p:sp>
        <p:nvSpPr>
          <p:cNvPr id="7" name="Text 4"/>
          <p:cNvSpPr/>
          <p:nvPr/>
        </p:nvSpPr>
        <p:spPr>
          <a:xfrm>
            <a:off x="877824" y="1993392"/>
            <a:ext cx="4791456" cy="384048"/>
          </a:xfrm>
          <a:prstGeom prst="rect">
            <a:avLst/>
          </a:prstGeom>
          <a:noFill/>
          <a:ln/>
        </p:spPr>
        <p:txBody>
          <a:bodyPr wrap="square" lIns="0" tIns="0" rIns="0" bIns="0" rtlCol="0" anchor="ctr"/>
          <a:lstStyle/>
          <a:p>
            <a:pPr indent="0" marL="0">
              <a:buNone/>
            </a:pPr>
            <a:r>
              <a:rPr lang="en-US" sz="1600" b="1" dirty="0">
                <a:solidFill>
                  <a:srgbClr val="0B1437"/>
                </a:solidFill>
                <a:latin typeface="Calibri" pitchFamily="34" charset="0"/>
                <a:ea typeface="Calibri" pitchFamily="34" charset="-122"/>
                <a:cs typeface="Calibri" pitchFamily="34" charset="-120"/>
              </a:rPr>
              <a:t>Industrial-strength NLP</a:t>
            </a:r>
            <a:endParaRPr lang="en-US" sz="1600" dirty="0"/>
          </a:p>
        </p:txBody>
      </p:sp>
      <p:sp>
        <p:nvSpPr>
          <p:cNvPr id="8" name="Shape 5"/>
          <p:cNvSpPr/>
          <p:nvPr/>
        </p:nvSpPr>
        <p:spPr>
          <a:xfrm>
            <a:off x="841248" y="2148840"/>
            <a:ext cx="146304" cy="146304"/>
          </a:xfrm>
          <a:prstGeom prst="ellipse">
            <a:avLst/>
          </a:prstGeom>
          <a:solidFill>
            <a:srgbClr val="2EC4B6"/>
          </a:solidFill>
          <a:ln/>
        </p:spPr>
      </p:sp>
      <p:sp>
        <p:nvSpPr>
          <p:cNvPr id="9" name="Shape 6"/>
          <p:cNvSpPr/>
          <p:nvPr/>
        </p:nvSpPr>
        <p:spPr>
          <a:xfrm>
            <a:off x="566928" y="2807208"/>
            <a:ext cx="5394960" cy="877824"/>
          </a:xfrm>
          <a:prstGeom prst="roundRect">
            <a:avLst>
              <a:gd name="adj" fmla="val 12500"/>
            </a:avLst>
          </a:prstGeom>
          <a:solidFill>
            <a:srgbClr val="F2F5FA"/>
          </a:solidFill>
          <a:ln w="12700">
            <a:solidFill>
              <a:srgbClr val="DCE3ED"/>
            </a:solidFill>
            <a:prstDash val="solid"/>
          </a:ln>
        </p:spPr>
      </p:sp>
      <p:sp>
        <p:nvSpPr>
          <p:cNvPr id="10" name="Text 7"/>
          <p:cNvSpPr/>
          <p:nvPr/>
        </p:nvSpPr>
        <p:spPr>
          <a:xfrm>
            <a:off x="877824" y="3017520"/>
            <a:ext cx="4791456" cy="384048"/>
          </a:xfrm>
          <a:prstGeom prst="rect">
            <a:avLst/>
          </a:prstGeom>
          <a:noFill/>
          <a:ln/>
        </p:spPr>
        <p:txBody>
          <a:bodyPr wrap="square" lIns="0" tIns="0" rIns="0" bIns="0" rtlCol="0" anchor="ctr"/>
          <a:lstStyle/>
          <a:p>
            <a:pPr indent="0" marL="0">
              <a:buNone/>
            </a:pPr>
            <a:r>
              <a:rPr lang="en-US" sz="1600" b="1" dirty="0">
                <a:solidFill>
                  <a:srgbClr val="0B1437"/>
                </a:solidFill>
                <a:latin typeface="Calibri" pitchFamily="34" charset="0"/>
                <a:ea typeface="Calibri" pitchFamily="34" charset="-122"/>
                <a:cs typeface="Calibri" pitchFamily="34" charset="-120"/>
              </a:rPr>
              <a:t>Optimized in Cython → very fast</a:t>
            </a:r>
            <a:endParaRPr lang="en-US" sz="1600" dirty="0"/>
          </a:p>
        </p:txBody>
      </p:sp>
      <p:sp>
        <p:nvSpPr>
          <p:cNvPr id="11" name="Shape 8"/>
          <p:cNvSpPr/>
          <p:nvPr/>
        </p:nvSpPr>
        <p:spPr>
          <a:xfrm>
            <a:off x="841248" y="3172968"/>
            <a:ext cx="146304" cy="146304"/>
          </a:xfrm>
          <a:prstGeom prst="ellipse">
            <a:avLst/>
          </a:prstGeom>
          <a:solidFill>
            <a:srgbClr val="7C6BF2"/>
          </a:solidFill>
          <a:ln/>
        </p:spPr>
      </p:sp>
      <p:sp>
        <p:nvSpPr>
          <p:cNvPr id="12" name="Shape 9"/>
          <p:cNvSpPr/>
          <p:nvPr/>
        </p:nvSpPr>
        <p:spPr>
          <a:xfrm>
            <a:off x="566928" y="3831336"/>
            <a:ext cx="5394960" cy="877824"/>
          </a:xfrm>
          <a:prstGeom prst="roundRect">
            <a:avLst>
              <a:gd name="adj" fmla="val 12500"/>
            </a:avLst>
          </a:prstGeom>
          <a:solidFill>
            <a:srgbClr val="F2F5FA"/>
          </a:solidFill>
          <a:ln w="12700">
            <a:solidFill>
              <a:srgbClr val="DCE3ED"/>
            </a:solidFill>
            <a:prstDash val="solid"/>
          </a:ln>
        </p:spPr>
      </p:sp>
      <p:sp>
        <p:nvSpPr>
          <p:cNvPr id="13" name="Text 10"/>
          <p:cNvSpPr/>
          <p:nvPr/>
        </p:nvSpPr>
        <p:spPr>
          <a:xfrm>
            <a:off x="877824" y="4041648"/>
            <a:ext cx="4791456" cy="384048"/>
          </a:xfrm>
          <a:prstGeom prst="rect">
            <a:avLst/>
          </a:prstGeom>
          <a:noFill/>
          <a:ln/>
        </p:spPr>
        <p:txBody>
          <a:bodyPr wrap="square" lIns="0" tIns="0" rIns="0" bIns="0" rtlCol="0" anchor="ctr"/>
          <a:lstStyle/>
          <a:p>
            <a:pPr indent="0" marL="0">
              <a:buNone/>
            </a:pPr>
            <a:r>
              <a:rPr lang="en-US" sz="1600" b="1" dirty="0">
                <a:solidFill>
                  <a:srgbClr val="0B1437"/>
                </a:solidFill>
                <a:latin typeface="Calibri" pitchFamily="34" charset="0"/>
                <a:ea typeface="Calibri" pitchFamily="34" charset="-122"/>
                <a:cs typeface="Calibri" pitchFamily="34" charset="-120"/>
              </a:rPr>
              <a:t>Easy integration with deep learning frameworks</a:t>
            </a:r>
            <a:endParaRPr lang="en-US" sz="1600" dirty="0"/>
          </a:p>
        </p:txBody>
      </p:sp>
      <p:sp>
        <p:nvSpPr>
          <p:cNvPr id="14" name="Shape 11"/>
          <p:cNvSpPr/>
          <p:nvPr/>
        </p:nvSpPr>
        <p:spPr>
          <a:xfrm>
            <a:off x="841248" y="4197096"/>
            <a:ext cx="146304" cy="146304"/>
          </a:xfrm>
          <a:prstGeom prst="ellipse">
            <a:avLst/>
          </a:prstGeom>
          <a:solidFill>
            <a:srgbClr val="FFB703"/>
          </a:solidFill>
          <a:ln/>
        </p:spPr>
      </p:sp>
      <p:sp>
        <p:nvSpPr>
          <p:cNvPr id="15" name="Shape 12"/>
          <p:cNvSpPr/>
          <p:nvPr/>
        </p:nvSpPr>
        <p:spPr>
          <a:xfrm>
            <a:off x="566928" y="4855464"/>
            <a:ext cx="5394960" cy="877824"/>
          </a:xfrm>
          <a:prstGeom prst="roundRect">
            <a:avLst>
              <a:gd name="adj" fmla="val 12500"/>
            </a:avLst>
          </a:prstGeom>
          <a:solidFill>
            <a:srgbClr val="F2F5FA"/>
          </a:solidFill>
          <a:ln w="12700">
            <a:solidFill>
              <a:srgbClr val="DCE3ED"/>
            </a:solidFill>
            <a:prstDash val="solid"/>
          </a:ln>
        </p:spPr>
      </p:sp>
      <p:sp>
        <p:nvSpPr>
          <p:cNvPr id="16" name="Text 13"/>
          <p:cNvSpPr/>
          <p:nvPr/>
        </p:nvSpPr>
        <p:spPr>
          <a:xfrm>
            <a:off x="877824" y="5065776"/>
            <a:ext cx="4791456" cy="384048"/>
          </a:xfrm>
          <a:prstGeom prst="rect">
            <a:avLst/>
          </a:prstGeom>
          <a:noFill/>
          <a:ln/>
        </p:spPr>
        <p:txBody>
          <a:bodyPr wrap="square" lIns="0" tIns="0" rIns="0" bIns="0" rtlCol="0" anchor="ctr"/>
          <a:lstStyle/>
          <a:p>
            <a:pPr indent="0" marL="0">
              <a:buNone/>
            </a:pPr>
            <a:r>
              <a:rPr lang="en-US" sz="1600" b="1" dirty="0">
                <a:solidFill>
                  <a:srgbClr val="0B1437"/>
                </a:solidFill>
                <a:latin typeface="Calibri" pitchFamily="34" charset="0"/>
                <a:ea typeface="Calibri" pitchFamily="34" charset="-122"/>
                <a:cs typeface="Calibri" pitchFamily="34" charset="-120"/>
              </a:rPr>
              <a:t>Pre-trained models</a:t>
            </a:r>
            <a:endParaRPr lang="en-US" sz="1600" dirty="0"/>
          </a:p>
        </p:txBody>
      </p:sp>
      <p:sp>
        <p:nvSpPr>
          <p:cNvPr id="17" name="Shape 14"/>
          <p:cNvSpPr/>
          <p:nvPr/>
        </p:nvSpPr>
        <p:spPr>
          <a:xfrm>
            <a:off x="841248" y="5221224"/>
            <a:ext cx="146304" cy="146304"/>
          </a:xfrm>
          <a:prstGeom prst="ellipse">
            <a:avLst/>
          </a:prstGeom>
          <a:solidFill>
            <a:srgbClr val="EF476F"/>
          </a:solidFill>
          <a:ln/>
        </p:spPr>
      </p:sp>
      <p:sp>
        <p:nvSpPr>
          <p:cNvPr id="18" name="Text 15"/>
          <p:cNvSpPr/>
          <p:nvPr/>
        </p:nvSpPr>
        <p:spPr>
          <a:xfrm>
            <a:off x="566928" y="5532120"/>
            <a:ext cx="5394960" cy="457200"/>
          </a:xfrm>
          <a:prstGeom prst="rect">
            <a:avLst/>
          </a:prstGeom>
          <a:noFill/>
          <a:ln/>
        </p:spPr>
        <p:txBody>
          <a:bodyPr wrap="square" lIns="0" tIns="0" rIns="0" bIns="0" rtlCol="0" anchor="ctr"/>
          <a:lstStyle/>
          <a:p>
            <a:pPr indent="0" marL="0">
              <a:buNone/>
            </a:pPr>
            <a:r>
              <a:rPr lang="en-US" sz="1400" i="1" dirty="0">
                <a:solidFill>
                  <a:srgbClr val="5C6784"/>
                </a:solidFill>
                <a:latin typeface="Calibri" pitchFamily="34" charset="0"/>
                <a:ea typeface="Calibri" pitchFamily="34" charset="-122"/>
                <a:cs typeface="Calibri" pitchFamily="34" charset="-120"/>
              </a:rPr>
              <a:t>The industry choice when you need speed, accuracy and scale.</a:t>
            </a:r>
            <a:endParaRPr lang="en-US" sz="1400" dirty="0"/>
          </a:p>
        </p:txBody>
      </p:sp>
      <p:sp>
        <p:nvSpPr>
          <p:cNvPr id="19" name="Shape 16"/>
          <p:cNvSpPr/>
          <p:nvPr/>
        </p:nvSpPr>
        <p:spPr>
          <a:xfrm>
            <a:off x="6355080" y="1783080"/>
            <a:ext cx="5285232" cy="4114800"/>
          </a:xfrm>
          <a:prstGeom prst="roundRect">
            <a:avLst>
              <a:gd name="adj" fmla="val 2222"/>
            </a:avLst>
          </a:prstGeom>
          <a:solidFill>
            <a:srgbClr val="0B1437"/>
          </a:solidFill>
          <a:ln w="12700">
            <a:solidFill>
              <a:srgbClr val="16204A"/>
            </a:solidFill>
            <a:prstDash val="solid"/>
          </a:ln>
        </p:spPr>
      </p:sp>
      <p:sp>
        <p:nvSpPr>
          <p:cNvPr id="20" name="Text 17"/>
          <p:cNvSpPr/>
          <p:nvPr/>
        </p:nvSpPr>
        <p:spPr>
          <a:xfrm>
            <a:off x="6592824" y="1911096"/>
            <a:ext cx="4828032" cy="237744"/>
          </a:xfrm>
          <a:prstGeom prst="rect">
            <a:avLst/>
          </a:prstGeom>
          <a:noFill/>
          <a:ln/>
        </p:spPr>
        <p:txBody>
          <a:bodyPr wrap="square" lIns="0" tIns="0" rIns="0" bIns="0" rtlCol="0" anchor="ctr"/>
          <a:lstStyle/>
          <a:p>
            <a:pPr indent="0" marL="0">
              <a:buNone/>
            </a:pPr>
            <a:r>
              <a:rPr lang="en-US" sz="1100" b="1" spc="100" kern="0" dirty="0">
                <a:solidFill>
                  <a:srgbClr val="2EC4B6"/>
                </a:solidFill>
                <a:latin typeface="Calibri" pitchFamily="34" charset="0"/>
                <a:ea typeface="Calibri" pitchFamily="34" charset="-122"/>
                <a:cs typeface="Calibri" pitchFamily="34" charset="-120"/>
              </a:rPr>
              <a:t>ONE PASS, MANY ANNOTATIONS</a:t>
            </a:r>
            <a:endParaRPr lang="en-US" sz="1100" dirty="0"/>
          </a:p>
        </p:txBody>
      </p:sp>
      <p:sp>
        <p:nvSpPr>
          <p:cNvPr id="21" name="Text 18"/>
          <p:cNvSpPr/>
          <p:nvPr/>
        </p:nvSpPr>
        <p:spPr>
          <a:xfrm>
            <a:off x="6592824" y="2185416"/>
            <a:ext cx="4828032" cy="3566160"/>
          </a:xfrm>
          <a:prstGeom prst="rect">
            <a:avLst/>
          </a:prstGeom>
          <a:noFill/>
          <a:ln/>
        </p:spPr>
        <p:txBody>
          <a:bodyPr wrap="square" lIns="0" tIns="0" rIns="0" bIns="0" rtlCol="0" anchor="t"/>
          <a:lstStyle/>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import spacy</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nlp = spacy.load("en_core_web_sm")</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doc = nlp("Apple is hiring engineers in Austin")</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7FE3D8"/>
                </a:solidFill>
                <a:latin typeface="Courier New" pitchFamily="34" charset="0"/>
                <a:ea typeface="Courier New" pitchFamily="34" charset="-122"/>
                <a:cs typeface="Courier New" pitchFamily="34" charset="-120"/>
              </a:rPr>
              <a:t># named entities</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for ent in doc.ents:</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    print(ent.text, ent.label_)</a:t>
            </a:r>
            <a:endParaRPr lang="en-US" sz="1100" dirty="0"/>
          </a:p>
          <a:p>
            <a:pPr indent="0" marL="0">
              <a:lnSpc>
                <a:spcPct val="106000"/>
              </a:lnSpc>
              <a:buNone/>
            </a:pPr>
            <a:r>
              <a:rPr lang="en-US" sz="1100" dirty="0">
                <a:solidFill>
                  <a:srgbClr val="7FE3D8"/>
                </a:solidFill>
                <a:latin typeface="Courier New" pitchFamily="34" charset="0"/>
                <a:ea typeface="Courier New" pitchFamily="34" charset="-122"/>
                <a:cs typeface="Courier New" pitchFamily="34" charset="-120"/>
              </a:rPr>
              <a:t># Apple ORG   |   Austin GPE</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7FE3D8"/>
                </a:solidFill>
                <a:latin typeface="Courier New" pitchFamily="34" charset="0"/>
                <a:ea typeface="Courier New" pitchFamily="34" charset="-122"/>
                <a:cs typeface="Courier New" pitchFamily="34" charset="-120"/>
              </a:rPr>
              <a:t># POS tags and dependencies, precomputed</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for tok in doc[:3]:</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    print(tok.text, tok.pos_, tok.dep_)</a:t>
            </a:r>
            <a:endParaRPr lang="en-US" sz="1100" dirty="0"/>
          </a:p>
          <a:p>
            <a:pPr indent="0" marL="0">
              <a:lnSpc>
                <a:spcPct val="106000"/>
              </a:lnSpc>
              <a:buNone/>
            </a:pPr>
            <a:r>
              <a:rPr lang="en-US" sz="1100" dirty="0">
                <a:solidFill>
                  <a:srgbClr val="7FE3D8"/>
                </a:solidFill>
                <a:latin typeface="Courier New" pitchFamily="34" charset="0"/>
                <a:ea typeface="Courier New" pitchFamily="34" charset="-122"/>
                <a:cs typeface="Courier New" pitchFamily="34" charset="-120"/>
              </a:rPr>
              <a:t># Apple PROPN nsubj | is AUX aux | hiring VERB</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doc.vector.shape   # document embedding</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74320"/>
          </a:xfrm>
          <a:prstGeom prst="rect">
            <a:avLst/>
          </a:prstGeom>
          <a:noFill/>
          <a:ln/>
        </p:spPr>
        <p:txBody>
          <a:bodyPr wrap="square" lIns="0" tIns="0" rIns="0" bIns="0" rtlCol="0" anchor="ctr"/>
          <a:lstStyle/>
          <a:p>
            <a:pPr algn="l" indent="0" marL="0">
              <a:buNone/>
            </a:pPr>
            <a:r>
              <a:rPr lang="en-US" sz="1200" b="1" spc="200" kern="0" dirty="0">
                <a:solidFill>
                  <a:srgbClr val="13887E"/>
                </a:solidFill>
                <a:latin typeface="Calibri" pitchFamily="34" charset="0"/>
                <a:ea typeface="Calibri" pitchFamily="34" charset="-122"/>
                <a:cs typeface="Calibri" pitchFamily="34" charset="-120"/>
              </a:rPr>
              <a:t>HEAD TO HEAD</a:t>
            </a:r>
            <a:endParaRPr lang="en-US" sz="1200" dirty="0"/>
          </a:p>
        </p:txBody>
      </p:sp>
      <p:sp>
        <p:nvSpPr>
          <p:cNvPr id="3" name="Text 1"/>
          <p:cNvSpPr/>
          <p:nvPr/>
        </p:nvSpPr>
        <p:spPr>
          <a:xfrm>
            <a:off x="566928" y="621792"/>
            <a:ext cx="10143439" cy="777240"/>
          </a:xfrm>
          <a:prstGeom prst="rect">
            <a:avLst/>
          </a:prstGeom>
          <a:noFill/>
          <a:ln/>
        </p:spPr>
        <p:txBody>
          <a:bodyPr wrap="square" lIns="0" tIns="0" rIns="0" bIns="0" rtlCol="0" anchor="t"/>
          <a:lstStyle/>
          <a:p>
            <a:pPr indent="0" marL="0">
              <a:buNone/>
            </a:pPr>
            <a:r>
              <a:rPr lang="en-US" sz="3600" b="1" dirty="0">
                <a:solidFill>
                  <a:srgbClr val="0B1437"/>
                </a:solidFill>
                <a:latin typeface="Cambria" pitchFamily="34" charset="0"/>
                <a:ea typeface="Cambria" pitchFamily="34" charset="-122"/>
                <a:cs typeface="Cambria" pitchFamily="34" charset="-120"/>
              </a:rPr>
              <a:t>NLTK vs spaCy</a:t>
            </a:r>
            <a:endParaRPr lang="en-US" sz="3600" dirty="0"/>
          </a:p>
        </p:txBody>
      </p:sp>
      <p:sp>
        <p:nvSpPr>
          <p:cNvPr id="4" name="Text 2"/>
          <p:cNvSpPr/>
          <p:nvPr/>
        </p:nvSpPr>
        <p:spPr>
          <a:xfrm>
            <a:off x="10801807" y="310896"/>
            <a:ext cx="822960" cy="365760"/>
          </a:xfrm>
          <a:prstGeom prst="rect">
            <a:avLst/>
          </a:prstGeom>
          <a:noFill/>
          <a:ln/>
        </p:spPr>
        <p:txBody>
          <a:bodyPr wrap="square" lIns="0" tIns="0" rIns="0" bIns="0" rtlCol="0" anchor="ctr"/>
          <a:lstStyle/>
          <a:p>
            <a:pPr algn="r" indent="0" marL="0">
              <a:buNone/>
            </a:pPr>
            <a:r>
              <a:rPr lang="en-US" sz="1300" dirty="0">
                <a:solidFill>
                  <a:srgbClr val="A9B3C6"/>
                </a:solidFill>
                <a:latin typeface="Calibri" pitchFamily="34" charset="0"/>
                <a:ea typeface="Calibri" pitchFamily="34" charset="-122"/>
                <a:cs typeface="Calibri" pitchFamily="34" charset="-120"/>
              </a:rPr>
              <a:t>18</a:t>
            </a:r>
            <a:endParaRPr lang="en-US" sz="13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1828800"/>
          <a:ext cx="11064240" cy="914400"/>
        </p:xfrm>
        <a:graphic>
          <a:graphicData uri="http://schemas.openxmlformats.org/drawingml/2006/table">
            <a:tbl>
              <a:tblPr/>
              <a:tblGrid>
                <a:gridCol w="2743200"/>
                <a:gridCol w="3657600"/>
                <a:gridCol w="4663440"/>
              </a:tblGrid>
              <a:tr h="566928">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Feature</a:t>
                      </a:r>
                      <a:endParaRPr lang="en-US" sz="1500" dirty="0">
                        <a:latin typeface="Calibri" charset="0"/>
                        <a:ea typeface="Calibri" charset="0"/>
                        <a:cs typeface="Calibri" charset="0"/>
                      </a:endParaRPr>
                    </a:p>
                  </a:txBody>
                  <a:tcPr marL="164592" marR="164592" marT="73152" marB="73152" anchor="ctr">
                    <a:lnL w="12700" cap="flat" cmpd="sng" algn="ctr">
                      <a:solidFill>
                        <a:srgbClr val="DCE3ED"/>
                      </a:solidFill>
                      <a:prstDash val="solid"/>
                      <a:round/>
                      <a:headEnd type="none" w="med" len="med"/>
                      <a:tailEnd type="none" w="med" len="med"/>
                    </a:lnL>
                    <a:lnR w="12700" cap="flat" cmpd="sng" algn="ctr">
                      <a:solidFill>
                        <a:srgbClr val="DCE3ED"/>
                      </a:solidFill>
                      <a:prstDash val="solid"/>
                      <a:round/>
                      <a:headEnd type="none" w="med" len="med"/>
                      <a:tailEnd type="none" w="med" len="med"/>
                    </a:lnR>
                    <a:lnT w="12700" cap="flat" cmpd="sng" algn="ctr">
                      <a:solidFill>
                        <a:srgbClr val="DCE3ED"/>
                      </a:solidFill>
                      <a:prstDash val="solid"/>
                      <a:round/>
                      <a:headEnd type="none" w="med" len="med"/>
                      <a:tailEnd type="none" w="med" len="med"/>
                    </a:lnT>
                    <a:lnB w="12700" cap="flat" cmpd="sng" algn="ctr">
                      <a:solidFill>
                        <a:srgbClr val="DCE3ED"/>
                      </a:solidFill>
                      <a:prstDash val="solid"/>
                      <a:round/>
                      <a:headEnd type="none" w="med" len="med"/>
                      <a:tailEnd type="none" w="med" len="med"/>
                    </a:lnB>
                    <a:solidFill>
                      <a:srgbClr val="0B1437"/>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NLTK</a:t>
                      </a:r>
                      <a:endParaRPr lang="en-US" sz="1500" dirty="0">
                        <a:latin typeface="Calibri" charset="0"/>
                        <a:ea typeface="Calibri" charset="0"/>
                        <a:cs typeface="Calibri" charset="0"/>
                      </a:endParaRPr>
                    </a:p>
                  </a:txBody>
                  <a:tcPr marL="164592" marR="164592" marT="73152" marB="73152" anchor="ctr">
                    <a:lnL w="12700" cap="flat" cmpd="sng" algn="ctr">
                      <a:solidFill>
                        <a:srgbClr val="DCE3ED"/>
                      </a:solidFill>
                      <a:prstDash val="solid"/>
                      <a:round/>
                      <a:headEnd type="none" w="med" len="med"/>
                      <a:tailEnd type="none" w="med" len="med"/>
                    </a:lnL>
                    <a:lnR w="12700" cap="flat" cmpd="sng" algn="ctr">
                      <a:solidFill>
                        <a:srgbClr val="DCE3ED"/>
                      </a:solidFill>
                      <a:prstDash val="solid"/>
                      <a:round/>
                      <a:headEnd type="none" w="med" len="med"/>
                      <a:tailEnd type="none" w="med" len="med"/>
                    </a:lnR>
                    <a:lnT w="12700" cap="flat" cmpd="sng" algn="ctr">
                      <a:solidFill>
                        <a:srgbClr val="DCE3ED"/>
                      </a:solidFill>
                      <a:prstDash val="solid"/>
                      <a:round/>
                      <a:headEnd type="none" w="med" len="med"/>
                      <a:tailEnd type="none" w="med" len="med"/>
                    </a:lnT>
                    <a:lnB w="12700" cap="flat" cmpd="sng" algn="ctr">
                      <a:solidFill>
                        <a:srgbClr val="DCE3ED"/>
                      </a:solidFill>
                      <a:prstDash val="solid"/>
                      <a:round/>
                      <a:headEnd type="none" w="med" len="med"/>
                      <a:tailEnd type="none" w="med" len="med"/>
                    </a:lnB>
                    <a:solidFill>
                      <a:srgbClr val="0B1437"/>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spaCy</a:t>
                      </a:r>
                      <a:endParaRPr lang="en-US" sz="1500" dirty="0">
                        <a:latin typeface="Calibri" charset="0"/>
                        <a:ea typeface="Calibri" charset="0"/>
                        <a:cs typeface="Calibri" charset="0"/>
                      </a:endParaRPr>
                    </a:p>
                  </a:txBody>
                  <a:tcPr marL="164592" marR="164592" marT="73152" marB="73152" anchor="ctr">
                    <a:lnL w="12700" cap="flat" cmpd="sng" algn="ctr">
                      <a:solidFill>
                        <a:srgbClr val="DCE3ED"/>
                      </a:solidFill>
                      <a:prstDash val="solid"/>
                      <a:round/>
                      <a:headEnd type="none" w="med" len="med"/>
                      <a:tailEnd type="none" w="med" len="med"/>
                    </a:lnL>
                    <a:lnR w="12700" cap="flat" cmpd="sng" algn="ctr">
                      <a:solidFill>
                        <a:srgbClr val="DCE3ED"/>
                      </a:solidFill>
                      <a:prstDash val="solid"/>
                      <a:round/>
                      <a:headEnd type="none" w="med" len="med"/>
                      <a:tailEnd type="none" w="med" len="med"/>
                    </a:lnR>
                    <a:lnT w="12700" cap="flat" cmpd="sng" algn="ctr">
                      <a:solidFill>
                        <a:srgbClr val="DCE3ED"/>
                      </a:solidFill>
                      <a:prstDash val="solid"/>
                      <a:round/>
                      <a:headEnd type="none" w="med" len="med"/>
                      <a:tailEnd type="none" w="med" len="med"/>
                    </a:lnT>
                    <a:lnB w="12700" cap="flat" cmpd="sng" algn="ctr">
                      <a:solidFill>
                        <a:srgbClr val="DCE3ED"/>
                      </a:solidFill>
                      <a:prstDash val="solid"/>
                      <a:round/>
                      <a:headEnd type="none" w="med" len="med"/>
                      <a:tailEnd type="none" w="med" len="med"/>
                    </a:lnB>
                    <a:solidFill>
                      <a:srgbClr val="0B1437"/>
                    </a:solidFill>
                  </a:tcPr>
                </a:tc>
              </a:tr>
              <a:tr h="566928">
                <a:tc>
                  <a:txBody>
                    <a:bodyPr/>
                    <a:lstStyle/>
                    <a:p>
                      <a:pPr algn="l" indent="0" marL="0">
                        <a:buNone/>
                      </a:pPr>
                      <a:r>
                        <a:rPr lang="en-US" sz="1550" b="1" dirty="0">
                          <a:solidFill>
                            <a:srgbClr val="16204A"/>
                          </a:solidFill>
                          <a:latin typeface="Calibri" pitchFamily="34" charset="0"/>
                          <a:ea typeface="Calibri" pitchFamily="34" charset="-122"/>
                          <a:cs typeface="Calibri" pitchFamily="34" charset="-120"/>
                        </a:rPr>
                        <a:t>Purpose</a:t>
                      </a:r>
                      <a:endParaRPr lang="en-US" sz="1550" dirty="0">
                        <a:latin typeface="Calibri" charset="0"/>
                        <a:ea typeface="Calibri" charset="0"/>
                        <a:cs typeface="Calibri" charset="0"/>
                      </a:endParaRPr>
                    </a:p>
                  </a:txBody>
                  <a:tcPr marL="164592" marR="164592" marT="73152" marB="73152" anchor="ctr">
                    <a:lnL w="12700" cap="flat" cmpd="sng" algn="ctr">
                      <a:solidFill>
                        <a:srgbClr val="DCE3ED"/>
                      </a:solidFill>
                      <a:prstDash val="solid"/>
                      <a:round/>
                      <a:headEnd type="none" w="med" len="med"/>
                      <a:tailEnd type="none" w="med" len="med"/>
                    </a:lnL>
                    <a:lnR w="12700" cap="flat" cmpd="sng" algn="ctr">
                      <a:solidFill>
                        <a:srgbClr val="DCE3ED"/>
                      </a:solidFill>
                      <a:prstDash val="solid"/>
                      <a:round/>
                      <a:headEnd type="none" w="med" len="med"/>
                      <a:tailEnd type="none" w="med" len="med"/>
                    </a:lnR>
                    <a:lnT w="12700" cap="flat" cmpd="sng" algn="ctr">
                      <a:solidFill>
                        <a:srgbClr val="DCE3ED"/>
                      </a:solidFill>
                      <a:prstDash val="solid"/>
                      <a:round/>
                      <a:headEnd type="none" w="med" len="med"/>
                      <a:tailEnd type="none" w="med" len="med"/>
                    </a:lnT>
                    <a:lnB w="12700" cap="flat" cmpd="sng" algn="ctr">
                      <a:solidFill>
                        <a:srgbClr val="DCE3ED"/>
                      </a:solidFill>
                      <a:prstDash val="solid"/>
                      <a:round/>
                      <a:headEnd type="none" w="med" len="med"/>
                      <a:tailEnd type="none" w="med" len="med"/>
                    </a:lnB>
                    <a:solidFill>
                      <a:srgbClr val="F2F5FA"/>
                    </a:solidFill>
                  </a:tcPr>
                </a:tc>
                <a:tc>
                  <a:txBody>
                    <a:bodyPr/>
                    <a:lstStyle/>
                    <a:p>
                      <a:pPr algn="l" indent="0" marL="0">
                        <a:buNone/>
                      </a:pPr>
                      <a:r>
                        <a:rPr lang="en-US" sz="1550" dirty="0">
                          <a:solidFill>
                            <a:srgbClr val="16204A"/>
                          </a:solidFill>
                          <a:latin typeface="Calibri" pitchFamily="34" charset="0"/>
                          <a:ea typeface="Calibri" pitchFamily="34" charset="-122"/>
                          <a:cs typeface="Calibri" pitchFamily="34" charset="-120"/>
                        </a:rPr>
                        <a:t>Teaching, research</a:t>
                      </a:r>
                      <a:endParaRPr lang="en-US" sz="1550" dirty="0">
                        <a:latin typeface="Calibri" charset="0"/>
                        <a:ea typeface="Calibri" charset="0"/>
                        <a:cs typeface="Calibri" charset="0"/>
                      </a:endParaRPr>
                    </a:p>
                  </a:txBody>
                  <a:tcPr marL="164592" marR="164592" marT="73152" marB="73152" anchor="ctr">
                    <a:lnL w="12700" cap="flat" cmpd="sng" algn="ctr">
                      <a:solidFill>
                        <a:srgbClr val="DCE3ED"/>
                      </a:solidFill>
                      <a:prstDash val="solid"/>
                      <a:round/>
                      <a:headEnd type="none" w="med" len="med"/>
                      <a:tailEnd type="none" w="med" len="med"/>
                    </a:lnL>
                    <a:lnR w="12700" cap="flat" cmpd="sng" algn="ctr">
                      <a:solidFill>
                        <a:srgbClr val="DCE3ED"/>
                      </a:solidFill>
                      <a:prstDash val="solid"/>
                      <a:round/>
                      <a:headEnd type="none" w="med" len="med"/>
                      <a:tailEnd type="none" w="med" len="med"/>
                    </a:lnR>
                    <a:lnT w="12700" cap="flat" cmpd="sng" algn="ctr">
                      <a:solidFill>
                        <a:srgbClr val="DCE3ED"/>
                      </a:solidFill>
                      <a:prstDash val="solid"/>
                      <a:round/>
                      <a:headEnd type="none" w="med" len="med"/>
                      <a:tailEnd type="none" w="med" len="med"/>
                    </a:lnT>
                    <a:lnB w="12700" cap="flat" cmpd="sng" algn="ctr">
                      <a:solidFill>
                        <a:srgbClr val="DCE3ED"/>
                      </a:solidFill>
                      <a:prstDash val="solid"/>
                      <a:round/>
                      <a:headEnd type="none" w="med" len="med"/>
                      <a:tailEnd type="none" w="med" len="med"/>
                    </a:lnB>
                    <a:solidFill>
                      <a:srgbClr val="F2F5FA"/>
                    </a:solidFill>
                  </a:tcPr>
                </a:tc>
                <a:tc>
                  <a:txBody>
                    <a:bodyPr/>
                    <a:lstStyle/>
                    <a:p>
                      <a:pPr algn="l" indent="0" marL="0">
                        <a:buNone/>
                      </a:pPr>
                      <a:r>
                        <a:rPr lang="en-US" sz="1550" dirty="0">
                          <a:solidFill>
                            <a:srgbClr val="16204A"/>
                          </a:solidFill>
                          <a:latin typeface="Calibri" pitchFamily="34" charset="0"/>
                          <a:ea typeface="Calibri" pitchFamily="34" charset="-122"/>
                          <a:cs typeface="Calibri" pitchFamily="34" charset="-120"/>
                        </a:rPr>
                        <a:t>Production, industry</a:t>
                      </a:r>
                      <a:endParaRPr lang="en-US" sz="1550" dirty="0">
                        <a:latin typeface="Calibri" charset="0"/>
                        <a:ea typeface="Calibri" charset="0"/>
                        <a:cs typeface="Calibri" charset="0"/>
                      </a:endParaRPr>
                    </a:p>
                  </a:txBody>
                  <a:tcPr marL="164592" marR="164592" marT="73152" marB="73152" anchor="ctr">
                    <a:lnL w="12700" cap="flat" cmpd="sng" algn="ctr">
                      <a:solidFill>
                        <a:srgbClr val="DCE3ED"/>
                      </a:solidFill>
                      <a:prstDash val="solid"/>
                      <a:round/>
                      <a:headEnd type="none" w="med" len="med"/>
                      <a:tailEnd type="none" w="med" len="med"/>
                    </a:lnL>
                    <a:lnR w="12700" cap="flat" cmpd="sng" algn="ctr">
                      <a:solidFill>
                        <a:srgbClr val="DCE3ED"/>
                      </a:solidFill>
                      <a:prstDash val="solid"/>
                      <a:round/>
                      <a:headEnd type="none" w="med" len="med"/>
                      <a:tailEnd type="none" w="med" len="med"/>
                    </a:lnR>
                    <a:lnT w="12700" cap="flat" cmpd="sng" algn="ctr">
                      <a:solidFill>
                        <a:srgbClr val="DCE3ED"/>
                      </a:solidFill>
                      <a:prstDash val="solid"/>
                      <a:round/>
                      <a:headEnd type="none" w="med" len="med"/>
                      <a:tailEnd type="none" w="med" len="med"/>
                    </a:lnT>
                    <a:lnB w="12700" cap="flat" cmpd="sng" algn="ctr">
                      <a:solidFill>
                        <a:srgbClr val="DCE3ED"/>
                      </a:solidFill>
                      <a:prstDash val="solid"/>
                      <a:round/>
                      <a:headEnd type="none" w="med" len="med"/>
                      <a:tailEnd type="none" w="med" len="med"/>
                    </a:lnB>
                    <a:solidFill>
                      <a:srgbClr val="F2F5FA"/>
                    </a:solidFill>
                  </a:tcPr>
                </a:tc>
              </a:tr>
              <a:tr h="566928">
                <a:tc>
                  <a:txBody>
                    <a:bodyPr/>
                    <a:lstStyle/>
                    <a:p>
                      <a:pPr algn="l" indent="0" marL="0">
                        <a:buNone/>
                      </a:pPr>
                      <a:r>
                        <a:rPr lang="en-US" sz="1550" b="1" dirty="0">
                          <a:solidFill>
                            <a:srgbClr val="16204A"/>
                          </a:solidFill>
                          <a:latin typeface="Calibri" pitchFamily="34" charset="0"/>
                          <a:ea typeface="Calibri" pitchFamily="34" charset="-122"/>
                          <a:cs typeface="Calibri" pitchFamily="34" charset="-120"/>
                        </a:rPr>
                        <a:t>Speed</a:t>
                      </a:r>
                      <a:endParaRPr lang="en-US" sz="1550" dirty="0">
                        <a:latin typeface="Calibri" charset="0"/>
                        <a:ea typeface="Calibri" charset="0"/>
                        <a:cs typeface="Calibri" charset="0"/>
                      </a:endParaRPr>
                    </a:p>
                  </a:txBody>
                  <a:tcPr marL="164592" marR="164592" marT="73152" marB="73152" anchor="ctr">
                    <a:lnL w="12700" cap="flat" cmpd="sng" algn="ctr">
                      <a:solidFill>
                        <a:srgbClr val="DCE3ED"/>
                      </a:solidFill>
                      <a:prstDash val="solid"/>
                      <a:round/>
                      <a:headEnd type="none" w="med" len="med"/>
                      <a:tailEnd type="none" w="med" len="med"/>
                    </a:lnL>
                    <a:lnR w="12700" cap="flat" cmpd="sng" algn="ctr">
                      <a:solidFill>
                        <a:srgbClr val="DCE3ED"/>
                      </a:solidFill>
                      <a:prstDash val="solid"/>
                      <a:round/>
                      <a:headEnd type="none" w="med" len="med"/>
                      <a:tailEnd type="none" w="med" len="med"/>
                    </a:lnR>
                    <a:lnT w="12700" cap="flat" cmpd="sng" algn="ctr">
                      <a:solidFill>
                        <a:srgbClr val="DCE3ED"/>
                      </a:solidFill>
                      <a:prstDash val="solid"/>
                      <a:round/>
                      <a:headEnd type="none" w="med" len="med"/>
                      <a:tailEnd type="none" w="med" len="med"/>
                    </a:lnT>
                    <a:lnB w="12700" cap="flat" cmpd="sng" algn="ctr">
                      <a:solidFill>
                        <a:srgbClr val="DCE3ED"/>
                      </a:solidFill>
                      <a:prstDash val="solid"/>
                      <a:round/>
                      <a:headEnd type="none" w="med" len="med"/>
                      <a:tailEnd type="none" w="med" len="med"/>
                    </a:lnB>
                    <a:solidFill>
                      <a:srgbClr val="FFFFFF"/>
                    </a:solidFill>
                  </a:tcPr>
                </a:tc>
                <a:tc>
                  <a:txBody>
                    <a:bodyPr/>
                    <a:lstStyle/>
                    <a:p>
                      <a:pPr algn="l" indent="0" marL="0">
                        <a:buNone/>
                      </a:pPr>
                      <a:r>
                        <a:rPr lang="en-US" sz="1550" dirty="0">
                          <a:solidFill>
                            <a:srgbClr val="16204A"/>
                          </a:solidFill>
                          <a:latin typeface="Calibri" pitchFamily="34" charset="0"/>
                          <a:ea typeface="Calibri" pitchFamily="34" charset="-122"/>
                          <a:cs typeface="Calibri" pitchFamily="34" charset="-120"/>
                        </a:rPr>
                        <a:t>Slower</a:t>
                      </a:r>
                      <a:endParaRPr lang="en-US" sz="1550" dirty="0">
                        <a:latin typeface="Calibri" charset="0"/>
                        <a:ea typeface="Calibri" charset="0"/>
                        <a:cs typeface="Calibri" charset="0"/>
                      </a:endParaRPr>
                    </a:p>
                  </a:txBody>
                  <a:tcPr marL="164592" marR="164592" marT="73152" marB="73152" anchor="ctr">
                    <a:lnL w="12700" cap="flat" cmpd="sng" algn="ctr">
                      <a:solidFill>
                        <a:srgbClr val="DCE3ED"/>
                      </a:solidFill>
                      <a:prstDash val="solid"/>
                      <a:round/>
                      <a:headEnd type="none" w="med" len="med"/>
                      <a:tailEnd type="none" w="med" len="med"/>
                    </a:lnL>
                    <a:lnR w="12700" cap="flat" cmpd="sng" algn="ctr">
                      <a:solidFill>
                        <a:srgbClr val="DCE3ED"/>
                      </a:solidFill>
                      <a:prstDash val="solid"/>
                      <a:round/>
                      <a:headEnd type="none" w="med" len="med"/>
                      <a:tailEnd type="none" w="med" len="med"/>
                    </a:lnR>
                    <a:lnT w="12700" cap="flat" cmpd="sng" algn="ctr">
                      <a:solidFill>
                        <a:srgbClr val="DCE3ED"/>
                      </a:solidFill>
                      <a:prstDash val="solid"/>
                      <a:round/>
                      <a:headEnd type="none" w="med" len="med"/>
                      <a:tailEnd type="none" w="med" len="med"/>
                    </a:lnT>
                    <a:lnB w="12700" cap="flat" cmpd="sng" algn="ctr">
                      <a:solidFill>
                        <a:srgbClr val="DCE3ED"/>
                      </a:solidFill>
                      <a:prstDash val="solid"/>
                      <a:round/>
                      <a:headEnd type="none" w="med" len="med"/>
                      <a:tailEnd type="none" w="med" len="med"/>
                    </a:lnB>
                    <a:solidFill>
                      <a:srgbClr val="FFFFFF"/>
                    </a:solidFill>
                  </a:tcPr>
                </a:tc>
                <a:tc>
                  <a:txBody>
                    <a:bodyPr/>
                    <a:lstStyle/>
                    <a:p>
                      <a:pPr algn="l" indent="0" marL="0">
                        <a:buNone/>
                      </a:pPr>
                      <a:r>
                        <a:rPr lang="en-US" sz="1550" dirty="0">
                          <a:solidFill>
                            <a:srgbClr val="16204A"/>
                          </a:solidFill>
                          <a:latin typeface="Calibri" pitchFamily="34" charset="0"/>
                          <a:ea typeface="Calibri" pitchFamily="34" charset="-122"/>
                          <a:cs typeface="Calibri" pitchFamily="34" charset="-120"/>
                        </a:rPr>
                        <a:t>Very fast</a:t>
                      </a:r>
                      <a:endParaRPr lang="en-US" sz="1550" dirty="0">
                        <a:latin typeface="Calibri" charset="0"/>
                        <a:ea typeface="Calibri" charset="0"/>
                        <a:cs typeface="Calibri" charset="0"/>
                      </a:endParaRPr>
                    </a:p>
                  </a:txBody>
                  <a:tcPr marL="164592" marR="164592" marT="73152" marB="73152" anchor="ctr">
                    <a:lnL w="12700" cap="flat" cmpd="sng" algn="ctr">
                      <a:solidFill>
                        <a:srgbClr val="DCE3ED"/>
                      </a:solidFill>
                      <a:prstDash val="solid"/>
                      <a:round/>
                      <a:headEnd type="none" w="med" len="med"/>
                      <a:tailEnd type="none" w="med" len="med"/>
                    </a:lnL>
                    <a:lnR w="12700" cap="flat" cmpd="sng" algn="ctr">
                      <a:solidFill>
                        <a:srgbClr val="DCE3ED"/>
                      </a:solidFill>
                      <a:prstDash val="solid"/>
                      <a:round/>
                      <a:headEnd type="none" w="med" len="med"/>
                      <a:tailEnd type="none" w="med" len="med"/>
                    </a:lnR>
                    <a:lnT w="12700" cap="flat" cmpd="sng" algn="ctr">
                      <a:solidFill>
                        <a:srgbClr val="DCE3ED"/>
                      </a:solidFill>
                      <a:prstDash val="solid"/>
                      <a:round/>
                      <a:headEnd type="none" w="med" len="med"/>
                      <a:tailEnd type="none" w="med" len="med"/>
                    </a:lnT>
                    <a:lnB w="12700" cap="flat" cmpd="sng" algn="ctr">
                      <a:solidFill>
                        <a:srgbClr val="DCE3ED"/>
                      </a:solidFill>
                      <a:prstDash val="solid"/>
                      <a:round/>
                      <a:headEnd type="none" w="med" len="med"/>
                      <a:tailEnd type="none" w="med" len="med"/>
                    </a:lnB>
                    <a:solidFill>
                      <a:srgbClr val="FFFFFF"/>
                    </a:solidFill>
                  </a:tcPr>
                </a:tc>
              </a:tr>
              <a:tr h="566928">
                <a:tc>
                  <a:txBody>
                    <a:bodyPr/>
                    <a:lstStyle/>
                    <a:p>
                      <a:pPr algn="l" indent="0" marL="0">
                        <a:buNone/>
                      </a:pPr>
                      <a:r>
                        <a:rPr lang="en-US" sz="1550" b="1" dirty="0">
                          <a:solidFill>
                            <a:srgbClr val="16204A"/>
                          </a:solidFill>
                          <a:latin typeface="Calibri" pitchFamily="34" charset="0"/>
                          <a:ea typeface="Calibri" pitchFamily="34" charset="-122"/>
                          <a:cs typeface="Calibri" pitchFamily="34" charset="-120"/>
                        </a:rPr>
                        <a:t>Models</a:t>
                      </a:r>
                      <a:endParaRPr lang="en-US" sz="1550" dirty="0">
                        <a:latin typeface="Calibri" charset="0"/>
                        <a:ea typeface="Calibri" charset="0"/>
                        <a:cs typeface="Calibri" charset="0"/>
                      </a:endParaRPr>
                    </a:p>
                  </a:txBody>
                  <a:tcPr marL="164592" marR="164592" marT="73152" marB="73152" anchor="ctr">
                    <a:lnL w="12700" cap="flat" cmpd="sng" algn="ctr">
                      <a:solidFill>
                        <a:srgbClr val="DCE3ED"/>
                      </a:solidFill>
                      <a:prstDash val="solid"/>
                      <a:round/>
                      <a:headEnd type="none" w="med" len="med"/>
                      <a:tailEnd type="none" w="med" len="med"/>
                    </a:lnL>
                    <a:lnR w="12700" cap="flat" cmpd="sng" algn="ctr">
                      <a:solidFill>
                        <a:srgbClr val="DCE3ED"/>
                      </a:solidFill>
                      <a:prstDash val="solid"/>
                      <a:round/>
                      <a:headEnd type="none" w="med" len="med"/>
                      <a:tailEnd type="none" w="med" len="med"/>
                    </a:lnR>
                    <a:lnT w="12700" cap="flat" cmpd="sng" algn="ctr">
                      <a:solidFill>
                        <a:srgbClr val="DCE3ED"/>
                      </a:solidFill>
                      <a:prstDash val="solid"/>
                      <a:round/>
                      <a:headEnd type="none" w="med" len="med"/>
                      <a:tailEnd type="none" w="med" len="med"/>
                    </a:lnT>
                    <a:lnB w="12700" cap="flat" cmpd="sng" algn="ctr">
                      <a:solidFill>
                        <a:srgbClr val="DCE3ED"/>
                      </a:solidFill>
                      <a:prstDash val="solid"/>
                      <a:round/>
                      <a:headEnd type="none" w="med" len="med"/>
                      <a:tailEnd type="none" w="med" len="med"/>
                    </a:lnB>
                    <a:solidFill>
                      <a:srgbClr val="F2F5FA"/>
                    </a:solidFill>
                  </a:tcPr>
                </a:tc>
                <a:tc>
                  <a:txBody>
                    <a:bodyPr/>
                    <a:lstStyle/>
                    <a:p>
                      <a:pPr algn="l" indent="0" marL="0">
                        <a:buNone/>
                      </a:pPr>
                      <a:r>
                        <a:rPr lang="en-US" sz="1550" dirty="0">
                          <a:solidFill>
                            <a:srgbClr val="16204A"/>
                          </a:solidFill>
                          <a:latin typeface="Calibri" pitchFamily="34" charset="0"/>
                          <a:ea typeface="Calibri" pitchFamily="34" charset="-122"/>
                          <a:cs typeface="Calibri" pitchFamily="34" charset="-120"/>
                        </a:rPr>
                        <a:t>Basic</a:t>
                      </a:r>
                      <a:endParaRPr lang="en-US" sz="1550" dirty="0">
                        <a:latin typeface="Calibri" charset="0"/>
                        <a:ea typeface="Calibri" charset="0"/>
                        <a:cs typeface="Calibri" charset="0"/>
                      </a:endParaRPr>
                    </a:p>
                  </a:txBody>
                  <a:tcPr marL="164592" marR="164592" marT="73152" marB="73152" anchor="ctr">
                    <a:lnL w="12700" cap="flat" cmpd="sng" algn="ctr">
                      <a:solidFill>
                        <a:srgbClr val="DCE3ED"/>
                      </a:solidFill>
                      <a:prstDash val="solid"/>
                      <a:round/>
                      <a:headEnd type="none" w="med" len="med"/>
                      <a:tailEnd type="none" w="med" len="med"/>
                    </a:lnL>
                    <a:lnR w="12700" cap="flat" cmpd="sng" algn="ctr">
                      <a:solidFill>
                        <a:srgbClr val="DCE3ED"/>
                      </a:solidFill>
                      <a:prstDash val="solid"/>
                      <a:round/>
                      <a:headEnd type="none" w="med" len="med"/>
                      <a:tailEnd type="none" w="med" len="med"/>
                    </a:lnR>
                    <a:lnT w="12700" cap="flat" cmpd="sng" algn="ctr">
                      <a:solidFill>
                        <a:srgbClr val="DCE3ED"/>
                      </a:solidFill>
                      <a:prstDash val="solid"/>
                      <a:round/>
                      <a:headEnd type="none" w="med" len="med"/>
                      <a:tailEnd type="none" w="med" len="med"/>
                    </a:lnT>
                    <a:lnB w="12700" cap="flat" cmpd="sng" algn="ctr">
                      <a:solidFill>
                        <a:srgbClr val="DCE3ED"/>
                      </a:solidFill>
                      <a:prstDash val="solid"/>
                      <a:round/>
                      <a:headEnd type="none" w="med" len="med"/>
                      <a:tailEnd type="none" w="med" len="med"/>
                    </a:lnB>
                    <a:solidFill>
                      <a:srgbClr val="F2F5FA"/>
                    </a:solidFill>
                  </a:tcPr>
                </a:tc>
                <a:tc>
                  <a:txBody>
                    <a:bodyPr/>
                    <a:lstStyle/>
                    <a:p>
                      <a:pPr algn="l" indent="0" marL="0">
                        <a:buNone/>
                      </a:pPr>
                      <a:r>
                        <a:rPr lang="en-US" sz="1550" dirty="0">
                          <a:solidFill>
                            <a:srgbClr val="16204A"/>
                          </a:solidFill>
                          <a:latin typeface="Calibri" pitchFamily="34" charset="0"/>
                          <a:ea typeface="Calibri" pitchFamily="34" charset="-122"/>
                          <a:cs typeface="Calibri" pitchFamily="34" charset="-120"/>
                        </a:rPr>
                        <a:t>Pre-trained, deep learning ready</a:t>
                      </a:r>
                      <a:endParaRPr lang="en-US" sz="1550" dirty="0">
                        <a:latin typeface="Calibri" charset="0"/>
                        <a:ea typeface="Calibri" charset="0"/>
                        <a:cs typeface="Calibri" charset="0"/>
                      </a:endParaRPr>
                    </a:p>
                  </a:txBody>
                  <a:tcPr marL="164592" marR="164592" marT="73152" marB="73152" anchor="ctr">
                    <a:lnL w="12700" cap="flat" cmpd="sng" algn="ctr">
                      <a:solidFill>
                        <a:srgbClr val="DCE3ED"/>
                      </a:solidFill>
                      <a:prstDash val="solid"/>
                      <a:round/>
                      <a:headEnd type="none" w="med" len="med"/>
                      <a:tailEnd type="none" w="med" len="med"/>
                    </a:lnL>
                    <a:lnR w="12700" cap="flat" cmpd="sng" algn="ctr">
                      <a:solidFill>
                        <a:srgbClr val="DCE3ED"/>
                      </a:solidFill>
                      <a:prstDash val="solid"/>
                      <a:round/>
                      <a:headEnd type="none" w="med" len="med"/>
                      <a:tailEnd type="none" w="med" len="med"/>
                    </a:lnR>
                    <a:lnT w="12700" cap="flat" cmpd="sng" algn="ctr">
                      <a:solidFill>
                        <a:srgbClr val="DCE3ED"/>
                      </a:solidFill>
                      <a:prstDash val="solid"/>
                      <a:round/>
                      <a:headEnd type="none" w="med" len="med"/>
                      <a:tailEnd type="none" w="med" len="med"/>
                    </a:lnT>
                    <a:lnB w="12700" cap="flat" cmpd="sng" algn="ctr">
                      <a:solidFill>
                        <a:srgbClr val="DCE3ED"/>
                      </a:solidFill>
                      <a:prstDash val="solid"/>
                      <a:round/>
                      <a:headEnd type="none" w="med" len="med"/>
                      <a:tailEnd type="none" w="med" len="med"/>
                    </a:lnB>
                    <a:solidFill>
                      <a:srgbClr val="F2F5FA"/>
                    </a:solidFill>
                  </a:tcPr>
                </a:tc>
              </a:tr>
              <a:tr h="566928">
                <a:tc>
                  <a:txBody>
                    <a:bodyPr/>
                    <a:lstStyle/>
                    <a:p>
                      <a:pPr algn="l" indent="0" marL="0">
                        <a:buNone/>
                      </a:pPr>
                      <a:r>
                        <a:rPr lang="en-US" sz="1550" b="1" dirty="0">
                          <a:solidFill>
                            <a:srgbClr val="16204A"/>
                          </a:solidFill>
                          <a:latin typeface="Calibri" pitchFamily="34" charset="0"/>
                          <a:ea typeface="Calibri" pitchFamily="34" charset="-122"/>
                          <a:cs typeface="Calibri" pitchFamily="34" charset="-120"/>
                        </a:rPr>
                        <a:t>Community</a:t>
                      </a:r>
                      <a:endParaRPr lang="en-US" sz="1550" dirty="0">
                        <a:latin typeface="Calibri" charset="0"/>
                        <a:ea typeface="Calibri" charset="0"/>
                        <a:cs typeface="Calibri" charset="0"/>
                      </a:endParaRPr>
                    </a:p>
                  </a:txBody>
                  <a:tcPr marL="164592" marR="164592" marT="73152" marB="73152" anchor="ctr">
                    <a:lnL w="12700" cap="flat" cmpd="sng" algn="ctr">
                      <a:solidFill>
                        <a:srgbClr val="DCE3ED"/>
                      </a:solidFill>
                      <a:prstDash val="solid"/>
                      <a:round/>
                      <a:headEnd type="none" w="med" len="med"/>
                      <a:tailEnd type="none" w="med" len="med"/>
                    </a:lnL>
                    <a:lnR w="12700" cap="flat" cmpd="sng" algn="ctr">
                      <a:solidFill>
                        <a:srgbClr val="DCE3ED"/>
                      </a:solidFill>
                      <a:prstDash val="solid"/>
                      <a:round/>
                      <a:headEnd type="none" w="med" len="med"/>
                      <a:tailEnd type="none" w="med" len="med"/>
                    </a:lnR>
                    <a:lnT w="12700" cap="flat" cmpd="sng" algn="ctr">
                      <a:solidFill>
                        <a:srgbClr val="DCE3ED"/>
                      </a:solidFill>
                      <a:prstDash val="solid"/>
                      <a:round/>
                      <a:headEnd type="none" w="med" len="med"/>
                      <a:tailEnd type="none" w="med" len="med"/>
                    </a:lnT>
                    <a:lnB w="12700" cap="flat" cmpd="sng" algn="ctr">
                      <a:solidFill>
                        <a:srgbClr val="DCE3ED"/>
                      </a:solidFill>
                      <a:prstDash val="solid"/>
                      <a:round/>
                      <a:headEnd type="none" w="med" len="med"/>
                      <a:tailEnd type="none" w="med" len="med"/>
                    </a:lnB>
                    <a:solidFill>
                      <a:srgbClr val="FFFFFF"/>
                    </a:solidFill>
                  </a:tcPr>
                </a:tc>
                <a:tc>
                  <a:txBody>
                    <a:bodyPr/>
                    <a:lstStyle/>
                    <a:p>
                      <a:pPr algn="l" indent="0" marL="0">
                        <a:buNone/>
                      </a:pPr>
                      <a:r>
                        <a:rPr lang="en-US" sz="1550" dirty="0">
                          <a:solidFill>
                            <a:srgbClr val="16204A"/>
                          </a:solidFill>
                          <a:latin typeface="Calibri" pitchFamily="34" charset="0"/>
                          <a:ea typeface="Calibri" pitchFamily="34" charset="-122"/>
                          <a:cs typeface="Calibri" pitchFamily="34" charset="-120"/>
                        </a:rPr>
                        <a:t>Academic</a:t>
                      </a:r>
                      <a:endParaRPr lang="en-US" sz="1550" dirty="0">
                        <a:latin typeface="Calibri" charset="0"/>
                        <a:ea typeface="Calibri" charset="0"/>
                        <a:cs typeface="Calibri" charset="0"/>
                      </a:endParaRPr>
                    </a:p>
                  </a:txBody>
                  <a:tcPr marL="164592" marR="164592" marT="73152" marB="73152" anchor="ctr">
                    <a:lnL w="12700" cap="flat" cmpd="sng" algn="ctr">
                      <a:solidFill>
                        <a:srgbClr val="DCE3ED"/>
                      </a:solidFill>
                      <a:prstDash val="solid"/>
                      <a:round/>
                      <a:headEnd type="none" w="med" len="med"/>
                      <a:tailEnd type="none" w="med" len="med"/>
                    </a:lnL>
                    <a:lnR w="12700" cap="flat" cmpd="sng" algn="ctr">
                      <a:solidFill>
                        <a:srgbClr val="DCE3ED"/>
                      </a:solidFill>
                      <a:prstDash val="solid"/>
                      <a:round/>
                      <a:headEnd type="none" w="med" len="med"/>
                      <a:tailEnd type="none" w="med" len="med"/>
                    </a:lnR>
                    <a:lnT w="12700" cap="flat" cmpd="sng" algn="ctr">
                      <a:solidFill>
                        <a:srgbClr val="DCE3ED"/>
                      </a:solidFill>
                      <a:prstDash val="solid"/>
                      <a:round/>
                      <a:headEnd type="none" w="med" len="med"/>
                      <a:tailEnd type="none" w="med" len="med"/>
                    </a:lnT>
                    <a:lnB w="12700" cap="flat" cmpd="sng" algn="ctr">
                      <a:solidFill>
                        <a:srgbClr val="DCE3ED"/>
                      </a:solidFill>
                      <a:prstDash val="solid"/>
                      <a:round/>
                      <a:headEnd type="none" w="med" len="med"/>
                      <a:tailEnd type="none" w="med" len="med"/>
                    </a:lnB>
                    <a:solidFill>
                      <a:srgbClr val="FFFFFF"/>
                    </a:solidFill>
                  </a:tcPr>
                </a:tc>
                <a:tc>
                  <a:txBody>
                    <a:bodyPr/>
                    <a:lstStyle/>
                    <a:p>
                      <a:pPr algn="l" indent="0" marL="0">
                        <a:buNone/>
                      </a:pPr>
                      <a:r>
                        <a:rPr lang="en-US" sz="1550" dirty="0">
                          <a:solidFill>
                            <a:srgbClr val="16204A"/>
                          </a:solidFill>
                          <a:latin typeface="Calibri" pitchFamily="34" charset="0"/>
                          <a:ea typeface="Calibri" pitchFamily="34" charset="-122"/>
                          <a:cs typeface="Calibri" pitchFamily="34" charset="-120"/>
                        </a:rPr>
                        <a:t>Industry &amp; open-source</a:t>
                      </a:r>
                      <a:endParaRPr lang="en-US" sz="1550" dirty="0">
                        <a:latin typeface="Calibri" charset="0"/>
                        <a:ea typeface="Calibri" charset="0"/>
                        <a:cs typeface="Calibri" charset="0"/>
                      </a:endParaRPr>
                    </a:p>
                  </a:txBody>
                  <a:tcPr marL="164592" marR="164592" marT="73152" marB="73152" anchor="ctr">
                    <a:lnL w="12700" cap="flat" cmpd="sng" algn="ctr">
                      <a:solidFill>
                        <a:srgbClr val="DCE3ED"/>
                      </a:solidFill>
                      <a:prstDash val="solid"/>
                      <a:round/>
                      <a:headEnd type="none" w="med" len="med"/>
                      <a:tailEnd type="none" w="med" len="med"/>
                    </a:lnL>
                    <a:lnR w="12700" cap="flat" cmpd="sng" algn="ctr">
                      <a:solidFill>
                        <a:srgbClr val="DCE3ED"/>
                      </a:solidFill>
                      <a:prstDash val="solid"/>
                      <a:round/>
                      <a:headEnd type="none" w="med" len="med"/>
                      <a:tailEnd type="none" w="med" len="med"/>
                    </a:lnR>
                    <a:lnT w="12700" cap="flat" cmpd="sng" algn="ctr">
                      <a:solidFill>
                        <a:srgbClr val="DCE3ED"/>
                      </a:solidFill>
                      <a:prstDash val="solid"/>
                      <a:round/>
                      <a:headEnd type="none" w="med" len="med"/>
                      <a:tailEnd type="none" w="med" len="med"/>
                    </a:lnT>
                    <a:lnB w="12700" cap="flat" cmpd="sng" algn="ctr">
                      <a:solidFill>
                        <a:srgbClr val="DCE3ED"/>
                      </a:solidFill>
                      <a:prstDash val="solid"/>
                      <a:round/>
                      <a:headEnd type="none" w="med" len="med"/>
                      <a:tailEnd type="none" w="med" len="med"/>
                    </a:lnB>
                    <a:solidFill>
                      <a:srgbClr val="FFFFFF"/>
                    </a:solidFill>
                  </a:tcPr>
                </a:tc>
              </a:tr>
              <a:tr h="566928">
                <a:tc>
                  <a:txBody>
                    <a:bodyPr/>
                    <a:lstStyle/>
                    <a:p>
                      <a:pPr algn="l" indent="0" marL="0">
                        <a:buNone/>
                      </a:pPr>
                      <a:r>
                        <a:rPr lang="en-US" sz="1550" b="1" dirty="0">
                          <a:solidFill>
                            <a:srgbClr val="16204A"/>
                          </a:solidFill>
                          <a:latin typeface="Calibri" pitchFamily="34" charset="0"/>
                          <a:ea typeface="Calibri" pitchFamily="34" charset="-122"/>
                          <a:cs typeface="Calibri" pitchFamily="34" charset="-120"/>
                        </a:rPr>
                        <a:t>Learning curve</a:t>
                      </a:r>
                      <a:endParaRPr lang="en-US" sz="1550" dirty="0">
                        <a:latin typeface="Calibri" charset="0"/>
                        <a:ea typeface="Calibri" charset="0"/>
                        <a:cs typeface="Calibri" charset="0"/>
                      </a:endParaRPr>
                    </a:p>
                  </a:txBody>
                  <a:tcPr marL="164592" marR="164592" marT="73152" marB="73152" anchor="ctr">
                    <a:lnL w="12700" cap="flat" cmpd="sng" algn="ctr">
                      <a:solidFill>
                        <a:srgbClr val="DCE3ED"/>
                      </a:solidFill>
                      <a:prstDash val="solid"/>
                      <a:round/>
                      <a:headEnd type="none" w="med" len="med"/>
                      <a:tailEnd type="none" w="med" len="med"/>
                    </a:lnL>
                    <a:lnR w="12700" cap="flat" cmpd="sng" algn="ctr">
                      <a:solidFill>
                        <a:srgbClr val="DCE3ED"/>
                      </a:solidFill>
                      <a:prstDash val="solid"/>
                      <a:round/>
                      <a:headEnd type="none" w="med" len="med"/>
                      <a:tailEnd type="none" w="med" len="med"/>
                    </a:lnR>
                    <a:lnT w="12700" cap="flat" cmpd="sng" algn="ctr">
                      <a:solidFill>
                        <a:srgbClr val="DCE3ED"/>
                      </a:solidFill>
                      <a:prstDash val="solid"/>
                      <a:round/>
                      <a:headEnd type="none" w="med" len="med"/>
                      <a:tailEnd type="none" w="med" len="med"/>
                    </a:lnT>
                    <a:lnB w="12700" cap="flat" cmpd="sng" algn="ctr">
                      <a:solidFill>
                        <a:srgbClr val="DCE3ED"/>
                      </a:solidFill>
                      <a:prstDash val="solid"/>
                      <a:round/>
                      <a:headEnd type="none" w="med" len="med"/>
                      <a:tailEnd type="none" w="med" len="med"/>
                    </a:lnB>
                    <a:solidFill>
                      <a:srgbClr val="F2F5FA"/>
                    </a:solidFill>
                  </a:tcPr>
                </a:tc>
                <a:tc>
                  <a:txBody>
                    <a:bodyPr/>
                    <a:lstStyle/>
                    <a:p>
                      <a:pPr algn="l" indent="0" marL="0">
                        <a:buNone/>
                      </a:pPr>
                      <a:r>
                        <a:rPr lang="en-US" sz="1550" dirty="0">
                          <a:solidFill>
                            <a:srgbClr val="16204A"/>
                          </a:solidFill>
                          <a:latin typeface="Calibri" pitchFamily="34" charset="0"/>
                          <a:ea typeface="Calibri" pitchFamily="34" charset="-122"/>
                          <a:cs typeface="Calibri" pitchFamily="34" charset="-120"/>
                        </a:rPr>
                        <a:t>Beginner-friendly</a:t>
                      </a:r>
                      <a:endParaRPr lang="en-US" sz="1550" dirty="0">
                        <a:latin typeface="Calibri" charset="0"/>
                        <a:ea typeface="Calibri" charset="0"/>
                        <a:cs typeface="Calibri" charset="0"/>
                      </a:endParaRPr>
                    </a:p>
                  </a:txBody>
                  <a:tcPr marL="164592" marR="164592" marT="73152" marB="73152" anchor="ctr">
                    <a:lnL w="12700" cap="flat" cmpd="sng" algn="ctr">
                      <a:solidFill>
                        <a:srgbClr val="DCE3ED"/>
                      </a:solidFill>
                      <a:prstDash val="solid"/>
                      <a:round/>
                      <a:headEnd type="none" w="med" len="med"/>
                      <a:tailEnd type="none" w="med" len="med"/>
                    </a:lnL>
                    <a:lnR w="12700" cap="flat" cmpd="sng" algn="ctr">
                      <a:solidFill>
                        <a:srgbClr val="DCE3ED"/>
                      </a:solidFill>
                      <a:prstDash val="solid"/>
                      <a:round/>
                      <a:headEnd type="none" w="med" len="med"/>
                      <a:tailEnd type="none" w="med" len="med"/>
                    </a:lnR>
                    <a:lnT w="12700" cap="flat" cmpd="sng" algn="ctr">
                      <a:solidFill>
                        <a:srgbClr val="DCE3ED"/>
                      </a:solidFill>
                      <a:prstDash val="solid"/>
                      <a:round/>
                      <a:headEnd type="none" w="med" len="med"/>
                      <a:tailEnd type="none" w="med" len="med"/>
                    </a:lnT>
                    <a:lnB w="12700" cap="flat" cmpd="sng" algn="ctr">
                      <a:solidFill>
                        <a:srgbClr val="DCE3ED"/>
                      </a:solidFill>
                      <a:prstDash val="solid"/>
                      <a:round/>
                      <a:headEnd type="none" w="med" len="med"/>
                      <a:tailEnd type="none" w="med" len="med"/>
                    </a:lnB>
                    <a:solidFill>
                      <a:srgbClr val="F2F5FA"/>
                    </a:solidFill>
                  </a:tcPr>
                </a:tc>
                <a:tc>
                  <a:txBody>
                    <a:bodyPr/>
                    <a:lstStyle/>
                    <a:p>
                      <a:pPr algn="l" indent="0" marL="0">
                        <a:buNone/>
                      </a:pPr>
                      <a:r>
                        <a:rPr lang="en-US" sz="1550" dirty="0">
                          <a:solidFill>
                            <a:srgbClr val="16204A"/>
                          </a:solidFill>
                          <a:latin typeface="Calibri" pitchFamily="34" charset="0"/>
                          <a:ea typeface="Calibri" pitchFamily="34" charset="-122"/>
                          <a:cs typeface="Calibri" pitchFamily="34" charset="-120"/>
                        </a:rPr>
                        <a:t>Developer-friendly</a:t>
                      </a:r>
                      <a:endParaRPr lang="en-US" sz="1550" dirty="0">
                        <a:latin typeface="Calibri" charset="0"/>
                        <a:ea typeface="Calibri" charset="0"/>
                        <a:cs typeface="Calibri" charset="0"/>
                      </a:endParaRPr>
                    </a:p>
                  </a:txBody>
                  <a:tcPr marL="164592" marR="164592" marT="73152" marB="73152" anchor="ctr">
                    <a:lnL w="12700" cap="flat" cmpd="sng" algn="ctr">
                      <a:solidFill>
                        <a:srgbClr val="DCE3ED"/>
                      </a:solidFill>
                      <a:prstDash val="solid"/>
                      <a:round/>
                      <a:headEnd type="none" w="med" len="med"/>
                      <a:tailEnd type="none" w="med" len="med"/>
                    </a:lnL>
                    <a:lnR w="12700" cap="flat" cmpd="sng" algn="ctr">
                      <a:solidFill>
                        <a:srgbClr val="DCE3ED"/>
                      </a:solidFill>
                      <a:prstDash val="solid"/>
                      <a:round/>
                      <a:headEnd type="none" w="med" len="med"/>
                      <a:tailEnd type="none" w="med" len="med"/>
                    </a:lnR>
                    <a:lnT w="12700" cap="flat" cmpd="sng" algn="ctr">
                      <a:solidFill>
                        <a:srgbClr val="DCE3ED"/>
                      </a:solidFill>
                      <a:prstDash val="solid"/>
                      <a:round/>
                      <a:headEnd type="none" w="med" len="med"/>
                      <a:tailEnd type="none" w="med" len="med"/>
                    </a:lnT>
                    <a:lnB w="12700" cap="flat" cmpd="sng" algn="ctr">
                      <a:solidFill>
                        <a:srgbClr val="DCE3ED"/>
                      </a:solidFill>
                      <a:prstDash val="solid"/>
                      <a:round/>
                      <a:headEnd type="none" w="med" len="med"/>
                      <a:tailEnd type="none" w="med" len="med"/>
                    </a:lnB>
                    <a:solidFill>
                      <a:srgbClr val="F2F5FA"/>
                    </a:solidFill>
                  </a:tcPr>
                </a:tc>
              </a:tr>
            </a:tbl>
          </a:graphicData>
        </a:graphic>
      </p:graphicFrame>
      <p:sp>
        <p:nvSpPr>
          <p:cNvPr id="7" name="Text 3"/>
          <p:cNvSpPr/>
          <p:nvPr/>
        </p:nvSpPr>
        <p:spPr>
          <a:xfrm>
            <a:off x="566928" y="5577840"/>
            <a:ext cx="11064240" cy="457200"/>
          </a:xfrm>
          <a:prstGeom prst="rect">
            <a:avLst/>
          </a:prstGeom>
          <a:noFill/>
          <a:ln/>
        </p:spPr>
        <p:txBody>
          <a:bodyPr wrap="square" lIns="0" tIns="0" rIns="0" bIns="0" rtlCol="0" anchor="ctr"/>
          <a:lstStyle/>
          <a:p>
            <a:pPr indent="0" marL="0">
              <a:buNone/>
            </a:pPr>
            <a:r>
              <a:rPr lang="en-US" sz="2000" i="1" dirty="0">
                <a:solidFill>
                  <a:srgbClr val="13887E"/>
                </a:solidFill>
                <a:latin typeface="Cambria" pitchFamily="34" charset="0"/>
                <a:ea typeface="Cambria" pitchFamily="34" charset="-122"/>
                <a:cs typeface="Cambria" pitchFamily="34" charset="-120"/>
              </a:rPr>
              <a:t>NLTK is great for learning. spaCy is great for doing.</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74320"/>
          </a:xfrm>
          <a:prstGeom prst="rect">
            <a:avLst/>
          </a:prstGeom>
          <a:noFill/>
          <a:ln/>
        </p:spPr>
        <p:txBody>
          <a:bodyPr wrap="square" lIns="0" tIns="0" rIns="0" bIns="0" rtlCol="0" anchor="ctr"/>
          <a:lstStyle/>
          <a:p>
            <a:pPr algn="l" indent="0" marL="0">
              <a:buNone/>
            </a:pPr>
            <a:r>
              <a:rPr lang="en-US" sz="1200" b="1" spc="200" kern="0" dirty="0">
                <a:solidFill>
                  <a:srgbClr val="13887E"/>
                </a:solidFill>
                <a:latin typeface="Calibri" pitchFamily="34" charset="0"/>
                <a:ea typeface="Calibri" pitchFamily="34" charset="-122"/>
                <a:cs typeface="Calibri" pitchFamily="34" charset="-120"/>
              </a:rPr>
              <a:t>CASE STUDY</a:t>
            </a:r>
            <a:endParaRPr lang="en-US" sz="1200" dirty="0"/>
          </a:p>
        </p:txBody>
      </p:sp>
      <p:sp>
        <p:nvSpPr>
          <p:cNvPr id="3" name="Text 1"/>
          <p:cNvSpPr/>
          <p:nvPr/>
        </p:nvSpPr>
        <p:spPr>
          <a:xfrm>
            <a:off x="566928" y="621792"/>
            <a:ext cx="10143439" cy="777240"/>
          </a:xfrm>
          <a:prstGeom prst="rect">
            <a:avLst/>
          </a:prstGeom>
          <a:noFill/>
          <a:ln/>
        </p:spPr>
        <p:txBody>
          <a:bodyPr wrap="square" lIns="0" tIns="0" rIns="0" bIns="0" rtlCol="0" anchor="t"/>
          <a:lstStyle/>
          <a:p>
            <a:pPr indent="0" marL="0">
              <a:buNone/>
            </a:pPr>
            <a:r>
              <a:rPr lang="en-US" sz="3600" b="1" dirty="0">
                <a:solidFill>
                  <a:srgbClr val="0B1437"/>
                </a:solidFill>
                <a:latin typeface="Cambria" pitchFamily="34" charset="0"/>
                <a:ea typeface="Cambria" pitchFamily="34" charset="-122"/>
                <a:cs typeface="Cambria" pitchFamily="34" charset="-120"/>
              </a:rPr>
              <a:t>Case Study: Twitter Sentiment</a:t>
            </a:r>
            <a:endParaRPr lang="en-US" sz="3600" dirty="0"/>
          </a:p>
        </p:txBody>
      </p:sp>
      <p:sp>
        <p:nvSpPr>
          <p:cNvPr id="4" name="Text 2"/>
          <p:cNvSpPr/>
          <p:nvPr/>
        </p:nvSpPr>
        <p:spPr>
          <a:xfrm>
            <a:off x="10801807" y="310896"/>
            <a:ext cx="822960" cy="365760"/>
          </a:xfrm>
          <a:prstGeom prst="rect">
            <a:avLst/>
          </a:prstGeom>
          <a:noFill/>
          <a:ln/>
        </p:spPr>
        <p:txBody>
          <a:bodyPr wrap="square" lIns="0" tIns="0" rIns="0" bIns="0" rtlCol="0" anchor="ctr"/>
          <a:lstStyle/>
          <a:p>
            <a:pPr algn="r" indent="0" marL="0">
              <a:buNone/>
            </a:pPr>
            <a:r>
              <a:rPr lang="en-US" sz="1300" dirty="0">
                <a:solidFill>
                  <a:srgbClr val="A9B3C6"/>
                </a:solidFill>
                <a:latin typeface="Calibri" pitchFamily="34" charset="0"/>
                <a:ea typeface="Calibri" pitchFamily="34" charset="-122"/>
                <a:cs typeface="Calibri" pitchFamily="34" charset="-120"/>
              </a:rPr>
              <a:t>19</a:t>
            </a:r>
            <a:endParaRPr lang="en-US" sz="1300" dirty="0"/>
          </a:p>
        </p:txBody>
      </p:sp>
      <p:pic>
        <p:nvPicPr>
          <p:cNvPr id="6" name="Image 0" descr="assets/twitter_flow.png">    </p:cNvPr>
          <p:cNvPicPr>
            <a:picLocks noChangeAspect="1"/>
          </p:cNvPicPr>
          <p:nvPr/>
        </p:nvPicPr>
        <p:blipFill>
          <a:blip r:embed="rId1"/>
          <a:stretch>
            <a:fillRect/>
          </a:stretch>
        </p:blipFill>
        <p:spPr>
          <a:xfrm>
            <a:off x="1539240" y="1600200"/>
            <a:ext cx="9174480" cy="1600200"/>
          </a:xfrm>
          <a:prstGeom prst="rect">
            <a:avLst/>
          </a:prstGeom>
        </p:spPr>
      </p:pic>
      <p:sp>
        <p:nvSpPr>
          <p:cNvPr id="7" name="Text 3"/>
          <p:cNvSpPr/>
          <p:nvPr/>
        </p:nvSpPr>
        <p:spPr>
          <a:xfrm>
            <a:off x="566928" y="3429000"/>
            <a:ext cx="5394960" cy="1554480"/>
          </a:xfrm>
          <a:prstGeom prst="rect">
            <a:avLst/>
          </a:prstGeom>
          <a:noFill/>
          <a:ln/>
        </p:spPr>
        <p:txBody>
          <a:bodyPr wrap="square" lIns="0" tIns="0" rIns="0" bIns="0" rtlCol="0" anchor="t"/>
          <a:lstStyle/>
          <a:p>
            <a:pPr marL="342900" indent="-342900">
              <a:spcAft>
                <a:spcPts val="1000"/>
              </a:spcAft>
              <a:buSzPct val="100000"/>
              <a:buChar char="●"/>
            </a:pPr>
            <a:r>
              <a:rPr lang="en-US" sz="1550" dirty="0">
                <a:solidFill>
                  <a:srgbClr val="16204A"/>
                </a:solidFill>
                <a:latin typeface="Calibri" pitchFamily="34" charset="0"/>
                <a:ea typeface="Calibri" pitchFamily="34" charset="-122"/>
                <a:cs typeface="Calibri" pitchFamily="34" charset="-120"/>
              </a:rPr>
              <a:t>Collect tweets with hashtags (#BrandX)</a:t>
            </a:r>
            <a:endParaRPr lang="en-US" sz="1550" dirty="0"/>
          </a:p>
          <a:p>
            <a:pPr marL="342900" indent="-342900">
              <a:spcAft>
                <a:spcPts val="1000"/>
              </a:spcAft>
              <a:buSzPct val="100000"/>
              <a:buChar char="●"/>
            </a:pPr>
            <a:r>
              <a:rPr lang="en-US" sz="1550" dirty="0">
                <a:solidFill>
                  <a:srgbClr val="16204A"/>
                </a:solidFill>
                <a:latin typeface="Calibri" pitchFamily="34" charset="0"/>
                <a:ea typeface="Calibri" pitchFamily="34" charset="-122"/>
                <a:cs typeface="Calibri" pitchFamily="34" charset="-120"/>
              </a:rPr>
              <a:t>Use spaCy for preprocessing</a:t>
            </a:r>
            <a:endParaRPr lang="en-US" sz="1550" dirty="0"/>
          </a:p>
          <a:p>
            <a:pPr marL="342900" indent="-342900">
              <a:spcAft>
                <a:spcPts val="1000"/>
              </a:spcAft>
              <a:buSzPct val="100000"/>
              <a:buChar char="●"/>
            </a:pPr>
            <a:r>
              <a:rPr lang="en-US" sz="1550" dirty="0">
                <a:solidFill>
                  <a:srgbClr val="16204A"/>
                </a:solidFill>
                <a:latin typeface="Calibri" pitchFamily="34" charset="0"/>
                <a:ea typeface="Calibri" pitchFamily="34" charset="-122"/>
                <a:cs typeface="Calibri" pitchFamily="34" charset="-120"/>
              </a:rPr>
              <a:t>Classify as positive/negative/neutral</a:t>
            </a:r>
            <a:endParaRPr lang="en-US" sz="1550" dirty="0"/>
          </a:p>
        </p:txBody>
      </p:sp>
      <p:sp>
        <p:nvSpPr>
          <p:cNvPr id="8" name="Text 4"/>
          <p:cNvSpPr/>
          <p:nvPr/>
        </p:nvSpPr>
        <p:spPr>
          <a:xfrm>
            <a:off x="566928" y="5349240"/>
            <a:ext cx="5394960" cy="640080"/>
          </a:xfrm>
          <a:prstGeom prst="rect">
            <a:avLst/>
          </a:prstGeom>
          <a:noFill/>
          <a:ln/>
        </p:spPr>
        <p:txBody>
          <a:bodyPr wrap="square" lIns="0" tIns="0" rIns="0" bIns="0" rtlCol="0" anchor="ctr"/>
          <a:lstStyle/>
          <a:p>
            <a:pPr indent="0" marL="0">
              <a:buNone/>
            </a:pPr>
            <a:r>
              <a:rPr lang="en-US" sz="1400" i="1" dirty="0">
                <a:solidFill>
                  <a:srgbClr val="5C6784"/>
                </a:solidFill>
                <a:latin typeface="Calibri" pitchFamily="34" charset="0"/>
                <a:ea typeface="Calibri" pitchFamily="34" charset="-122"/>
                <a:cs typeface="Calibri" pitchFamily="34" charset="-120"/>
              </a:rPr>
              <a:t>Real-time monitoring turns a bad launch into a fast response.</a:t>
            </a:r>
            <a:endParaRPr lang="en-US" sz="1400" dirty="0"/>
          </a:p>
        </p:txBody>
      </p:sp>
      <p:sp>
        <p:nvSpPr>
          <p:cNvPr id="9" name="Shape 5"/>
          <p:cNvSpPr/>
          <p:nvPr/>
        </p:nvSpPr>
        <p:spPr>
          <a:xfrm>
            <a:off x="6355080" y="3291840"/>
            <a:ext cx="5285232" cy="2788920"/>
          </a:xfrm>
          <a:prstGeom prst="roundRect">
            <a:avLst>
              <a:gd name="adj" fmla="val 3279"/>
            </a:avLst>
          </a:prstGeom>
          <a:solidFill>
            <a:srgbClr val="0B1437"/>
          </a:solidFill>
          <a:ln w="12700">
            <a:solidFill>
              <a:srgbClr val="16204A"/>
            </a:solidFill>
            <a:prstDash val="solid"/>
          </a:ln>
        </p:spPr>
      </p:sp>
      <p:sp>
        <p:nvSpPr>
          <p:cNvPr id="10" name="Text 6"/>
          <p:cNvSpPr/>
          <p:nvPr/>
        </p:nvSpPr>
        <p:spPr>
          <a:xfrm>
            <a:off x="6592824" y="3419856"/>
            <a:ext cx="4828032" cy="237744"/>
          </a:xfrm>
          <a:prstGeom prst="rect">
            <a:avLst/>
          </a:prstGeom>
          <a:noFill/>
          <a:ln/>
        </p:spPr>
        <p:txBody>
          <a:bodyPr wrap="square" lIns="0" tIns="0" rIns="0" bIns="0" rtlCol="0" anchor="ctr"/>
          <a:lstStyle/>
          <a:p>
            <a:pPr indent="0" marL="0">
              <a:buNone/>
            </a:pPr>
            <a:r>
              <a:rPr lang="en-US" sz="1100" b="1" spc="100" kern="0" dirty="0">
                <a:solidFill>
                  <a:srgbClr val="2EC4B6"/>
                </a:solidFill>
                <a:latin typeface="Calibri" pitchFamily="34" charset="0"/>
                <a:ea typeface="Calibri" pitchFamily="34" charset="-122"/>
                <a:cs typeface="Calibri" pitchFamily="34" charset="-120"/>
              </a:rPr>
              <a:t>PREPROCESS + CLASSIFY</a:t>
            </a:r>
            <a:endParaRPr lang="en-US" sz="1100" dirty="0"/>
          </a:p>
        </p:txBody>
      </p:sp>
      <p:sp>
        <p:nvSpPr>
          <p:cNvPr id="11" name="Text 7"/>
          <p:cNvSpPr/>
          <p:nvPr/>
        </p:nvSpPr>
        <p:spPr>
          <a:xfrm>
            <a:off x="6592824" y="3694176"/>
            <a:ext cx="4828032" cy="2240280"/>
          </a:xfrm>
          <a:prstGeom prst="rect">
            <a:avLst/>
          </a:prstGeom>
          <a:noFill/>
          <a:ln/>
        </p:spPr>
        <p:txBody>
          <a:bodyPr wrap="square" lIns="0" tIns="0" rIns="0" bIns="0" rtlCol="0" anchor="t"/>
          <a:lstStyle/>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import spacy, re</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nlp = spacy.load("en_core_web_sm")</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def clean(tweet):</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    tweet = re.sub(r"http\S+|@\w+", "", tweet)</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    doc = nlp(tweet.lower())</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    keep = [t.lemma_ for t in doc</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            if not t.is_stop and t.is_alpha]</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    return " ".join(keep)</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 </a:t>
            </a:r>
            <a:endParaRPr lang="en-US" sz="1100" dirty="0"/>
          </a:p>
          <a:p>
            <a:pPr indent="0" marL="0">
              <a:lnSpc>
                <a:spcPct val="106000"/>
              </a:lnSpc>
              <a:buNone/>
            </a:pPr>
            <a:r>
              <a:rPr lang="en-US" sz="1100" dirty="0">
                <a:solidFill>
                  <a:srgbClr val="EAF0FA"/>
                </a:solidFill>
                <a:latin typeface="Courier New" pitchFamily="34" charset="0"/>
                <a:ea typeface="Courier New" pitchFamily="34" charset="-122"/>
                <a:cs typeface="Courier New" pitchFamily="34" charset="-120"/>
              </a:rPr>
              <a:t>clf.predict(vec.transform([clean(tweet)]))</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74320"/>
          </a:xfrm>
          <a:prstGeom prst="rect">
            <a:avLst/>
          </a:prstGeom>
          <a:noFill/>
          <a:ln/>
        </p:spPr>
        <p:txBody>
          <a:bodyPr wrap="square" lIns="0" tIns="0" rIns="0" bIns="0" rtlCol="0" anchor="ctr"/>
          <a:lstStyle/>
          <a:p>
            <a:pPr algn="l" indent="0" marL="0">
              <a:buNone/>
            </a:pPr>
            <a:r>
              <a:rPr lang="en-US" sz="1200" b="1" spc="200" kern="0" dirty="0">
                <a:solidFill>
                  <a:srgbClr val="13887E"/>
                </a:solidFill>
                <a:latin typeface="Calibri" pitchFamily="34" charset="0"/>
                <a:ea typeface="Calibri" pitchFamily="34" charset="-122"/>
                <a:cs typeface="Calibri" pitchFamily="34" charset="-120"/>
              </a:rPr>
              <a:t>CASE STUDY</a:t>
            </a:r>
            <a:endParaRPr lang="en-US" sz="1200" dirty="0"/>
          </a:p>
        </p:txBody>
      </p:sp>
      <p:sp>
        <p:nvSpPr>
          <p:cNvPr id="3" name="Text 1"/>
          <p:cNvSpPr/>
          <p:nvPr/>
        </p:nvSpPr>
        <p:spPr>
          <a:xfrm>
            <a:off x="566928" y="621792"/>
            <a:ext cx="10143439" cy="777240"/>
          </a:xfrm>
          <a:prstGeom prst="rect">
            <a:avLst/>
          </a:prstGeom>
          <a:noFill/>
          <a:ln/>
        </p:spPr>
        <p:txBody>
          <a:bodyPr wrap="square" lIns="0" tIns="0" rIns="0" bIns="0" rtlCol="0" anchor="t"/>
          <a:lstStyle/>
          <a:p>
            <a:pPr indent="0" marL="0">
              <a:buNone/>
            </a:pPr>
            <a:r>
              <a:rPr lang="en-US" sz="3600" b="1" dirty="0">
                <a:solidFill>
                  <a:srgbClr val="0B1437"/>
                </a:solidFill>
                <a:latin typeface="Cambria" pitchFamily="34" charset="0"/>
                <a:ea typeface="Cambria" pitchFamily="34" charset="-122"/>
                <a:cs typeface="Cambria" pitchFamily="34" charset="-120"/>
              </a:rPr>
              <a:t>Case Study: Healthcare NLP</a:t>
            </a:r>
            <a:endParaRPr lang="en-US" sz="3600" dirty="0"/>
          </a:p>
        </p:txBody>
      </p:sp>
      <p:sp>
        <p:nvSpPr>
          <p:cNvPr id="4" name="Text 2"/>
          <p:cNvSpPr/>
          <p:nvPr/>
        </p:nvSpPr>
        <p:spPr>
          <a:xfrm>
            <a:off x="10801807" y="310896"/>
            <a:ext cx="822960" cy="365760"/>
          </a:xfrm>
          <a:prstGeom prst="rect">
            <a:avLst/>
          </a:prstGeom>
          <a:noFill/>
          <a:ln/>
        </p:spPr>
        <p:txBody>
          <a:bodyPr wrap="square" lIns="0" tIns="0" rIns="0" bIns="0" rtlCol="0" anchor="ctr"/>
          <a:lstStyle/>
          <a:p>
            <a:pPr algn="r" indent="0" marL="0">
              <a:buNone/>
            </a:pPr>
            <a:r>
              <a:rPr lang="en-US" sz="1300" dirty="0">
                <a:solidFill>
                  <a:srgbClr val="A9B3C6"/>
                </a:solidFill>
                <a:latin typeface="Calibri" pitchFamily="34" charset="0"/>
                <a:ea typeface="Calibri" pitchFamily="34" charset="-122"/>
                <a:cs typeface="Calibri" pitchFamily="34" charset="-120"/>
              </a:rPr>
              <a:t>20</a:t>
            </a:r>
            <a:endParaRPr lang="en-US" sz="1300" dirty="0"/>
          </a:p>
        </p:txBody>
      </p:sp>
      <p:pic>
        <p:nvPicPr>
          <p:cNvPr id="6" name="Image 0" descr="assets/clinical.png">    </p:cNvPr>
          <p:cNvPicPr>
            <a:picLocks noChangeAspect="1"/>
          </p:cNvPicPr>
          <p:nvPr/>
        </p:nvPicPr>
        <p:blipFill>
          <a:blip r:embed="rId1"/>
          <a:stretch>
            <a:fillRect/>
          </a:stretch>
        </p:blipFill>
        <p:spPr>
          <a:xfrm>
            <a:off x="2206752" y="1645920"/>
            <a:ext cx="7748016" cy="2834640"/>
          </a:xfrm>
          <a:prstGeom prst="rect">
            <a:avLst/>
          </a:prstGeom>
        </p:spPr>
      </p:pic>
      <p:sp>
        <p:nvSpPr>
          <p:cNvPr id="7" name="Shape 3"/>
          <p:cNvSpPr/>
          <p:nvPr/>
        </p:nvSpPr>
        <p:spPr>
          <a:xfrm>
            <a:off x="566928" y="4663440"/>
            <a:ext cx="3520440" cy="868680"/>
          </a:xfrm>
          <a:prstGeom prst="roundRect">
            <a:avLst>
              <a:gd name="adj" fmla="val 12632"/>
            </a:avLst>
          </a:prstGeom>
          <a:solidFill>
            <a:srgbClr val="F2F5FA"/>
          </a:solidFill>
          <a:ln w="12700">
            <a:solidFill>
              <a:srgbClr val="DCE3ED"/>
            </a:solidFill>
            <a:prstDash val="solid"/>
          </a:ln>
        </p:spPr>
      </p:sp>
      <p:sp>
        <p:nvSpPr>
          <p:cNvPr id="8" name="Text 4"/>
          <p:cNvSpPr/>
          <p:nvPr/>
        </p:nvSpPr>
        <p:spPr>
          <a:xfrm>
            <a:off x="877824" y="4869180"/>
            <a:ext cx="2916936" cy="384048"/>
          </a:xfrm>
          <a:prstGeom prst="rect">
            <a:avLst/>
          </a:prstGeom>
          <a:noFill/>
          <a:ln/>
        </p:spPr>
        <p:txBody>
          <a:bodyPr wrap="square" lIns="0" tIns="0" rIns="0" bIns="0" rtlCol="0" anchor="ctr"/>
          <a:lstStyle/>
          <a:p>
            <a:pPr indent="0" marL="0">
              <a:buNone/>
            </a:pPr>
            <a:r>
              <a:rPr lang="en-US" sz="1500" b="1" dirty="0">
                <a:solidFill>
                  <a:srgbClr val="0B1437"/>
                </a:solidFill>
                <a:latin typeface="Calibri" pitchFamily="34" charset="0"/>
                <a:ea typeface="Calibri" pitchFamily="34" charset="-122"/>
                <a:cs typeface="Calibri" pitchFamily="34" charset="-120"/>
              </a:rPr>
              <a:t>Extract symptoms from clinical notes</a:t>
            </a:r>
            <a:endParaRPr lang="en-US" sz="1500" dirty="0"/>
          </a:p>
        </p:txBody>
      </p:sp>
      <p:sp>
        <p:nvSpPr>
          <p:cNvPr id="9" name="Shape 5"/>
          <p:cNvSpPr/>
          <p:nvPr/>
        </p:nvSpPr>
        <p:spPr>
          <a:xfrm>
            <a:off x="841248" y="5029200"/>
            <a:ext cx="146304" cy="146304"/>
          </a:xfrm>
          <a:prstGeom prst="ellipse">
            <a:avLst/>
          </a:prstGeom>
          <a:solidFill>
            <a:srgbClr val="2EC4B6"/>
          </a:solidFill>
          <a:ln/>
        </p:spPr>
      </p:sp>
      <p:sp>
        <p:nvSpPr>
          <p:cNvPr id="10" name="Shape 6"/>
          <p:cNvSpPr/>
          <p:nvPr/>
        </p:nvSpPr>
        <p:spPr>
          <a:xfrm>
            <a:off x="4297680" y="4663440"/>
            <a:ext cx="3520440" cy="868680"/>
          </a:xfrm>
          <a:prstGeom prst="roundRect">
            <a:avLst>
              <a:gd name="adj" fmla="val 12632"/>
            </a:avLst>
          </a:prstGeom>
          <a:solidFill>
            <a:srgbClr val="F2F5FA"/>
          </a:solidFill>
          <a:ln w="12700">
            <a:solidFill>
              <a:srgbClr val="DCE3ED"/>
            </a:solidFill>
            <a:prstDash val="solid"/>
          </a:ln>
        </p:spPr>
      </p:sp>
      <p:sp>
        <p:nvSpPr>
          <p:cNvPr id="11" name="Text 7"/>
          <p:cNvSpPr/>
          <p:nvPr/>
        </p:nvSpPr>
        <p:spPr>
          <a:xfrm>
            <a:off x="4608576" y="4869180"/>
            <a:ext cx="2916936" cy="384048"/>
          </a:xfrm>
          <a:prstGeom prst="rect">
            <a:avLst/>
          </a:prstGeom>
          <a:noFill/>
          <a:ln/>
        </p:spPr>
        <p:txBody>
          <a:bodyPr wrap="square" lIns="0" tIns="0" rIns="0" bIns="0" rtlCol="0" anchor="ctr"/>
          <a:lstStyle/>
          <a:p>
            <a:pPr indent="0" marL="0">
              <a:buNone/>
            </a:pPr>
            <a:r>
              <a:rPr lang="en-US" sz="1500" b="1" dirty="0">
                <a:solidFill>
                  <a:srgbClr val="0B1437"/>
                </a:solidFill>
                <a:latin typeface="Calibri" pitchFamily="34" charset="0"/>
                <a:ea typeface="Calibri" pitchFamily="34" charset="-122"/>
                <a:cs typeface="Calibri" pitchFamily="34" charset="-120"/>
              </a:rPr>
              <a:t>Detect disease progression</a:t>
            </a:r>
            <a:endParaRPr lang="en-US" sz="1500" dirty="0"/>
          </a:p>
        </p:txBody>
      </p:sp>
      <p:sp>
        <p:nvSpPr>
          <p:cNvPr id="12" name="Shape 8"/>
          <p:cNvSpPr/>
          <p:nvPr/>
        </p:nvSpPr>
        <p:spPr>
          <a:xfrm>
            <a:off x="4572000" y="5029200"/>
            <a:ext cx="146304" cy="146304"/>
          </a:xfrm>
          <a:prstGeom prst="ellipse">
            <a:avLst/>
          </a:prstGeom>
          <a:solidFill>
            <a:srgbClr val="7C6BF2"/>
          </a:solidFill>
          <a:ln/>
        </p:spPr>
      </p:sp>
      <p:sp>
        <p:nvSpPr>
          <p:cNvPr id="13" name="Shape 9"/>
          <p:cNvSpPr/>
          <p:nvPr/>
        </p:nvSpPr>
        <p:spPr>
          <a:xfrm>
            <a:off x="8028432" y="4663440"/>
            <a:ext cx="3520440" cy="868680"/>
          </a:xfrm>
          <a:prstGeom prst="roundRect">
            <a:avLst>
              <a:gd name="adj" fmla="val 12632"/>
            </a:avLst>
          </a:prstGeom>
          <a:solidFill>
            <a:srgbClr val="F2F5FA"/>
          </a:solidFill>
          <a:ln w="12700">
            <a:solidFill>
              <a:srgbClr val="DCE3ED"/>
            </a:solidFill>
            <a:prstDash val="solid"/>
          </a:ln>
        </p:spPr>
      </p:sp>
      <p:sp>
        <p:nvSpPr>
          <p:cNvPr id="14" name="Text 10"/>
          <p:cNvSpPr/>
          <p:nvPr/>
        </p:nvSpPr>
        <p:spPr>
          <a:xfrm>
            <a:off x="8339328" y="4869180"/>
            <a:ext cx="2916936" cy="384048"/>
          </a:xfrm>
          <a:prstGeom prst="rect">
            <a:avLst/>
          </a:prstGeom>
          <a:noFill/>
          <a:ln/>
        </p:spPr>
        <p:txBody>
          <a:bodyPr wrap="square" lIns="0" tIns="0" rIns="0" bIns="0" rtlCol="0" anchor="ctr"/>
          <a:lstStyle/>
          <a:p>
            <a:pPr indent="0" marL="0">
              <a:buNone/>
            </a:pPr>
            <a:r>
              <a:rPr lang="en-US" sz="1500" b="1" dirty="0">
                <a:solidFill>
                  <a:srgbClr val="0B1437"/>
                </a:solidFill>
                <a:latin typeface="Calibri" pitchFamily="34" charset="0"/>
                <a:ea typeface="Calibri" pitchFamily="34" charset="-122"/>
                <a:cs typeface="Calibri" pitchFamily="34" charset="-120"/>
              </a:rPr>
              <a:t>Assist in diagnosis</a:t>
            </a:r>
            <a:endParaRPr lang="en-US" sz="1500" dirty="0"/>
          </a:p>
        </p:txBody>
      </p:sp>
      <p:sp>
        <p:nvSpPr>
          <p:cNvPr id="15" name="Shape 11"/>
          <p:cNvSpPr/>
          <p:nvPr/>
        </p:nvSpPr>
        <p:spPr>
          <a:xfrm>
            <a:off x="8302752" y="5029200"/>
            <a:ext cx="146304" cy="146304"/>
          </a:xfrm>
          <a:prstGeom prst="ellipse">
            <a:avLst/>
          </a:prstGeom>
          <a:solidFill>
            <a:srgbClr val="FFB703"/>
          </a:solidFill>
          <a:ln/>
        </p:spPr>
      </p:sp>
      <p:sp>
        <p:nvSpPr>
          <p:cNvPr id="16" name="Text 12"/>
          <p:cNvSpPr/>
          <p:nvPr/>
        </p:nvSpPr>
        <p:spPr>
          <a:xfrm>
            <a:off x="566928" y="5760720"/>
            <a:ext cx="11064240" cy="365760"/>
          </a:xfrm>
          <a:prstGeom prst="rect">
            <a:avLst/>
          </a:prstGeom>
          <a:noFill/>
          <a:ln/>
        </p:spPr>
        <p:txBody>
          <a:bodyPr wrap="square" lIns="0" tIns="0" rIns="0" bIns="0" rtlCol="0" anchor="ctr"/>
          <a:lstStyle/>
          <a:p>
            <a:pPr indent="0" marL="0">
              <a:buNone/>
            </a:pPr>
            <a:r>
              <a:rPr lang="en-US" sz="1400" i="1" dirty="0">
                <a:solidFill>
                  <a:srgbClr val="5C6784"/>
                </a:solidFill>
                <a:latin typeface="Calibri" pitchFamily="34" charset="0"/>
                <a:ea typeface="Calibri" pitchFamily="34" charset="-122"/>
                <a:cs typeface="Calibri" pitchFamily="34" charset="-120"/>
              </a:rPr>
              <a:t>Turning free text into structured data saves clinicians time and improves patient care.</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74320"/>
          </a:xfrm>
          <a:prstGeom prst="rect">
            <a:avLst/>
          </a:prstGeom>
          <a:noFill/>
          <a:ln/>
        </p:spPr>
        <p:txBody>
          <a:bodyPr wrap="square" lIns="0" tIns="0" rIns="0" bIns="0" rtlCol="0" anchor="ctr"/>
          <a:lstStyle/>
          <a:p>
            <a:pPr algn="l" indent="0" marL="0">
              <a:buNone/>
            </a:pPr>
            <a:r>
              <a:rPr lang="en-US" sz="1200" b="1" spc="200" kern="0" dirty="0">
                <a:solidFill>
                  <a:srgbClr val="13887E"/>
                </a:solidFill>
                <a:latin typeface="Calibri" pitchFamily="34" charset="0"/>
                <a:ea typeface="Calibri" pitchFamily="34" charset="-122"/>
                <a:cs typeface="Calibri" pitchFamily="34" charset="-120"/>
              </a:rPr>
              <a:t>REALITY CHECK</a:t>
            </a:r>
            <a:endParaRPr lang="en-US" sz="1200" dirty="0"/>
          </a:p>
        </p:txBody>
      </p:sp>
      <p:sp>
        <p:nvSpPr>
          <p:cNvPr id="3" name="Text 1"/>
          <p:cNvSpPr/>
          <p:nvPr/>
        </p:nvSpPr>
        <p:spPr>
          <a:xfrm>
            <a:off x="566928" y="621792"/>
            <a:ext cx="10143439" cy="777240"/>
          </a:xfrm>
          <a:prstGeom prst="rect">
            <a:avLst/>
          </a:prstGeom>
          <a:noFill/>
          <a:ln/>
        </p:spPr>
        <p:txBody>
          <a:bodyPr wrap="square" lIns="0" tIns="0" rIns="0" bIns="0" rtlCol="0" anchor="t"/>
          <a:lstStyle/>
          <a:p>
            <a:pPr indent="0" marL="0">
              <a:buNone/>
            </a:pPr>
            <a:r>
              <a:rPr lang="en-US" sz="3600" b="1" dirty="0">
                <a:solidFill>
                  <a:srgbClr val="0B1437"/>
                </a:solidFill>
                <a:latin typeface="Cambria" pitchFamily="34" charset="0"/>
                <a:ea typeface="Cambria" pitchFamily="34" charset="-122"/>
                <a:cs typeface="Cambria" pitchFamily="34" charset="-120"/>
              </a:rPr>
              <a:t>Challenges in NLP</a:t>
            </a:r>
            <a:endParaRPr lang="en-US" sz="3600" dirty="0"/>
          </a:p>
        </p:txBody>
      </p:sp>
      <p:sp>
        <p:nvSpPr>
          <p:cNvPr id="4" name="Text 2"/>
          <p:cNvSpPr/>
          <p:nvPr/>
        </p:nvSpPr>
        <p:spPr>
          <a:xfrm>
            <a:off x="10801807" y="310896"/>
            <a:ext cx="822960" cy="365760"/>
          </a:xfrm>
          <a:prstGeom prst="rect">
            <a:avLst/>
          </a:prstGeom>
          <a:noFill/>
          <a:ln/>
        </p:spPr>
        <p:txBody>
          <a:bodyPr wrap="square" lIns="0" tIns="0" rIns="0" bIns="0" rtlCol="0" anchor="ctr"/>
          <a:lstStyle/>
          <a:p>
            <a:pPr algn="r" indent="0" marL="0">
              <a:buNone/>
            </a:pPr>
            <a:r>
              <a:rPr lang="en-US" sz="1300" dirty="0">
                <a:solidFill>
                  <a:srgbClr val="A9B3C6"/>
                </a:solidFill>
                <a:latin typeface="Calibri" pitchFamily="34" charset="0"/>
                <a:ea typeface="Calibri" pitchFamily="34" charset="-122"/>
                <a:cs typeface="Calibri" pitchFamily="34" charset="-120"/>
              </a:rPr>
              <a:t>21</a:t>
            </a:r>
            <a:endParaRPr lang="en-US" sz="1300" dirty="0"/>
          </a:p>
        </p:txBody>
      </p:sp>
      <p:sp>
        <p:nvSpPr>
          <p:cNvPr id="6" name="Shape 3"/>
          <p:cNvSpPr/>
          <p:nvPr/>
        </p:nvSpPr>
        <p:spPr>
          <a:xfrm>
            <a:off x="566928" y="1828800"/>
            <a:ext cx="5285232" cy="1737360"/>
          </a:xfrm>
          <a:prstGeom prst="roundRect">
            <a:avLst>
              <a:gd name="adj" fmla="val 6316"/>
            </a:avLst>
          </a:prstGeom>
          <a:solidFill>
            <a:srgbClr val="F2F5FA"/>
          </a:solidFill>
          <a:ln w="12700">
            <a:solidFill>
              <a:srgbClr val="DCE3ED"/>
            </a:solidFill>
            <a:prstDash val="solid"/>
          </a:ln>
        </p:spPr>
      </p:sp>
      <p:sp>
        <p:nvSpPr>
          <p:cNvPr id="7" name="Shape 4"/>
          <p:cNvSpPr/>
          <p:nvPr/>
        </p:nvSpPr>
        <p:spPr>
          <a:xfrm>
            <a:off x="859536" y="2139696"/>
            <a:ext cx="566928" cy="566928"/>
          </a:xfrm>
          <a:prstGeom prst="ellipse">
            <a:avLst/>
          </a:prstGeom>
          <a:solidFill>
            <a:srgbClr val="7C6BF2"/>
          </a:solidFill>
          <a:ln/>
        </p:spPr>
      </p:sp>
      <p:pic>
        <p:nvPicPr>
          <p:cNvPr id="8" name="Image 0" descr="assets/icons/question_w.png">    </p:cNvPr>
          <p:cNvPicPr>
            <a:picLocks noChangeAspect="1"/>
          </p:cNvPicPr>
          <p:nvPr/>
        </p:nvPicPr>
        <p:blipFill>
          <a:blip r:embed="rId1"/>
          <a:stretch>
            <a:fillRect/>
          </a:stretch>
        </p:blipFill>
        <p:spPr>
          <a:xfrm>
            <a:off x="987552" y="2267712"/>
            <a:ext cx="310896" cy="310896"/>
          </a:xfrm>
          <a:prstGeom prst="rect">
            <a:avLst/>
          </a:prstGeom>
        </p:spPr>
      </p:pic>
      <p:sp>
        <p:nvSpPr>
          <p:cNvPr id="9" name="Text 5"/>
          <p:cNvSpPr/>
          <p:nvPr/>
        </p:nvSpPr>
        <p:spPr>
          <a:xfrm>
            <a:off x="1609344" y="2103120"/>
            <a:ext cx="3950208" cy="384048"/>
          </a:xfrm>
          <a:prstGeom prst="rect">
            <a:avLst/>
          </a:prstGeom>
          <a:noFill/>
          <a:ln/>
        </p:spPr>
        <p:txBody>
          <a:bodyPr wrap="square" lIns="0" tIns="0" rIns="0" bIns="0" rtlCol="0" anchor="ctr"/>
          <a:lstStyle/>
          <a:p>
            <a:pPr indent="0" marL="0">
              <a:buNone/>
            </a:pPr>
            <a:r>
              <a:rPr lang="en-US" sz="1800" b="1" dirty="0">
                <a:solidFill>
                  <a:srgbClr val="0B1437"/>
                </a:solidFill>
                <a:latin typeface="Calibri" pitchFamily="34" charset="0"/>
                <a:ea typeface="Calibri" pitchFamily="34" charset="-122"/>
                <a:cs typeface="Calibri" pitchFamily="34" charset="-120"/>
              </a:rPr>
              <a:t>Ambiguity of language</a:t>
            </a:r>
            <a:endParaRPr lang="en-US" sz="1800" dirty="0"/>
          </a:p>
        </p:txBody>
      </p:sp>
      <p:sp>
        <p:nvSpPr>
          <p:cNvPr id="10" name="Text 6"/>
          <p:cNvSpPr/>
          <p:nvPr/>
        </p:nvSpPr>
        <p:spPr>
          <a:xfrm>
            <a:off x="1609344" y="2523744"/>
            <a:ext cx="3950208" cy="822960"/>
          </a:xfrm>
          <a:prstGeom prst="rect">
            <a:avLst/>
          </a:prstGeom>
          <a:noFill/>
          <a:ln/>
        </p:spPr>
        <p:txBody>
          <a:bodyPr wrap="square" lIns="0" tIns="0" rIns="0" bIns="0" rtlCol="0" anchor="t"/>
          <a:lstStyle/>
          <a:p>
            <a:pPr indent="0" marL="0">
              <a:lnSpc>
                <a:spcPct val="112000"/>
              </a:lnSpc>
              <a:buNone/>
            </a:pPr>
            <a:r>
              <a:rPr lang="en-US" sz="1400" dirty="0">
                <a:solidFill>
                  <a:srgbClr val="5C6784"/>
                </a:solidFill>
                <a:latin typeface="Calibri" pitchFamily="34" charset="0"/>
                <a:ea typeface="Calibri" pitchFamily="34" charset="-122"/>
                <a:cs typeface="Calibri" pitchFamily="34" charset="-120"/>
              </a:rPr>
              <a:t>One phrase, many possible readings</a:t>
            </a:r>
            <a:endParaRPr lang="en-US" sz="1400" dirty="0"/>
          </a:p>
        </p:txBody>
      </p:sp>
      <p:sp>
        <p:nvSpPr>
          <p:cNvPr id="11" name="Shape 7"/>
          <p:cNvSpPr/>
          <p:nvPr/>
        </p:nvSpPr>
        <p:spPr>
          <a:xfrm>
            <a:off x="6355080" y="1828800"/>
            <a:ext cx="5285232" cy="1737360"/>
          </a:xfrm>
          <a:prstGeom prst="roundRect">
            <a:avLst>
              <a:gd name="adj" fmla="val 6316"/>
            </a:avLst>
          </a:prstGeom>
          <a:solidFill>
            <a:srgbClr val="F2F5FA"/>
          </a:solidFill>
          <a:ln w="12700">
            <a:solidFill>
              <a:srgbClr val="DCE3ED"/>
            </a:solidFill>
            <a:prstDash val="solid"/>
          </a:ln>
        </p:spPr>
      </p:sp>
      <p:sp>
        <p:nvSpPr>
          <p:cNvPr id="12" name="Shape 8"/>
          <p:cNvSpPr/>
          <p:nvPr/>
        </p:nvSpPr>
        <p:spPr>
          <a:xfrm>
            <a:off x="6647688" y="2139696"/>
            <a:ext cx="566928" cy="566928"/>
          </a:xfrm>
          <a:prstGeom prst="ellipse">
            <a:avLst/>
          </a:prstGeom>
          <a:solidFill>
            <a:srgbClr val="FFB703"/>
          </a:solidFill>
          <a:ln/>
        </p:spPr>
      </p:sp>
      <p:pic>
        <p:nvPicPr>
          <p:cNvPr id="13" name="Image 1" descr="assets/icons/masks_w.png">    </p:cNvPr>
          <p:cNvPicPr>
            <a:picLocks noChangeAspect="1"/>
          </p:cNvPicPr>
          <p:nvPr/>
        </p:nvPicPr>
        <p:blipFill>
          <a:blip r:embed="rId2"/>
          <a:stretch>
            <a:fillRect/>
          </a:stretch>
        </p:blipFill>
        <p:spPr>
          <a:xfrm>
            <a:off x="6775704" y="2267712"/>
            <a:ext cx="310896" cy="310896"/>
          </a:xfrm>
          <a:prstGeom prst="rect">
            <a:avLst/>
          </a:prstGeom>
        </p:spPr>
      </p:pic>
      <p:sp>
        <p:nvSpPr>
          <p:cNvPr id="14" name="Text 9"/>
          <p:cNvSpPr/>
          <p:nvPr/>
        </p:nvSpPr>
        <p:spPr>
          <a:xfrm>
            <a:off x="7397496" y="2103120"/>
            <a:ext cx="3950208" cy="384048"/>
          </a:xfrm>
          <a:prstGeom prst="rect">
            <a:avLst/>
          </a:prstGeom>
          <a:noFill/>
          <a:ln/>
        </p:spPr>
        <p:txBody>
          <a:bodyPr wrap="square" lIns="0" tIns="0" rIns="0" bIns="0" rtlCol="0" anchor="ctr"/>
          <a:lstStyle/>
          <a:p>
            <a:pPr indent="0" marL="0">
              <a:buNone/>
            </a:pPr>
            <a:r>
              <a:rPr lang="en-US" sz="1800" b="1" dirty="0">
                <a:solidFill>
                  <a:srgbClr val="0B1437"/>
                </a:solidFill>
                <a:latin typeface="Calibri" pitchFamily="34" charset="0"/>
                <a:ea typeface="Calibri" pitchFamily="34" charset="-122"/>
                <a:cs typeface="Calibri" pitchFamily="34" charset="-120"/>
              </a:rPr>
              <a:t>Sarcasm &amp; irony</a:t>
            </a:r>
            <a:endParaRPr lang="en-US" sz="1800" dirty="0"/>
          </a:p>
        </p:txBody>
      </p:sp>
      <p:sp>
        <p:nvSpPr>
          <p:cNvPr id="15" name="Text 10"/>
          <p:cNvSpPr/>
          <p:nvPr/>
        </p:nvSpPr>
        <p:spPr>
          <a:xfrm>
            <a:off x="7397496" y="2523744"/>
            <a:ext cx="3950208" cy="822960"/>
          </a:xfrm>
          <a:prstGeom prst="rect">
            <a:avLst/>
          </a:prstGeom>
          <a:noFill/>
          <a:ln/>
        </p:spPr>
        <p:txBody>
          <a:bodyPr wrap="square" lIns="0" tIns="0" rIns="0" bIns="0" rtlCol="0" anchor="t"/>
          <a:lstStyle/>
          <a:p>
            <a:pPr indent="0" marL="0">
              <a:lnSpc>
                <a:spcPct val="112000"/>
              </a:lnSpc>
              <a:buNone/>
            </a:pPr>
            <a:r>
              <a:rPr lang="en-US" sz="1400" dirty="0">
                <a:solidFill>
                  <a:srgbClr val="5C6784"/>
                </a:solidFill>
                <a:latin typeface="Calibri" pitchFamily="34" charset="0"/>
                <a:ea typeface="Calibri" pitchFamily="34" charset="-122"/>
                <a:cs typeface="Calibri" pitchFamily="34" charset="-120"/>
              </a:rPr>
              <a:t>“Nice job” — praise or insult?</a:t>
            </a:r>
            <a:endParaRPr lang="en-US" sz="1400" dirty="0"/>
          </a:p>
        </p:txBody>
      </p:sp>
      <p:sp>
        <p:nvSpPr>
          <p:cNvPr id="16" name="Shape 11"/>
          <p:cNvSpPr/>
          <p:nvPr/>
        </p:nvSpPr>
        <p:spPr>
          <a:xfrm>
            <a:off x="566928" y="3794760"/>
            <a:ext cx="5285232" cy="1737360"/>
          </a:xfrm>
          <a:prstGeom prst="roundRect">
            <a:avLst>
              <a:gd name="adj" fmla="val 6316"/>
            </a:avLst>
          </a:prstGeom>
          <a:solidFill>
            <a:srgbClr val="F2F5FA"/>
          </a:solidFill>
          <a:ln w="12700">
            <a:solidFill>
              <a:srgbClr val="DCE3ED"/>
            </a:solidFill>
            <a:prstDash val="solid"/>
          </a:ln>
        </p:spPr>
      </p:sp>
      <p:sp>
        <p:nvSpPr>
          <p:cNvPr id="17" name="Shape 12"/>
          <p:cNvSpPr/>
          <p:nvPr/>
        </p:nvSpPr>
        <p:spPr>
          <a:xfrm>
            <a:off x="859536" y="4105656"/>
            <a:ext cx="566928" cy="566928"/>
          </a:xfrm>
          <a:prstGeom prst="ellipse">
            <a:avLst/>
          </a:prstGeom>
          <a:solidFill>
            <a:srgbClr val="2EC4B6"/>
          </a:solidFill>
          <a:ln/>
        </p:spPr>
      </p:sp>
      <p:pic>
        <p:nvPicPr>
          <p:cNvPr id="18" name="Image 2" descr="assets/icons/globe_w.png">    </p:cNvPr>
          <p:cNvPicPr>
            <a:picLocks noChangeAspect="1"/>
          </p:cNvPicPr>
          <p:nvPr/>
        </p:nvPicPr>
        <p:blipFill>
          <a:blip r:embed="rId3"/>
          <a:stretch>
            <a:fillRect/>
          </a:stretch>
        </p:blipFill>
        <p:spPr>
          <a:xfrm>
            <a:off x="987552" y="4233672"/>
            <a:ext cx="310896" cy="310896"/>
          </a:xfrm>
          <a:prstGeom prst="rect">
            <a:avLst/>
          </a:prstGeom>
        </p:spPr>
      </p:pic>
      <p:sp>
        <p:nvSpPr>
          <p:cNvPr id="19" name="Text 13"/>
          <p:cNvSpPr/>
          <p:nvPr/>
        </p:nvSpPr>
        <p:spPr>
          <a:xfrm>
            <a:off x="1609344" y="4069080"/>
            <a:ext cx="3950208" cy="384048"/>
          </a:xfrm>
          <a:prstGeom prst="rect">
            <a:avLst/>
          </a:prstGeom>
          <a:noFill/>
          <a:ln/>
        </p:spPr>
        <p:txBody>
          <a:bodyPr wrap="square" lIns="0" tIns="0" rIns="0" bIns="0" rtlCol="0" anchor="ctr"/>
          <a:lstStyle/>
          <a:p>
            <a:pPr indent="0" marL="0">
              <a:buNone/>
            </a:pPr>
            <a:r>
              <a:rPr lang="en-US" sz="1800" b="1" dirty="0">
                <a:solidFill>
                  <a:srgbClr val="0B1437"/>
                </a:solidFill>
                <a:latin typeface="Calibri" pitchFamily="34" charset="0"/>
                <a:ea typeface="Calibri" pitchFamily="34" charset="-122"/>
                <a:cs typeface="Calibri" pitchFamily="34" charset="-120"/>
              </a:rPr>
              <a:t>Low-resource languages</a:t>
            </a:r>
            <a:endParaRPr lang="en-US" sz="1800" dirty="0"/>
          </a:p>
        </p:txBody>
      </p:sp>
      <p:sp>
        <p:nvSpPr>
          <p:cNvPr id="20" name="Text 14"/>
          <p:cNvSpPr/>
          <p:nvPr/>
        </p:nvSpPr>
        <p:spPr>
          <a:xfrm>
            <a:off x="1609344" y="4489704"/>
            <a:ext cx="3950208" cy="822960"/>
          </a:xfrm>
          <a:prstGeom prst="rect">
            <a:avLst/>
          </a:prstGeom>
          <a:noFill/>
          <a:ln/>
        </p:spPr>
        <p:txBody>
          <a:bodyPr wrap="square" lIns="0" tIns="0" rIns="0" bIns="0" rtlCol="0" anchor="t"/>
          <a:lstStyle/>
          <a:p>
            <a:pPr indent="0" marL="0">
              <a:lnSpc>
                <a:spcPct val="112000"/>
              </a:lnSpc>
              <a:buNone/>
            </a:pPr>
            <a:r>
              <a:rPr lang="en-US" sz="1400" dirty="0">
                <a:solidFill>
                  <a:srgbClr val="5C6784"/>
                </a:solidFill>
                <a:latin typeface="Calibri" pitchFamily="34" charset="0"/>
                <a:ea typeface="Calibri" pitchFamily="34" charset="-122"/>
                <a:cs typeface="Calibri" pitchFamily="34" charset="-120"/>
              </a:rPr>
              <a:t>Billions of speakers, little training data</a:t>
            </a:r>
            <a:endParaRPr lang="en-US" sz="1400" dirty="0"/>
          </a:p>
        </p:txBody>
      </p:sp>
      <p:sp>
        <p:nvSpPr>
          <p:cNvPr id="21" name="Shape 15"/>
          <p:cNvSpPr/>
          <p:nvPr/>
        </p:nvSpPr>
        <p:spPr>
          <a:xfrm>
            <a:off x="6355080" y="3794760"/>
            <a:ext cx="5285232" cy="1737360"/>
          </a:xfrm>
          <a:prstGeom prst="roundRect">
            <a:avLst>
              <a:gd name="adj" fmla="val 6316"/>
            </a:avLst>
          </a:prstGeom>
          <a:solidFill>
            <a:srgbClr val="F2F5FA"/>
          </a:solidFill>
          <a:ln w="12700">
            <a:solidFill>
              <a:srgbClr val="DCE3ED"/>
            </a:solidFill>
            <a:prstDash val="solid"/>
          </a:ln>
        </p:spPr>
      </p:sp>
      <p:sp>
        <p:nvSpPr>
          <p:cNvPr id="22" name="Shape 16"/>
          <p:cNvSpPr/>
          <p:nvPr/>
        </p:nvSpPr>
        <p:spPr>
          <a:xfrm>
            <a:off x="6647688" y="4105656"/>
            <a:ext cx="566928" cy="566928"/>
          </a:xfrm>
          <a:prstGeom prst="ellipse">
            <a:avLst/>
          </a:prstGeom>
          <a:solidFill>
            <a:srgbClr val="EF476F"/>
          </a:solidFill>
          <a:ln/>
        </p:spPr>
      </p:sp>
      <p:pic>
        <p:nvPicPr>
          <p:cNvPr id="23" name="Image 3" descr="assets/icons/legal_w.png">    </p:cNvPr>
          <p:cNvPicPr>
            <a:picLocks noChangeAspect="1"/>
          </p:cNvPicPr>
          <p:nvPr/>
        </p:nvPicPr>
        <p:blipFill>
          <a:blip r:embed="rId4"/>
          <a:stretch>
            <a:fillRect/>
          </a:stretch>
        </p:blipFill>
        <p:spPr>
          <a:xfrm>
            <a:off x="6775704" y="4233672"/>
            <a:ext cx="310896" cy="310896"/>
          </a:xfrm>
          <a:prstGeom prst="rect">
            <a:avLst/>
          </a:prstGeom>
        </p:spPr>
      </p:pic>
      <p:sp>
        <p:nvSpPr>
          <p:cNvPr id="24" name="Text 17"/>
          <p:cNvSpPr/>
          <p:nvPr/>
        </p:nvSpPr>
        <p:spPr>
          <a:xfrm>
            <a:off x="7397496" y="4069080"/>
            <a:ext cx="3950208" cy="384048"/>
          </a:xfrm>
          <a:prstGeom prst="rect">
            <a:avLst/>
          </a:prstGeom>
          <a:noFill/>
          <a:ln/>
        </p:spPr>
        <p:txBody>
          <a:bodyPr wrap="square" lIns="0" tIns="0" rIns="0" bIns="0" rtlCol="0" anchor="ctr"/>
          <a:lstStyle/>
          <a:p>
            <a:pPr indent="0" marL="0">
              <a:buNone/>
            </a:pPr>
            <a:r>
              <a:rPr lang="en-US" sz="1800" b="1" dirty="0">
                <a:solidFill>
                  <a:srgbClr val="0B1437"/>
                </a:solidFill>
                <a:latin typeface="Calibri" pitchFamily="34" charset="0"/>
                <a:ea typeface="Calibri" pitchFamily="34" charset="-122"/>
                <a:cs typeface="Calibri" pitchFamily="34" charset="-120"/>
              </a:rPr>
              <a:t>Bias in training data</a:t>
            </a:r>
            <a:endParaRPr lang="en-US" sz="1800" dirty="0"/>
          </a:p>
        </p:txBody>
      </p:sp>
      <p:sp>
        <p:nvSpPr>
          <p:cNvPr id="25" name="Text 18"/>
          <p:cNvSpPr/>
          <p:nvPr/>
        </p:nvSpPr>
        <p:spPr>
          <a:xfrm>
            <a:off x="7397496" y="4489704"/>
            <a:ext cx="3950208" cy="822960"/>
          </a:xfrm>
          <a:prstGeom prst="rect">
            <a:avLst/>
          </a:prstGeom>
          <a:noFill/>
          <a:ln/>
        </p:spPr>
        <p:txBody>
          <a:bodyPr wrap="square" lIns="0" tIns="0" rIns="0" bIns="0" rtlCol="0" anchor="t"/>
          <a:lstStyle/>
          <a:p>
            <a:pPr indent="0" marL="0">
              <a:lnSpc>
                <a:spcPct val="112000"/>
              </a:lnSpc>
              <a:buNone/>
            </a:pPr>
            <a:r>
              <a:rPr lang="en-US" sz="1400" dirty="0">
                <a:solidFill>
                  <a:srgbClr val="5C6784"/>
                </a:solidFill>
                <a:latin typeface="Calibri" pitchFamily="34" charset="0"/>
                <a:ea typeface="Calibri" pitchFamily="34" charset="-122"/>
                <a:cs typeface="Calibri" pitchFamily="34" charset="-120"/>
              </a:rPr>
              <a:t>Models reproduce and amplify what they learn</a:t>
            </a:r>
            <a:endParaRPr lang="en-US" sz="1400" dirty="0"/>
          </a:p>
        </p:txBody>
      </p:sp>
      <p:sp>
        <p:nvSpPr>
          <p:cNvPr id="26" name="Text 19"/>
          <p:cNvSpPr/>
          <p:nvPr/>
        </p:nvSpPr>
        <p:spPr>
          <a:xfrm>
            <a:off x="566928" y="5806440"/>
            <a:ext cx="11064240" cy="365760"/>
          </a:xfrm>
          <a:prstGeom prst="rect">
            <a:avLst/>
          </a:prstGeom>
          <a:noFill/>
          <a:ln/>
        </p:spPr>
        <p:txBody>
          <a:bodyPr wrap="square" lIns="0" tIns="0" rIns="0" bIns="0" rtlCol="0" anchor="ctr"/>
          <a:lstStyle/>
          <a:p>
            <a:pPr indent="0" marL="0">
              <a:buNone/>
            </a:pPr>
            <a:r>
              <a:rPr lang="en-US" sz="1400" i="1" dirty="0">
                <a:solidFill>
                  <a:srgbClr val="5C6784"/>
                </a:solidFill>
                <a:latin typeface="Calibri" pitchFamily="34" charset="0"/>
                <a:ea typeface="Calibri" pitchFamily="34" charset="-122"/>
                <a:cs typeface="Calibri" pitchFamily="34" charset="-120"/>
              </a:rPr>
              <a:t>These are not just technical problems — they carry ethical and social weight.</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74320"/>
          </a:xfrm>
          <a:prstGeom prst="rect">
            <a:avLst/>
          </a:prstGeom>
          <a:noFill/>
          <a:ln/>
        </p:spPr>
        <p:txBody>
          <a:bodyPr wrap="square" lIns="0" tIns="0" rIns="0" bIns="0" rtlCol="0" anchor="ctr"/>
          <a:lstStyle/>
          <a:p>
            <a:pPr algn="l" indent="0" marL="0">
              <a:buNone/>
            </a:pPr>
            <a:r>
              <a:rPr lang="en-US" sz="1200" b="1" spc="200" kern="0" dirty="0">
                <a:solidFill>
                  <a:srgbClr val="13887E"/>
                </a:solidFill>
                <a:latin typeface="Calibri" pitchFamily="34" charset="0"/>
                <a:ea typeface="Calibri" pitchFamily="34" charset="-122"/>
                <a:cs typeface="Calibri" pitchFamily="34" charset="-120"/>
              </a:rPr>
              <a:t>WHAT’S NEXT</a:t>
            </a:r>
            <a:endParaRPr lang="en-US" sz="1200" dirty="0"/>
          </a:p>
        </p:txBody>
      </p:sp>
      <p:sp>
        <p:nvSpPr>
          <p:cNvPr id="3" name="Text 1"/>
          <p:cNvSpPr/>
          <p:nvPr/>
        </p:nvSpPr>
        <p:spPr>
          <a:xfrm>
            <a:off x="566928" y="621792"/>
            <a:ext cx="10143439" cy="777240"/>
          </a:xfrm>
          <a:prstGeom prst="rect">
            <a:avLst/>
          </a:prstGeom>
          <a:noFill/>
          <a:ln/>
        </p:spPr>
        <p:txBody>
          <a:bodyPr wrap="square" lIns="0" tIns="0" rIns="0" bIns="0" rtlCol="0" anchor="t"/>
          <a:lstStyle/>
          <a:p>
            <a:pPr indent="0" marL="0">
              <a:buNone/>
            </a:pPr>
            <a:r>
              <a:rPr lang="en-US" sz="3600" b="1" dirty="0">
                <a:solidFill>
                  <a:srgbClr val="0B1437"/>
                </a:solidFill>
                <a:latin typeface="Cambria" pitchFamily="34" charset="0"/>
                <a:ea typeface="Cambria" pitchFamily="34" charset="-122"/>
                <a:cs typeface="Cambria" pitchFamily="34" charset="-120"/>
              </a:rPr>
              <a:t>Future of NLP</a:t>
            </a:r>
            <a:endParaRPr lang="en-US" sz="3600" dirty="0"/>
          </a:p>
        </p:txBody>
      </p:sp>
      <p:sp>
        <p:nvSpPr>
          <p:cNvPr id="4" name="Text 2"/>
          <p:cNvSpPr/>
          <p:nvPr/>
        </p:nvSpPr>
        <p:spPr>
          <a:xfrm>
            <a:off x="10801807" y="310896"/>
            <a:ext cx="822960" cy="365760"/>
          </a:xfrm>
          <a:prstGeom prst="rect">
            <a:avLst/>
          </a:prstGeom>
          <a:noFill/>
          <a:ln/>
        </p:spPr>
        <p:txBody>
          <a:bodyPr wrap="square" lIns="0" tIns="0" rIns="0" bIns="0" rtlCol="0" anchor="ctr"/>
          <a:lstStyle/>
          <a:p>
            <a:pPr algn="r" indent="0" marL="0">
              <a:buNone/>
            </a:pPr>
            <a:r>
              <a:rPr lang="en-US" sz="1300" dirty="0">
                <a:solidFill>
                  <a:srgbClr val="A9B3C6"/>
                </a:solidFill>
                <a:latin typeface="Calibri" pitchFamily="34" charset="0"/>
                <a:ea typeface="Calibri" pitchFamily="34" charset="-122"/>
                <a:cs typeface="Calibri" pitchFamily="34" charset="-120"/>
              </a:rPr>
              <a:t>22</a:t>
            </a:r>
            <a:endParaRPr lang="en-US" sz="1300" dirty="0"/>
          </a:p>
        </p:txBody>
      </p:sp>
      <p:sp>
        <p:nvSpPr>
          <p:cNvPr id="6" name="Shape 3"/>
          <p:cNvSpPr/>
          <p:nvPr/>
        </p:nvSpPr>
        <p:spPr>
          <a:xfrm>
            <a:off x="566928" y="1737360"/>
            <a:ext cx="11064240" cy="987552"/>
          </a:xfrm>
          <a:prstGeom prst="roundRect">
            <a:avLst>
              <a:gd name="adj" fmla="val 11111"/>
            </a:avLst>
          </a:prstGeom>
          <a:solidFill>
            <a:srgbClr val="F2F5FA"/>
          </a:solidFill>
          <a:ln w="12700">
            <a:solidFill>
              <a:srgbClr val="DCE3ED"/>
            </a:solidFill>
            <a:prstDash val="solid"/>
          </a:ln>
        </p:spPr>
      </p:sp>
      <p:sp>
        <p:nvSpPr>
          <p:cNvPr id="7" name="Shape 4"/>
          <p:cNvSpPr/>
          <p:nvPr/>
        </p:nvSpPr>
        <p:spPr>
          <a:xfrm>
            <a:off x="859536" y="1947672"/>
            <a:ext cx="566928" cy="566928"/>
          </a:xfrm>
          <a:prstGeom prst="ellipse">
            <a:avLst/>
          </a:prstGeom>
          <a:solidFill>
            <a:srgbClr val="2EC4B6"/>
          </a:solidFill>
          <a:ln/>
        </p:spPr>
      </p:sp>
      <p:pic>
        <p:nvPicPr>
          <p:cNvPr id="8" name="Image 0" descr="assets/icons/globe_w.png">    </p:cNvPr>
          <p:cNvPicPr>
            <a:picLocks noChangeAspect="1"/>
          </p:cNvPicPr>
          <p:nvPr/>
        </p:nvPicPr>
        <p:blipFill>
          <a:blip r:embed="rId1"/>
          <a:stretch>
            <a:fillRect/>
          </a:stretch>
        </p:blipFill>
        <p:spPr>
          <a:xfrm>
            <a:off x="987552" y="2075688"/>
            <a:ext cx="310896" cy="310896"/>
          </a:xfrm>
          <a:prstGeom prst="rect">
            <a:avLst/>
          </a:prstGeom>
        </p:spPr>
      </p:pic>
      <p:sp>
        <p:nvSpPr>
          <p:cNvPr id="9" name="Text 5"/>
          <p:cNvSpPr/>
          <p:nvPr/>
        </p:nvSpPr>
        <p:spPr>
          <a:xfrm>
            <a:off x="1609344" y="2002536"/>
            <a:ext cx="9729216" cy="384048"/>
          </a:xfrm>
          <a:prstGeom prst="rect">
            <a:avLst/>
          </a:prstGeom>
          <a:noFill/>
          <a:ln/>
        </p:spPr>
        <p:txBody>
          <a:bodyPr wrap="square" lIns="0" tIns="0" rIns="0" bIns="0" rtlCol="0" anchor="ctr"/>
          <a:lstStyle/>
          <a:p>
            <a:pPr indent="0" marL="0">
              <a:buNone/>
            </a:pPr>
            <a:r>
              <a:rPr lang="en-US" sz="1800" b="1" dirty="0">
                <a:solidFill>
                  <a:srgbClr val="0B1437"/>
                </a:solidFill>
                <a:latin typeface="Calibri" pitchFamily="34" charset="0"/>
                <a:ea typeface="Calibri" pitchFamily="34" charset="-122"/>
                <a:cs typeface="Calibri" pitchFamily="34" charset="-120"/>
              </a:rPr>
              <a:t>More multilingual models</a:t>
            </a:r>
            <a:endParaRPr lang="en-US" sz="1800" dirty="0"/>
          </a:p>
        </p:txBody>
      </p:sp>
      <p:sp>
        <p:nvSpPr>
          <p:cNvPr id="10" name="Text 6"/>
          <p:cNvSpPr/>
          <p:nvPr/>
        </p:nvSpPr>
        <p:spPr>
          <a:xfrm>
            <a:off x="6583680" y="1737360"/>
            <a:ext cx="4937760" cy="987552"/>
          </a:xfrm>
          <a:prstGeom prst="rect">
            <a:avLst/>
          </a:prstGeom>
          <a:noFill/>
          <a:ln/>
        </p:spPr>
        <p:txBody>
          <a:bodyPr wrap="square" lIns="0" tIns="0" rIns="0" bIns="0" rtlCol="0" anchor="ctr"/>
          <a:lstStyle/>
          <a:p>
            <a:pPr indent="0" marL="0">
              <a:buNone/>
            </a:pPr>
            <a:r>
              <a:rPr lang="en-US" sz="1400" dirty="0">
                <a:solidFill>
                  <a:srgbClr val="5C6784"/>
                </a:solidFill>
                <a:latin typeface="Calibri" pitchFamily="34" charset="0"/>
                <a:ea typeface="Calibri" pitchFamily="34" charset="-122"/>
                <a:cs typeface="Calibri" pitchFamily="34" charset="-120"/>
              </a:rPr>
              <a:t>Dozens of languages in one system</a:t>
            </a:r>
            <a:endParaRPr lang="en-US" sz="1400" dirty="0"/>
          </a:p>
        </p:txBody>
      </p:sp>
      <p:sp>
        <p:nvSpPr>
          <p:cNvPr id="11" name="Shape 7"/>
          <p:cNvSpPr/>
          <p:nvPr/>
        </p:nvSpPr>
        <p:spPr>
          <a:xfrm>
            <a:off x="566928" y="2788920"/>
            <a:ext cx="11064240" cy="987552"/>
          </a:xfrm>
          <a:prstGeom prst="roundRect">
            <a:avLst>
              <a:gd name="adj" fmla="val 11111"/>
            </a:avLst>
          </a:prstGeom>
          <a:solidFill>
            <a:srgbClr val="F2F5FA"/>
          </a:solidFill>
          <a:ln w="12700">
            <a:solidFill>
              <a:srgbClr val="DCE3ED"/>
            </a:solidFill>
            <a:prstDash val="solid"/>
          </a:ln>
        </p:spPr>
      </p:sp>
      <p:sp>
        <p:nvSpPr>
          <p:cNvPr id="12" name="Shape 8"/>
          <p:cNvSpPr/>
          <p:nvPr/>
        </p:nvSpPr>
        <p:spPr>
          <a:xfrm>
            <a:off x="859536" y="2999232"/>
            <a:ext cx="566928" cy="566928"/>
          </a:xfrm>
          <a:prstGeom prst="ellipse">
            <a:avLst/>
          </a:prstGeom>
          <a:solidFill>
            <a:srgbClr val="7C6BF2"/>
          </a:solidFill>
          <a:ln/>
        </p:spPr>
      </p:sp>
      <p:pic>
        <p:nvPicPr>
          <p:cNvPr id="13" name="Image 1" descr="assets/icons/brain_w.png">    </p:cNvPr>
          <p:cNvPicPr>
            <a:picLocks noChangeAspect="1"/>
          </p:cNvPicPr>
          <p:nvPr/>
        </p:nvPicPr>
        <p:blipFill>
          <a:blip r:embed="rId2"/>
          <a:stretch>
            <a:fillRect/>
          </a:stretch>
        </p:blipFill>
        <p:spPr>
          <a:xfrm>
            <a:off x="987552" y="3127248"/>
            <a:ext cx="310896" cy="310896"/>
          </a:xfrm>
          <a:prstGeom prst="rect">
            <a:avLst/>
          </a:prstGeom>
        </p:spPr>
      </p:pic>
      <p:sp>
        <p:nvSpPr>
          <p:cNvPr id="14" name="Text 9"/>
          <p:cNvSpPr/>
          <p:nvPr/>
        </p:nvSpPr>
        <p:spPr>
          <a:xfrm>
            <a:off x="1609344" y="3054096"/>
            <a:ext cx="9729216" cy="384048"/>
          </a:xfrm>
          <a:prstGeom prst="rect">
            <a:avLst/>
          </a:prstGeom>
          <a:noFill/>
          <a:ln/>
        </p:spPr>
        <p:txBody>
          <a:bodyPr wrap="square" lIns="0" tIns="0" rIns="0" bIns="0" rtlCol="0" anchor="ctr"/>
          <a:lstStyle/>
          <a:p>
            <a:pPr indent="0" marL="0">
              <a:buNone/>
            </a:pPr>
            <a:r>
              <a:rPr lang="en-US" sz="1800" b="1" dirty="0">
                <a:solidFill>
                  <a:srgbClr val="0B1437"/>
                </a:solidFill>
                <a:latin typeface="Calibri" pitchFamily="34" charset="0"/>
                <a:ea typeface="Calibri" pitchFamily="34" charset="-122"/>
                <a:cs typeface="Calibri" pitchFamily="34" charset="-120"/>
              </a:rPr>
              <a:t>Better handling of context &amp; reasoning</a:t>
            </a:r>
            <a:endParaRPr lang="en-US" sz="1800" dirty="0"/>
          </a:p>
        </p:txBody>
      </p:sp>
      <p:sp>
        <p:nvSpPr>
          <p:cNvPr id="15" name="Text 10"/>
          <p:cNvSpPr/>
          <p:nvPr/>
        </p:nvSpPr>
        <p:spPr>
          <a:xfrm>
            <a:off x="6583680" y="2788920"/>
            <a:ext cx="4937760" cy="987552"/>
          </a:xfrm>
          <a:prstGeom prst="rect">
            <a:avLst/>
          </a:prstGeom>
          <a:noFill/>
          <a:ln/>
        </p:spPr>
        <p:txBody>
          <a:bodyPr wrap="square" lIns="0" tIns="0" rIns="0" bIns="0" rtlCol="0" anchor="ctr"/>
          <a:lstStyle/>
          <a:p>
            <a:pPr indent="0" marL="0">
              <a:buNone/>
            </a:pPr>
            <a:r>
              <a:rPr lang="en-US" sz="1400" dirty="0">
                <a:solidFill>
                  <a:srgbClr val="5C6784"/>
                </a:solidFill>
                <a:latin typeface="Calibri" pitchFamily="34" charset="0"/>
                <a:ea typeface="Calibri" pitchFamily="34" charset="-122"/>
                <a:cs typeface="Calibri" pitchFamily="34" charset="-120"/>
              </a:rPr>
              <a:t>Intent and tone, not just words</a:t>
            </a:r>
            <a:endParaRPr lang="en-US" sz="1400" dirty="0"/>
          </a:p>
        </p:txBody>
      </p:sp>
      <p:sp>
        <p:nvSpPr>
          <p:cNvPr id="16" name="Shape 11"/>
          <p:cNvSpPr/>
          <p:nvPr/>
        </p:nvSpPr>
        <p:spPr>
          <a:xfrm>
            <a:off x="566928" y="3840480"/>
            <a:ext cx="11064240" cy="987552"/>
          </a:xfrm>
          <a:prstGeom prst="roundRect">
            <a:avLst>
              <a:gd name="adj" fmla="val 11111"/>
            </a:avLst>
          </a:prstGeom>
          <a:solidFill>
            <a:srgbClr val="F2F5FA"/>
          </a:solidFill>
          <a:ln w="12700">
            <a:solidFill>
              <a:srgbClr val="DCE3ED"/>
            </a:solidFill>
            <a:prstDash val="solid"/>
          </a:ln>
        </p:spPr>
      </p:sp>
      <p:sp>
        <p:nvSpPr>
          <p:cNvPr id="17" name="Shape 12"/>
          <p:cNvSpPr/>
          <p:nvPr/>
        </p:nvSpPr>
        <p:spPr>
          <a:xfrm>
            <a:off x="859536" y="4050792"/>
            <a:ext cx="566928" cy="566928"/>
          </a:xfrm>
          <a:prstGeom prst="ellipse">
            <a:avLst/>
          </a:prstGeom>
          <a:solidFill>
            <a:srgbClr val="FFB703"/>
          </a:solidFill>
          <a:ln/>
        </p:spPr>
      </p:sp>
      <p:pic>
        <p:nvPicPr>
          <p:cNvPr id="18" name="Image 2" descr="assets/icons/comments_w.png">    </p:cNvPr>
          <p:cNvPicPr>
            <a:picLocks noChangeAspect="1"/>
          </p:cNvPicPr>
          <p:nvPr/>
        </p:nvPicPr>
        <p:blipFill>
          <a:blip r:embed="rId3"/>
          <a:stretch>
            <a:fillRect/>
          </a:stretch>
        </p:blipFill>
        <p:spPr>
          <a:xfrm>
            <a:off x="987552" y="4178808"/>
            <a:ext cx="310896" cy="310896"/>
          </a:xfrm>
          <a:prstGeom prst="rect">
            <a:avLst/>
          </a:prstGeom>
        </p:spPr>
      </p:pic>
      <p:sp>
        <p:nvSpPr>
          <p:cNvPr id="19" name="Text 13"/>
          <p:cNvSpPr/>
          <p:nvPr/>
        </p:nvSpPr>
        <p:spPr>
          <a:xfrm>
            <a:off x="1609344" y="4105656"/>
            <a:ext cx="9729216" cy="384048"/>
          </a:xfrm>
          <a:prstGeom prst="rect">
            <a:avLst/>
          </a:prstGeom>
          <a:noFill/>
          <a:ln/>
        </p:spPr>
        <p:txBody>
          <a:bodyPr wrap="square" lIns="0" tIns="0" rIns="0" bIns="0" rtlCol="0" anchor="ctr"/>
          <a:lstStyle/>
          <a:p>
            <a:pPr indent="0" marL="0">
              <a:buNone/>
            </a:pPr>
            <a:r>
              <a:rPr lang="en-US" sz="1800" b="1" dirty="0">
                <a:solidFill>
                  <a:srgbClr val="0B1437"/>
                </a:solidFill>
                <a:latin typeface="Calibri" pitchFamily="34" charset="0"/>
                <a:ea typeface="Calibri" pitchFamily="34" charset="-122"/>
                <a:cs typeface="Calibri" pitchFamily="34" charset="-120"/>
              </a:rPr>
              <a:t>Conversational AI (ChatGPT, Claude)</a:t>
            </a:r>
            <a:endParaRPr lang="en-US" sz="1800" dirty="0"/>
          </a:p>
        </p:txBody>
      </p:sp>
      <p:sp>
        <p:nvSpPr>
          <p:cNvPr id="20" name="Text 14"/>
          <p:cNvSpPr/>
          <p:nvPr/>
        </p:nvSpPr>
        <p:spPr>
          <a:xfrm>
            <a:off x="6583680" y="3840480"/>
            <a:ext cx="4937760" cy="987552"/>
          </a:xfrm>
          <a:prstGeom prst="rect">
            <a:avLst/>
          </a:prstGeom>
          <a:noFill/>
          <a:ln/>
        </p:spPr>
        <p:txBody>
          <a:bodyPr wrap="square" lIns="0" tIns="0" rIns="0" bIns="0" rtlCol="0" anchor="ctr"/>
          <a:lstStyle/>
          <a:p>
            <a:pPr indent="0" marL="0">
              <a:buNone/>
            </a:pPr>
            <a:r>
              <a:rPr lang="en-US" sz="1400" dirty="0">
                <a:solidFill>
                  <a:srgbClr val="5C6784"/>
                </a:solidFill>
                <a:latin typeface="Calibri" pitchFamily="34" charset="0"/>
                <a:ea typeface="Calibri" pitchFamily="34" charset="-122"/>
                <a:cs typeface="Calibri" pitchFamily="34" charset="-120"/>
              </a:rPr>
              <a:t>Assistants that hold a thread</a:t>
            </a:r>
            <a:endParaRPr lang="en-US" sz="1400" dirty="0"/>
          </a:p>
        </p:txBody>
      </p:sp>
      <p:sp>
        <p:nvSpPr>
          <p:cNvPr id="21" name="Shape 15"/>
          <p:cNvSpPr/>
          <p:nvPr/>
        </p:nvSpPr>
        <p:spPr>
          <a:xfrm>
            <a:off x="566928" y="4892040"/>
            <a:ext cx="11064240" cy="987552"/>
          </a:xfrm>
          <a:prstGeom prst="roundRect">
            <a:avLst>
              <a:gd name="adj" fmla="val 11111"/>
            </a:avLst>
          </a:prstGeom>
          <a:solidFill>
            <a:srgbClr val="F2F5FA"/>
          </a:solidFill>
          <a:ln w="12700">
            <a:solidFill>
              <a:srgbClr val="DCE3ED"/>
            </a:solidFill>
            <a:prstDash val="solid"/>
          </a:ln>
        </p:spPr>
      </p:sp>
      <p:sp>
        <p:nvSpPr>
          <p:cNvPr id="22" name="Shape 16"/>
          <p:cNvSpPr/>
          <p:nvPr/>
        </p:nvSpPr>
        <p:spPr>
          <a:xfrm>
            <a:off x="859536" y="5102352"/>
            <a:ext cx="566928" cy="566928"/>
          </a:xfrm>
          <a:prstGeom prst="ellipse">
            <a:avLst/>
          </a:prstGeom>
          <a:solidFill>
            <a:srgbClr val="EF476F"/>
          </a:solidFill>
          <a:ln/>
        </p:spPr>
      </p:sp>
      <p:pic>
        <p:nvPicPr>
          <p:cNvPr id="23" name="Image 3" descr="assets/icons/fraud_w.png">    </p:cNvPr>
          <p:cNvPicPr>
            <a:picLocks noChangeAspect="1"/>
          </p:cNvPicPr>
          <p:nvPr/>
        </p:nvPicPr>
        <p:blipFill>
          <a:blip r:embed="rId4"/>
          <a:stretch>
            <a:fillRect/>
          </a:stretch>
        </p:blipFill>
        <p:spPr>
          <a:xfrm>
            <a:off x="987552" y="5230368"/>
            <a:ext cx="310896" cy="310896"/>
          </a:xfrm>
          <a:prstGeom prst="rect">
            <a:avLst/>
          </a:prstGeom>
        </p:spPr>
      </p:pic>
      <p:sp>
        <p:nvSpPr>
          <p:cNvPr id="24" name="Text 17"/>
          <p:cNvSpPr/>
          <p:nvPr/>
        </p:nvSpPr>
        <p:spPr>
          <a:xfrm>
            <a:off x="1609344" y="5157216"/>
            <a:ext cx="9729216" cy="384048"/>
          </a:xfrm>
          <a:prstGeom prst="rect">
            <a:avLst/>
          </a:prstGeom>
          <a:noFill/>
          <a:ln/>
        </p:spPr>
        <p:txBody>
          <a:bodyPr wrap="square" lIns="0" tIns="0" rIns="0" bIns="0" rtlCol="0" anchor="ctr"/>
          <a:lstStyle/>
          <a:p>
            <a:pPr indent="0" marL="0">
              <a:buNone/>
            </a:pPr>
            <a:r>
              <a:rPr lang="en-US" sz="1800" b="1" dirty="0">
                <a:solidFill>
                  <a:srgbClr val="0B1437"/>
                </a:solidFill>
                <a:latin typeface="Calibri" pitchFamily="34" charset="0"/>
                <a:ea typeface="Calibri" pitchFamily="34" charset="-122"/>
                <a:cs typeface="Calibri" pitchFamily="34" charset="-120"/>
              </a:rPr>
              <a:t>Ethical &amp; fair AI systems</a:t>
            </a:r>
            <a:endParaRPr lang="en-US" sz="1800" dirty="0"/>
          </a:p>
        </p:txBody>
      </p:sp>
      <p:sp>
        <p:nvSpPr>
          <p:cNvPr id="25" name="Text 18"/>
          <p:cNvSpPr/>
          <p:nvPr/>
        </p:nvSpPr>
        <p:spPr>
          <a:xfrm>
            <a:off x="6583680" y="4892040"/>
            <a:ext cx="4937760" cy="987552"/>
          </a:xfrm>
          <a:prstGeom prst="rect">
            <a:avLst/>
          </a:prstGeom>
          <a:noFill/>
          <a:ln/>
        </p:spPr>
        <p:txBody>
          <a:bodyPr wrap="square" lIns="0" tIns="0" rIns="0" bIns="0" rtlCol="0" anchor="ctr"/>
          <a:lstStyle/>
          <a:p>
            <a:pPr indent="0" marL="0">
              <a:buNone/>
            </a:pPr>
            <a:r>
              <a:rPr lang="en-US" sz="1400" dirty="0">
                <a:solidFill>
                  <a:srgbClr val="5C6784"/>
                </a:solidFill>
                <a:latin typeface="Calibri" pitchFamily="34" charset="0"/>
                <a:ea typeface="Calibri" pitchFamily="34" charset="-122"/>
                <a:cs typeface="Calibri" pitchFamily="34" charset="-120"/>
              </a:rPr>
              <a:t>Systems we can actually trust</a:t>
            </a:r>
            <a:endParaRPr lang="en-US" sz="1400" dirty="0"/>
          </a:p>
        </p:txBody>
      </p:sp>
      <p:sp>
        <p:nvSpPr>
          <p:cNvPr id="26" name="Text 19"/>
          <p:cNvSpPr/>
          <p:nvPr/>
        </p:nvSpPr>
        <p:spPr>
          <a:xfrm>
            <a:off x="566928" y="6035040"/>
            <a:ext cx="11064240" cy="365760"/>
          </a:xfrm>
          <a:prstGeom prst="rect">
            <a:avLst/>
          </a:prstGeom>
          <a:noFill/>
          <a:ln/>
        </p:spPr>
        <p:txBody>
          <a:bodyPr wrap="square" lIns="0" tIns="0" rIns="0" bIns="0" rtlCol="0" anchor="ctr"/>
          <a:lstStyle/>
          <a:p>
            <a:pPr indent="0" marL="0">
              <a:buNone/>
            </a:pPr>
            <a:r>
              <a:rPr lang="en-US" sz="1350" i="1" dirty="0">
                <a:solidFill>
                  <a:srgbClr val="5C6784"/>
                </a:solidFill>
                <a:latin typeface="Calibri" pitchFamily="34" charset="0"/>
                <a:ea typeface="Calibri" pitchFamily="34" charset="-122"/>
                <a:cs typeface="Calibri" pitchFamily="34" charset="-120"/>
              </a:rPr>
              <a:t>Not just smarter models — models we can trust.</a:t>
            </a:r>
            <a:endParaRPr lang="en-US" sz="13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29184"/>
            <a:ext cx="8229600" cy="274320"/>
          </a:xfrm>
          <a:prstGeom prst="rect">
            <a:avLst/>
          </a:prstGeom>
          <a:noFill/>
          <a:ln/>
        </p:spPr>
        <p:txBody>
          <a:bodyPr wrap="square" lIns="0" tIns="0" rIns="0" bIns="0" rtlCol="0" anchor="ctr"/>
          <a:lstStyle/>
          <a:p>
            <a:pPr algn="l" indent="0" marL="0">
              <a:buNone/>
            </a:pPr>
            <a:r>
              <a:rPr lang="en-US" sz="1200" b="1" spc="200" kern="0" dirty="0">
                <a:solidFill>
                  <a:srgbClr val="13887E"/>
                </a:solidFill>
                <a:latin typeface="Calibri" pitchFamily="34" charset="0"/>
                <a:ea typeface="Calibri" pitchFamily="34" charset="-122"/>
                <a:cs typeface="Calibri" pitchFamily="34" charset="-120"/>
              </a:rPr>
              <a:t>RESPONSIBILITY</a:t>
            </a:r>
            <a:endParaRPr lang="en-US" sz="1200" dirty="0"/>
          </a:p>
        </p:txBody>
      </p:sp>
      <p:sp>
        <p:nvSpPr>
          <p:cNvPr id="3" name="Text 1"/>
          <p:cNvSpPr/>
          <p:nvPr/>
        </p:nvSpPr>
        <p:spPr>
          <a:xfrm>
            <a:off x="566928" y="621792"/>
            <a:ext cx="10143439" cy="777240"/>
          </a:xfrm>
          <a:prstGeom prst="rect">
            <a:avLst/>
          </a:prstGeom>
          <a:noFill/>
          <a:ln/>
        </p:spPr>
        <p:txBody>
          <a:bodyPr wrap="square" lIns="0" tIns="0" rIns="0" bIns="0" rtlCol="0" anchor="t"/>
          <a:lstStyle/>
          <a:p>
            <a:pPr indent="0" marL="0">
              <a:buNone/>
            </a:pPr>
            <a:r>
              <a:rPr lang="en-US" sz="3600" b="1" dirty="0">
                <a:solidFill>
                  <a:srgbClr val="0B1437"/>
                </a:solidFill>
                <a:latin typeface="Cambria" pitchFamily="34" charset="0"/>
                <a:ea typeface="Cambria" pitchFamily="34" charset="-122"/>
                <a:cs typeface="Cambria" pitchFamily="34" charset="-120"/>
              </a:rPr>
              <a:t>Ethical Considerations</a:t>
            </a:r>
            <a:endParaRPr lang="en-US" sz="3600" dirty="0"/>
          </a:p>
        </p:txBody>
      </p:sp>
      <p:sp>
        <p:nvSpPr>
          <p:cNvPr id="4" name="Text 2"/>
          <p:cNvSpPr/>
          <p:nvPr/>
        </p:nvSpPr>
        <p:spPr>
          <a:xfrm>
            <a:off x="10801807" y="310896"/>
            <a:ext cx="822960" cy="365760"/>
          </a:xfrm>
          <a:prstGeom prst="rect">
            <a:avLst/>
          </a:prstGeom>
          <a:noFill/>
          <a:ln/>
        </p:spPr>
        <p:txBody>
          <a:bodyPr wrap="square" lIns="0" tIns="0" rIns="0" bIns="0" rtlCol="0" anchor="ctr"/>
          <a:lstStyle/>
          <a:p>
            <a:pPr algn="r" indent="0" marL="0">
              <a:buNone/>
            </a:pPr>
            <a:r>
              <a:rPr lang="en-US" sz="1300" dirty="0">
                <a:solidFill>
                  <a:srgbClr val="A9B3C6"/>
                </a:solidFill>
                <a:latin typeface="Calibri" pitchFamily="34" charset="0"/>
                <a:ea typeface="Calibri" pitchFamily="34" charset="-122"/>
                <a:cs typeface="Calibri" pitchFamily="34" charset="-120"/>
              </a:rPr>
              <a:t>23</a:t>
            </a:r>
            <a:endParaRPr lang="en-US" sz="1300" dirty="0"/>
          </a:p>
        </p:txBody>
      </p:sp>
      <p:sp>
        <p:nvSpPr>
          <p:cNvPr id="6" name="Shape 3"/>
          <p:cNvSpPr/>
          <p:nvPr/>
        </p:nvSpPr>
        <p:spPr>
          <a:xfrm>
            <a:off x="566928" y="1874520"/>
            <a:ext cx="3520440" cy="2834640"/>
          </a:xfrm>
          <a:prstGeom prst="roundRect">
            <a:avLst>
              <a:gd name="adj" fmla="val 3871"/>
            </a:avLst>
          </a:prstGeom>
          <a:solidFill>
            <a:srgbClr val="F2F5FA"/>
          </a:solidFill>
          <a:ln w="12700">
            <a:solidFill>
              <a:srgbClr val="DCE3ED"/>
            </a:solidFill>
            <a:prstDash val="solid"/>
          </a:ln>
        </p:spPr>
      </p:sp>
      <p:sp>
        <p:nvSpPr>
          <p:cNvPr id="7" name="Shape 4"/>
          <p:cNvSpPr/>
          <p:nvPr/>
        </p:nvSpPr>
        <p:spPr>
          <a:xfrm>
            <a:off x="859536" y="2185416"/>
            <a:ext cx="566928" cy="566928"/>
          </a:xfrm>
          <a:prstGeom prst="ellipse">
            <a:avLst/>
          </a:prstGeom>
          <a:solidFill>
            <a:srgbClr val="7C6BF2"/>
          </a:solidFill>
          <a:ln/>
        </p:spPr>
      </p:sp>
      <p:pic>
        <p:nvPicPr>
          <p:cNvPr id="8" name="Image 0" descr="assets/icons/legal_w.png">    </p:cNvPr>
          <p:cNvPicPr>
            <a:picLocks noChangeAspect="1"/>
          </p:cNvPicPr>
          <p:nvPr/>
        </p:nvPicPr>
        <p:blipFill>
          <a:blip r:embed="rId1"/>
          <a:stretch>
            <a:fillRect/>
          </a:stretch>
        </p:blipFill>
        <p:spPr>
          <a:xfrm>
            <a:off x="987552" y="2313432"/>
            <a:ext cx="310896" cy="310896"/>
          </a:xfrm>
          <a:prstGeom prst="rect">
            <a:avLst/>
          </a:prstGeom>
        </p:spPr>
      </p:pic>
      <p:sp>
        <p:nvSpPr>
          <p:cNvPr id="9" name="Text 5"/>
          <p:cNvSpPr/>
          <p:nvPr/>
        </p:nvSpPr>
        <p:spPr>
          <a:xfrm>
            <a:off x="1609344" y="2148840"/>
            <a:ext cx="2185416" cy="384048"/>
          </a:xfrm>
          <a:prstGeom prst="rect">
            <a:avLst/>
          </a:prstGeom>
          <a:noFill/>
          <a:ln/>
        </p:spPr>
        <p:txBody>
          <a:bodyPr wrap="square" lIns="0" tIns="0" rIns="0" bIns="0" rtlCol="0" anchor="ctr"/>
          <a:lstStyle/>
          <a:p>
            <a:pPr indent="0" marL="0">
              <a:buNone/>
            </a:pPr>
            <a:r>
              <a:rPr lang="en-US" sz="1700" b="1" dirty="0">
                <a:solidFill>
                  <a:srgbClr val="0B1437"/>
                </a:solidFill>
                <a:latin typeface="Calibri" pitchFamily="34" charset="0"/>
                <a:ea typeface="Calibri" pitchFamily="34" charset="-122"/>
                <a:cs typeface="Calibri" pitchFamily="34" charset="-120"/>
              </a:rPr>
              <a:t>Bias in language models</a:t>
            </a:r>
            <a:endParaRPr lang="en-US" sz="1700" dirty="0"/>
          </a:p>
        </p:txBody>
      </p:sp>
      <p:sp>
        <p:nvSpPr>
          <p:cNvPr id="10" name="Text 6"/>
          <p:cNvSpPr/>
          <p:nvPr/>
        </p:nvSpPr>
        <p:spPr>
          <a:xfrm>
            <a:off x="1609344" y="2569464"/>
            <a:ext cx="2185416" cy="1920240"/>
          </a:xfrm>
          <a:prstGeom prst="rect">
            <a:avLst/>
          </a:prstGeom>
          <a:noFill/>
          <a:ln/>
        </p:spPr>
        <p:txBody>
          <a:bodyPr wrap="square" lIns="0" tIns="0" rIns="0" bIns="0" rtlCol="0" anchor="t"/>
          <a:lstStyle/>
          <a:p>
            <a:pPr indent="0" marL="0">
              <a:lnSpc>
                <a:spcPct val="112000"/>
              </a:lnSpc>
              <a:buNone/>
            </a:pPr>
            <a:r>
              <a:rPr lang="en-US" sz="1400" dirty="0">
                <a:solidFill>
                  <a:srgbClr val="5C6784"/>
                </a:solidFill>
                <a:latin typeface="Calibri" pitchFamily="34" charset="0"/>
                <a:ea typeface="Calibri" pitchFamily="34" charset="-122"/>
                <a:cs typeface="Calibri" pitchFamily="34" charset="-120"/>
              </a:rPr>
              <a:t>Training data shapes who the model serves well — and who it fails</a:t>
            </a:r>
            <a:endParaRPr lang="en-US" sz="1400" dirty="0"/>
          </a:p>
        </p:txBody>
      </p:sp>
      <p:sp>
        <p:nvSpPr>
          <p:cNvPr id="11" name="Shape 7"/>
          <p:cNvSpPr/>
          <p:nvPr/>
        </p:nvSpPr>
        <p:spPr>
          <a:xfrm>
            <a:off x="4297680" y="1874520"/>
            <a:ext cx="3520440" cy="2834640"/>
          </a:xfrm>
          <a:prstGeom prst="roundRect">
            <a:avLst>
              <a:gd name="adj" fmla="val 3871"/>
            </a:avLst>
          </a:prstGeom>
          <a:solidFill>
            <a:srgbClr val="F2F5FA"/>
          </a:solidFill>
          <a:ln w="12700">
            <a:solidFill>
              <a:srgbClr val="DCE3ED"/>
            </a:solidFill>
            <a:prstDash val="solid"/>
          </a:ln>
        </p:spPr>
      </p:sp>
      <p:sp>
        <p:nvSpPr>
          <p:cNvPr id="12" name="Shape 8"/>
          <p:cNvSpPr/>
          <p:nvPr/>
        </p:nvSpPr>
        <p:spPr>
          <a:xfrm>
            <a:off x="4590288" y="2185416"/>
            <a:ext cx="566928" cy="566928"/>
          </a:xfrm>
          <a:prstGeom prst="ellipse">
            <a:avLst/>
          </a:prstGeom>
          <a:solidFill>
            <a:srgbClr val="FFB703"/>
          </a:solidFill>
          <a:ln/>
        </p:spPr>
      </p:sp>
      <p:pic>
        <p:nvPicPr>
          <p:cNvPr id="13" name="Image 1" descr="assets/icons/news_w.png">    </p:cNvPr>
          <p:cNvPicPr>
            <a:picLocks noChangeAspect="1"/>
          </p:cNvPicPr>
          <p:nvPr/>
        </p:nvPicPr>
        <p:blipFill>
          <a:blip r:embed="rId2"/>
          <a:stretch>
            <a:fillRect/>
          </a:stretch>
        </p:blipFill>
        <p:spPr>
          <a:xfrm>
            <a:off x="4718304" y="2313432"/>
            <a:ext cx="310896" cy="310896"/>
          </a:xfrm>
          <a:prstGeom prst="rect">
            <a:avLst/>
          </a:prstGeom>
        </p:spPr>
      </p:pic>
      <p:sp>
        <p:nvSpPr>
          <p:cNvPr id="14" name="Text 9"/>
          <p:cNvSpPr/>
          <p:nvPr/>
        </p:nvSpPr>
        <p:spPr>
          <a:xfrm>
            <a:off x="5340096" y="2148840"/>
            <a:ext cx="2185416" cy="384048"/>
          </a:xfrm>
          <a:prstGeom prst="rect">
            <a:avLst/>
          </a:prstGeom>
          <a:noFill/>
          <a:ln/>
        </p:spPr>
        <p:txBody>
          <a:bodyPr wrap="square" lIns="0" tIns="0" rIns="0" bIns="0" rtlCol="0" anchor="ctr"/>
          <a:lstStyle/>
          <a:p>
            <a:pPr indent="0" marL="0">
              <a:buNone/>
            </a:pPr>
            <a:r>
              <a:rPr lang="en-US" sz="1700" b="1" dirty="0">
                <a:solidFill>
                  <a:srgbClr val="0B1437"/>
                </a:solidFill>
                <a:latin typeface="Calibri" pitchFamily="34" charset="0"/>
                <a:ea typeface="Calibri" pitchFamily="34" charset="-122"/>
                <a:cs typeface="Calibri" pitchFamily="34" charset="-120"/>
              </a:rPr>
              <a:t>Misinformation generation</a:t>
            </a:r>
            <a:endParaRPr lang="en-US" sz="1700" dirty="0"/>
          </a:p>
        </p:txBody>
      </p:sp>
      <p:sp>
        <p:nvSpPr>
          <p:cNvPr id="15" name="Text 10"/>
          <p:cNvSpPr/>
          <p:nvPr/>
        </p:nvSpPr>
        <p:spPr>
          <a:xfrm>
            <a:off x="5340096" y="2569464"/>
            <a:ext cx="2185416" cy="1920240"/>
          </a:xfrm>
          <a:prstGeom prst="rect">
            <a:avLst/>
          </a:prstGeom>
          <a:noFill/>
          <a:ln/>
        </p:spPr>
        <p:txBody>
          <a:bodyPr wrap="square" lIns="0" tIns="0" rIns="0" bIns="0" rtlCol="0" anchor="t"/>
          <a:lstStyle/>
          <a:p>
            <a:pPr indent="0" marL="0">
              <a:lnSpc>
                <a:spcPct val="112000"/>
              </a:lnSpc>
              <a:buNone/>
            </a:pPr>
            <a:r>
              <a:rPr lang="en-US" sz="1400" dirty="0">
                <a:solidFill>
                  <a:srgbClr val="5C6784"/>
                </a:solidFill>
                <a:latin typeface="Calibri" pitchFamily="34" charset="0"/>
                <a:ea typeface="Calibri" pitchFamily="34" charset="-122"/>
                <a:cs typeface="Calibri" pitchFamily="34" charset="-120"/>
              </a:rPr>
              <a:t>Fake articles and misleading reviews at scale</a:t>
            </a:r>
            <a:endParaRPr lang="en-US" sz="1400" dirty="0"/>
          </a:p>
        </p:txBody>
      </p:sp>
      <p:sp>
        <p:nvSpPr>
          <p:cNvPr id="16" name="Shape 11"/>
          <p:cNvSpPr/>
          <p:nvPr/>
        </p:nvSpPr>
        <p:spPr>
          <a:xfrm>
            <a:off x="8028432" y="1874520"/>
            <a:ext cx="3520440" cy="2834640"/>
          </a:xfrm>
          <a:prstGeom prst="roundRect">
            <a:avLst>
              <a:gd name="adj" fmla="val 3871"/>
            </a:avLst>
          </a:prstGeom>
          <a:solidFill>
            <a:srgbClr val="F2F5FA"/>
          </a:solidFill>
          <a:ln w="12700">
            <a:solidFill>
              <a:srgbClr val="DCE3ED"/>
            </a:solidFill>
            <a:prstDash val="solid"/>
          </a:ln>
        </p:spPr>
      </p:sp>
      <p:sp>
        <p:nvSpPr>
          <p:cNvPr id="17" name="Shape 12"/>
          <p:cNvSpPr/>
          <p:nvPr/>
        </p:nvSpPr>
        <p:spPr>
          <a:xfrm>
            <a:off x="8321040" y="2185416"/>
            <a:ext cx="566928" cy="566928"/>
          </a:xfrm>
          <a:prstGeom prst="ellipse">
            <a:avLst/>
          </a:prstGeom>
          <a:solidFill>
            <a:srgbClr val="2EC4B6"/>
          </a:solidFill>
          <a:ln/>
        </p:spPr>
      </p:sp>
      <p:pic>
        <p:nvPicPr>
          <p:cNvPr id="18" name="Image 2" descr="assets/icons/lock_w.png">    </p:cNvPr>
          <p:cNvPicPr>
            <a:picLocks noChangeAspect="1"/>
          </p:cNvPicPr>
          <p:nvPr/>
        </p:nvPicPr>
        <p:blipFill>
          <a:blip r:embed="rId3"/>
          <a:stretch>
            <a:fillRect/>
          </a:stretch>
        </p:blipFill>
        <p:spPr>
          <a:xfrm>
            <a:off x="8449056" y="2313432"/>
            <a:ext cx="310896" cy="310896"/>
          </a:xfrm>
          <a:prstGeom prst="rect">
            <a:avLst/>
          </a:prstGeom>
        </p:spPr>
      </p:pic>
      <p:sp>
        <p:nvSpPr>
          <p:cNvPr id="19" name="Text 13"/>
          <p:cNvSpPr/>
          <p:nvPr/>
        </p:nvSpPr>
        <p:spPr>
          <a:xfrm>
            <a:off x="9070848" y="2148840"/>
            <a:ext cx="2185416" cy="384048"/>
          </a:xfrm>
          <a:prstGeom prst="rect">
            <a:avLst/>
          </a:prstGeom>
          <a:noFill/>
          <a:ln/>
        </p:spPr>
        <p:txBody>
          <a:bodyPr wrap="square" lIns="0" tIns="0" rIns="0" bIns="0" rtlCol="0" anchor="ctr"/>
          <a:lstStyle/>
          <a:p>
            <a:pPr indent="0" marL="0">
              <a:buNone/>
            </a:pPr>
            <a:r>
              <a:rPr lang="en-US" sz="1700" b="1" dirty="0">
                <a:solidFill>
                  <a:srgbClr val="0B1437"/>
                </a:solidFill>
                <a:latin typeface="Calibri" pitchFamily="34" charset="0"/>
                <a:ea typeface="Calibri" pitchFamily="34" charset="-122"/>
                <a:cs typeface="Calibri" pitchFamily="34" charset="-120"/>
              </a:rPr>
              <a:t>Privacy concerns</a:t>
            </a:r>
            <a:endParaRPr lang="en-US" sz="1700" dirty="0"/>
          </a:p>
        </p:txBody>
      </p:sp>
      <p:sp>
        <p:nvSpPr>
          <p:cNvPr id="20" name="Text 14"/>
          <p:cNvSpPr/>
          <p:nvPr/>
        </p:nvSpPr>
        <p:spPr>
          <a:xfrm>
            <a:off x="9070848" y="2569464"/>
            <a:ext cx="2185416" cy="1920240"/>
          </a:xfrm>
          <a:prstGeom prst="rect">
            <a:avLst/>
          </a:prstGeom>
          <a:noFill/>
          <a:ln/>
        </p:spPr>
        <p:txBody>
          <a:bodyPr wrap="square" lIns="0" tIns="0" rIns="0" bIns="0" rtlCol="0" anchor="t"/>
          <a:lstStyle/>
          <a:p>
            <a:pPr indent="0" marL="0">
              <a:lnSpc>
                <a:spcPct val="112000"/>
              </a:lnSpc>
              <a:buNone/>
            </a:pPr>
            <a:r>
              <a:rPr lang="en-US" sz="1400" dirty="0">
                <a:solidFill>
                  <a:srgbClr val="5C6784"/>
                </a:solidFill>
                <a:latin typeface="Calibri" pitchFamily="34" charset="0"/>
                <a:ea typeface="Calibri" pitchFamily="34" charset="-122"/>
                <a:cs typeface="Calibri" pitchFamily="34" charset="-120"/>
              </a:rPr>
              <a:t>Medical records and private conversations are text too</a:t>
            </a:r>
            <a:endParaRPr lang="en-US" sz="1400" dirty="0"/>
          </a:p>
        </p:txBody>
      </p:sp>
      <p:sp>
        <p:nvSpPr>
          <p:cNvPr id="21" name="Shape 15"/>
          <p:cNvSpPr/>
          <p:nvPr/>
        </p:nvSpPr>
        <p:spPr>
          <a:xfrm>
            <a:off x="566928" y="5074920"/>
            <a:ext cx="11064240" cy="1005840"/>
          </a:xfrm>
          <a:prstGeom prst="roundRect">
            <a:avLst>
              <a:gd name="adj" fmla="val 10909"/>
            </a:avLst>
          </a:prstGeom>
          <a:solidFill>
            <a:srgbClr val="0B1437"/>
          </a:solidFill>
          <a:ln/>
        </p:spPr>
      </p:sp>
      <p:sp>
        <p:nvSpPr>
          <p:cNvPr id="22" name="Text 16"/>
          <p:cNvSpPr/>
          <p:nvPr/>
        </p:nvSpPr>
        <p:spPr>
          <a:xfrm>
            <a:off x="932688" y="5074920"/>
            <a:ext cx="10332720" cy="1005840"/>
          </a:xfrm>
          <a:prstGeom prst="rect">
            <a:avLst/>
          </a:prstGeom>
          <a:noFill/>
          <a:ln/>
        </p:spPr>
        <p:txBody>
          <a:bodyPr wrap="square" lIns="0" tIns="0" rIns="0" bIns="0" rtlCol="0" anchor="ctr"/>
          <a:lstStyle/>
          <a:p>
            <a:pPr indent="0" marL="0">
              <a:buNone/>
            </a:pPr>
            <a:r>
              <a:rPr lang="en-US" sz="2100" i="1" dirty="0">
                <a:solidFill>
                  <a:srgbClr val="FFFFFF"/>
                </a:solidFill>
                <a:latin typeface="Cambria" pitchFamily="34" charset="0"/>
                <a:ea typeface="Cambria" pitchFamily="34" charset="-122"/>
                <a:cs typeface="Cambria" pitchFamily="34" charset="-120"/>
              </a:rPr>
              <a:t>Ethics is no longer optional — it is central to the field.</a:t>
            </a:r>
            <a:endParaRPr lang="en-US" sz="2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B1437"/>
        </a:solidFill>
      </p:bgPr>
    </p:bg>
    <p:spTree>
      <p:nvGrpSpPr>
        <p:cNvPr id="1" name=""/>
        <p:cNvGrpSpPr/>
        <p:nvPr/>
      </p:nvGrpSpPr>
      <p:grpSpPr>
        <a:xfrm>
          <a:off x="0" y="0"/>
          <a:ext cx="0" cy="0"/>
          <a:chOff x="0" y="0"/>
          <a:chExt cx="0" cy="0"/>
        </a:xfrm>
      </p:grpSpPr>
      <p:sp>
        <p:nvSpPr>
          <p:cNvPr id="2" name="Text 0"/>
          <p:cNvSpPr/>
          <p:nvPr/>
        </p:nvSpPr>
        <p:spPr>
          <a:xfrm>
            <a:off x="566928" y="329184"/>
            <a:ext cx="8229600" cy="274320"/>
          </a:xfrm>
          <a:prstGeom prst="rect">
            <a:avLst/>
          </a:prstGeom>
          <a:noFill/>
          <a:ln/>
        </p:spPr>
        <p:txBody>
          <a:bodyPr wrap="square" lIns="0" tIns="0" rIns="0" bIns="0" rtlCol="0" anchor="ctr"/>
          <a:lstStyle/>
          <a:p>
            <a:pPr algn="l" indent="0" marL="0">
              <a:buNone/>
            </a:pPr>
            <a:r>
              <a:rPr lang="en-US" sz="1200" b="1" spc="200" kern="0" dirty="0">
                <a:solidFill>
                  <a:srgbClr val="2EC4B6"/>
                </a:solidFill>
                <a:latin typeface="Calibri" pitchFamily="34" charset="0"/>
                <a:ea typeface="Calibri" pitchFamily="34" charset="-122"/>
                <a:cs typeface="Calibri" pitchFamily="34" charset="-120"/>
              </a:rPr>
              <a:t>WRAPPING UP</a:t>
            </a:r>
            <a:endParaRPr lang="en-US" sz="1200" dirty="0"/>
          </a:p>
        </p:txBody>
      </p:sp>
      <p:sp>
        <p:nvSpPr>
          <p:cNvPr id="3" name="Text 1"/>
          <p:cNvSpPr/>
          <p:nvPr/>
        </p:nvSpPr>
        <p:spPr>
          <a:xfrm>
            <a:off x="566928" y="621792"/>
            <a:ext cx="10143439" cy="77724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Recap</a:t>
            </a:r>
            <a:endParaRPr lang="en-US" sz="3600" dirty="0"/>
          </a:p>
        </p:txBody>
      </p:sp>
      <p:sp>
        <p:nvSpPr>
          <p:cNvPr id="4" name="Text 2"/>
          <p:cNvSpPr/>
          <p:nvPr/>
        </p:nvSpPr>
        <p:spPr>
          <a:xfrm>
            <a:off x="10801807" y="310896"/>
            <a:ext cx="822960" cy="365760"/>
          </a:xfrm>
          <a:prstGeom prst="rect">
            <a:avLst/>
          </a:prstGeom>
          <a:noFill/>
          <a:ln/>
        </p:spPr>
        <p:txBody>
          <a:bodyPr wrap="square" lIns="0" tIns="0" rIns="0" bIns="0" rtlCol="0" anchor="ctr"/>
          <a:lstStyle/>
          <a:p>
            <a:pPr algn="r" indent="0" marL="0">
              <a:buNone/>
            </a:pPr>
            <a:r>
              <a:rPr lang="en-US" sz="1300" dirty="0">
                <a:solidFill>
                  <a:srgbClr val="5E6B96"/>
                </a:solidFill>
                <a:latin typeface="Calibri" pitchFamily="34" charset="0"/>
                <a:ea typeface="Calibri" pitchFamily="34" charset="-122"/>
                <a:cs typeface="Calibri" pitchFamily="34" charset="-120"/>
              </a:rPr>
              <a:t>24</a:t>
            </a:r>
            <a:endParaRPr lang="en-US" sz="1300" dirty="0"/>
          </a:p>
        </p:txBody>
      </p:sp>
      <p:sp>
        <p:nvSpPr>
          <p:cNvPr id="6" name="Shape 3"/>
          <p:cNvSpPr/>
          <p:nvPr/>
        </p:nvSpPr>
        <p:spPr>
          <a:xfrm>
            <a:off x="566928" y="1828800"/>
            <a:ext cx="5285232" cy="1664208"/>
          </a:xfrm>
          <a:prstGeom prst="roundRect">
            <a:avLst>
              <a:gd name="adj" fmla="val 6593"/>
            </a:avLst>
          </a:prstGeom>
          <a:solidFill>
            <a:srgbClr val="16204A"/>
          </a:solidFill>
          <a:ln w="12700">
            <a:solidFill>
              <a:srgbClr val="16204A"/>
            </a:solidFill>
            <a:prstDash val="solid"/>
          </a:ln>
        </p:spPr>
      </p:sp>
      <p:sp>
        <p:nvSpPr>
          <p:cNvPr id="7" name="Shape 4"/>
          <p:cNvSpPr/>
          <p:nvPr/>
        </p:nvSpPr>
        <p:spPr>
          <a:xfrm>
            <a:off x="859536" y="2139696"/>
            <a:ext cx="566928" cy="566928"/>
          </a:xfrm>
          <a:prstGeom prst="ellipse">
            <a:avLst/>
          </a:prstGeom>
          <a:solidFill>
            <a:srgbClr val="2EC4B6"/>
          </a:solidFill>
          <a:ln/>
        </p:spPr>
      </p:sp>
      <p:pic>
        <p:nvPicPr>
          <p:cNvPr id="8" name="Image 0" descr="assets/icons/brain_w.png">    </p:cNvPr>
          <p:cNvPicPr>
            <a:picLocks noChangeAspect="1"/>
          </p:cNvPicPr>
          <p:nvPr/>
        </p:nvPicPr>
        <p:blipFill>
          <a:blip r:embed="rId1"/>
          <a:stretch>
            <a:fillRect/>
          </a:stretch>
        </p:blipFill>
        <p:spPr>
          <a:xfrm>
            <a:off x="987552" y="2267712"/>
            <a:ext cx="310896" cy="310896"/>
          </a:xfrm>
          <a:prstGeom prst="rect">
            <a:avLst/>
          </a:prstGeom>
        </p:spPr>
      </p:pic>
      <p:sp>
        <p:nvSpPr>
          <p:cNvPr id="9" name="Text 5"/>
          <p:cNvSpPr/>
          <p:nvPr/>
        </p:nvSpPr>
        <p:spPr>
          <a:xfrm>
            <a:off x="1609344" y="2103120"/>
            <a:ext cx="3950208" cy="384048"/>
          </a:xfrm>
          <a:prstGeom prst="rect">
            <a:avLst/>
          </a:prstGeom>
          <a:noFill/>
          <a:ln/>
        </p:spPr>
        <p:txBody>
          <a:bodyPr wrap="square" lIns="0" tIns="0" rIns="0" bIns="0" rtlCol="0" anchor="ctr"/>
          <a:lstStyle/>
          <a:p>
            <a:pPr indent="0" marL="0">
              <a:buNone/>
            </a:pPr>
            <a:r>
              <a:rPr lang="en-US" sz="1750" b="1" dirty="0">
                <a:solidFill>
                  <a:srgbClr val="FFFFFF"/>
                </a:solidFill>
                <a:latin typeface="Calibri" pitchFamily="34" charset="0"/>
                <a:ea typeface="Calibri" pitchFamily="34" charset="-122"/>
                <a:cs typeface="Calibri" pitchFamily="34" charset="-120"/>
              </a:rPr>
              <a:t>NLP = AI + linguistics</a:t>
            </a:r>
            <a:endParaRPr lang="en-US" sz="1750" dirty="0"/>
          </a:p>
        </p:txBody>
      </p:sp>
      <p:sp>
        <p:nvSpPr>
          <p:cNvPr id="10" name="Text 6"/>
          <p:cNvSpPr/>
          <p:nvPr/>
        </p:nvSpPr>
        <p:spPr>
          <a:xfrm>
            <a:off x="1609344" y="2523744"/>
            <a:ext cx="3950208" cy="749808"/>
          </a:xfrm>
          <a:prstGeom prst="rect">
            <a:avLst/>
          </a:prstGeom>
          <a:noFill/>
          <a:ln/>
        </p:spPr>
        <p:txBody>
          <a:bodyPr wrap="square" lIns="0" tIns="0" rIns="0" bIns="0" rtlCol="0" anchor="t"/>
          <a:lstStyle/>
          <a:p>
            <a:pPr indent="0" marL="0">
              <a:lnSpc>
                <a:spcPct val="112000"/>
              </a:lnSpc>
              <a:buNone/>
            </a:pPr>
            <a:r>
              <a:rPr lang="en-US" sz="1350" dirty="0">
                <a:solidFill>
                  <a:srgbClr val="C3CBE0"/>
                </a:solidFill>
                <a:latin typeface="Calibri" pitchFamily="34" charset="0"/>
                <a:ea typeface="Calibri" pitchFamily="34" charset="-122"/>
                <a:cs typeface="Calibri" pitchFamily="34" charset="-120"/>
              </a:rPr>
              <a:t>Language understood at machine scale</a:t>
            </a:r>
            <a:endParaRPr lang="en-US" sz="1350" dirty="0"/>
          </a:p>
        </p:txBody>
      </p:sp>
      <p:sp>
        <p:nvSpPr>
          <p:cNvPr id="11" name="Shape 7"/>
          <p:cNvSpPr/>
          <p:nvPr/>
        </p:nvSpPr>
        <p:spPr>
          <a:xfrm>
            <a:off x="6355080" y="1828800"/>
            <a:ext cx="5285232" cy="1664208"/>
          </a:xfrm>
          <a:prstGeom prst="roundRect">
            <a:avLst>
              <a:gd name="adj" fmla="val 6593"/>
            </a:avLst>
          </a:prstGeom>
          <a:solidFill>
            <a:srgbClr val="16204A"/>
          </a:solidFill>
          <a:ln w="12700">
            <a:solidFill>
              <a:srgbClr val="16204A"/>
            </a:solidFill>
            <a:prstDash val="solid"/>
          </a:ln>
        </p:spPr>
      </p:sp>
      <p:sp>
        <p:nvSpPr>
          <p:cNvPr id="12" name="Shape 8"/>
          <p:cNvSpPr/>
          <p:nvPr/>
        </p:nvSpPr>
        <p:spPr>
          <a:xfrm>
            <a:off x="6647688" y="2139696"/>
            <a:ext cx="566928" cy="566928"/>
          </a:xfrm>
          <a:prstGeom prst="ellipse">
            <a:avLst/>
          </a:prstGeom>
          <a:solidFill>
            <a:srgbClr val="7C6BF2"/>
          </a:solidFill>
          <a:ln/>
        </p:spPr>
      </p:sp>
      <p:pic>
        <p:nvPicPr>
          <p:cNvPr id="13" name="Image 1" descr="assets/icons/chart_w.png">    </p:cNvPr>
          <p:cNvPicPr>
            <a:picLocks noChangeAspect="1"/>
          </p:cNvPicPr>
          <p:nvPr/>
        </p:nvPicPr>
        <p:blipFill>
          <a:blip r:embed="rId2"/>
          <a:stretch>
            <a:fillRect/>
          </a:stretch>
        </p:blipFill>
        <p:spPr>
          <a:xfrm>
            <a:off x="6775704" y="2267712"/>
            <a:ext cx="310896" cy="310896"/>
          </a:xfrm>
          <a:prstGeom prst="rect">
            <a:avLst/>
          </a:prstGeom>
        </p:spPr>
      </p:pic>
      <p:sp>
        <p:nvSpPr>
          <p:cNvPr id="14" name="Text 9"/>
          <p:cNvSpPr/>
          <p:nvPr/>
        </p:nvSpPr>
        <p:spPr>
          <a:xfrm>
            <a:off x="7397496" y="2103120"/>
            <a:ext cx="3950208" cy="384048"/>
          </a:xfrm>
          <a:prstGeom prst="rect">
            <a:avLst/>
          </a:prstGeom>
          <a:noFill/>
          <a:ln/>
        </p:spPr>
        <p:txBody>
          <a:bodyPr wrap="square" lIns="0" tIns="0" rIns="0" bIns="0" rtlCol="0" anchor="ctr"/>
          <a:lstStyle/>
          <a:p>
            <a:pPr indent="0" marL="0">
              <a:buNone/>
            </a:pPr>
            <a:r>
              <a:rPr lang="en-US" sz="1750" b="1" dirty="0">
                <a:solidFill>
                  <a:srgbClr val="FFFFFF"/>
                </a:solidFill>
                <a:latin typeface="Calibri" pitchFamily="34" charset="0"/>
                <a:ea typeface="Calibri" pitchFamily="34" charset="-122"/>
                <a:cs typeface="Calibri" pitchFamily="34" charset="-120"/>
              </a:rPr>
              <a:t>From rules → ML → Transformers</a:t>
            </a:r>
            <a:endParaRPr lang="en-US" sz="1750" dirty="0"/>
          </a:p>
        </p:txBody>
      </p:sp>
      <p:sp>
        <p:nvSpPr>
          <p:cNvPr id="15" name="Text 10"/>
          <p:cNvSpPr/>
          <p:nvPr/>
        </p:nvSpPr>
        <p:spPr>
          <a:xfrm>
            <a:off x="7397496" y="2523744"/>
            <a:ext cx="3950208" cy="749808"/>
          </a:xfrm>
          <a:prstGeom prst="rect">
            <a:avLst/>
          </a:prstGeom>
          <a:noFill/>
          <a:ln/>
        </p:spPr>
        <p:txBody>
          <a:bodyPr wrap="square" lIns="0" tIns="0" rIns="0" bIns="0" rtlCol="0" anchor="t"/>
          <a:lstStyle/>
          <a:p>
            <a:pPr indent="0" marL="0">
              <a:lnSpc>
                <a:spcPct val="112000"/>
              </a:lnSpc>
              <a:buNone/>
            </a:pPr>
            <a:r>
              <a:rPr lang="en-US" sz="1350" dirty="0">
                <a:solidFill>
                  <a:srgbClr val="C3CBE0"/>
                </a:solidFill>
                <a:latin typeface="Calibri" pitchFamily="34" charset="0"/>
                <a:ea typeface="Calibri" pitchFamily="34" charset="-122"/>
                <a:cs typeface="Calibri" pitchFamily="34" charset="-120"/>
              </a:rPr>
              <a:t>Three eras, each a step change</a:t>
            </a:r>
            <a:endParaRPr lang="en-US" sz="1350" dirty="0"/>
          </a:p>
        </p:txBody>
      </p:sp>
      <p:sp>
        <p:nvSpPr>
          <p:cNvPr id="16" name="Shape 11"/>
          <p:cNvSpPr/>
          <p:nvPr/>
        </p:nvSpPr>
        <p:spPr>
          <a:xfrm>
            <a:off x="566928" y="3703320"/>
            <a:ext cx="5285232" cy="1664208"/>
          </a:xfrm>
          <a:prstGeom prst="roundRect">
            <a:avLst>
              <a:gd name="adj" fmla="val 6593"/>
            </a:avLst>
          </a:prstGeom>
          <a:solidFill>
            <a:srgbClr val="16204A"/>
          </a:solidFill>
          <a:ln w="12700">
            <a:solidFill>
              <a:srgbClr val="16204A"/>
            </a:solidFill>
            <a:prstDash val="solid"/>
          </a:ln>
        </p:spPr>
      </p:sp>
      <p:sp>
        <p:nvSpPr>
          <p:cNvPr id="17" name="Shape 12"/>
          <p:cNvSpPr/>
          <p:nvPr/>
        </p:nvSpPr>
        <p:spPr>
          <a:xfrm>
            <a:off x="859536" y="4014216"/>
            <a:ext cx="566928" cy="566928"/>
          </a:xfrm>
          <a:prstGeom prst="ellipse">
            <a:avLst/>
          </a:prstGeom>
          <a:solidFill>
            <a:srgbClr val="FFB703"/>
          </a:solidFill>
          <a:ln/>
        </p:spPr>
      </p:sp>
      <p:pic>
        <p:nvPicPr>
          <p:cNvPr id="18" name="Image 2" descr="assets/icons/code_w.png">    </p:cNvPr>
          <p:cNvPicPr>
            <a:picLocks noChangeAspect="1"/>
          </p:cNvPicPr>
          <p:nvPr/>
        </p:nvPicPr>
        <p:blipFill>
          <a:blip r:embed="rId3"/>
          <a:stretch>
            <a:fillRect/>
          </a:stretch>
        </p:blipFill>
        <p:spPr>
          <a:xfrm>
            <a:off x="987552" y="4142232"/>
            <a:ext cx="310896" cy="310896"/>
          </a:xfrm>
          <a:prstGeom prst="rect">
            <a:avLst/>
          </a:prstGeom>
        </p:spPr>
      </p:pic>
      <p:sp>
        <p:nvSpPr>
          <p:cNvPr id="19" name="Text 13"/>
          <p:cNvSpPr/>
          <p:nvPr/>
        </p:nvSpPr>
        <p:spPr>
          <a:xfrm>
            <a:off x="1609344" y="3977640"/>
            <a:ext cx="3950208" cy="384048"/>
          </a:xfrm>
          <a:prstGeom prst="rect">
            <a:avLst/>
          </a:prstGeom>
          <a:noFill/>
          <a:ln/>
        </p:spPr>
        <p:txBody>
          <a:bodyPr wrap="square" lIns="0" tIns="0" rIns="0" bIns="0" rtlCol="0" anchor="ctr"/>
          <a:lstStyle/>
          <a:p>
            <a:pPr indent="0" marL="0">
              <a:buNone/>
            </a:pPr>
            <a:r>
              <a:rPr lang="en-US" sz="1750" b="1" dirty="0">
                <a:solidFill>
                  <a:srgbClr val="FFFFFF"/>
                </a:solidFill>
                <a:latin typeface="Calibri" pitchFamily="34" charset="0"/>
                <a:ea typeface="Calibri" pitchFamily="34" charset="-122"/>
                <a:cs typeface="Calibri" pitchFamily="34" charset="-120"/>
              </a:rPr>
              <a:t>Tools: NLTK, spaCy, Hugging Face</a:t>
            </a:r>
            <a:endParaRPr lang="en-US" sz="1750" dirty="0"/>
          </a:p>
        </p:txBody>
      </p:sp>
      <p:sp>
        <p:nvSpPr>
          <p:cNvPr id="20" name="Text 14"/>
          <p:cNvSpPr/>
          <p:nvPr/>
        </p:nvSpPr>
        <p:spPr>
          <a:xfrm>
            <a:off x="1609344" y="4398264"/>
            <a:ext cx="3950208" cy="749808"/>
          </a:xfrm>
          <a:prstGeom prst="rect">
            <a:avLst/>
          </a:prstGeom>
          <a:noFill/>
          <a:ln/>
        </p:spPr>
        <p:txBody>
          <a:bodyPr wrap="square" lIns="0" tIns="0" rIns="0" bIns="0" rtlCol="0" anchor="t"/>
          <a:lstStyle/>
          <a:p>
            <a:pPr indent="0" marL="0">
              <a:lnSpc>
                <a:spcPct val="112000"/>
              </a:lnSpc>
              <a:buNone/>
            </a:pPr>
            <a:r>
              <a:rPr lang="en-US" sz="1350" dirty="0">
                <a:solidFill>
                  <a:srgbClr val="C3CBE0"/>
                </a:solidFill>
                <a:latin typeface="Calibri" pitchFamily="34" charset="0"/>
                <a:ea typeface="Calibri" pitchFamily="34" charset="-122"/>
                <a:cs typeface="Calibri" pitchFamily="34" charset="-120"/>
              </a:rPr>
              <a:t>Learn, ship, and stand on pre-trained models</a:t>
            </a:r>
            <a:endParaRPr lang="en-US" sz="1350" dirty="0"/>
          </a:p>
        </p:txBody>
      </p:sp>
      <p:sp>
        <p:nvSpPr>
          <p:cNvPr id="21" name="Shape 15"/>
          <p:cNvSpPr/>
          <p:nvPr/>
        </p:nvSpPr>
        <p:spPr>
          <a:xfrm>
            <a:off x="6355080" y="3703320"/>
            <a:ext cx="5285232" cy="1664208"/>
          </a:xfrm>
          <a:prstGeom prst="roundRect">
            <a:avLst>
              <a:gd name="adj" fmla="val 6593"/>
            </a:avLst>
          </a:prstGeom>
          <a:solidFill>
            <a:srgbClr val="16204A"/>
          </a:solidFill>
          <a:ln w="12700">
            <a:solidFill>
              <a:srgbClr val="16204A"/>
            </a:solidFill>
            <a:prstDash val="solid"/>
          </a:ln>
        </p:spPr>
      </p:sp>
      <p:sp>
        <p:nvSpPr>
          <p:cNvPr id="22" name="Shape 16"/>
          <p:cNvSpPr/>
          <p:nvPr/>
        </p:nvSpPr>
        <p:spPr>
          <a:xfrm>
            <a:off x="6647688" y="4014216"/>
            <a:ext cx="566928" cy="566928"/>
          </a:xfrm>
          <a:prstGeom prst="ellipse">
            <a:avLst/>
          </a:prstGeom>
          <a:solidFill>
            <a:srgbClr val="EF476F"/>
          </a:solidFill>
          <a:ln/>
        </p:spPr>
      </p:sp>
      <p:pic>
        <p:nvPicPr>
          <p:cNvPr id="23" name="Image 3" descr="assets/icons/rocket_w.png">    </p:cNvPr>
          <p:cNvPicPr>
            <a:picLocks noChangeAspect="1"/>
          </p:cNvPicPr>
          <p:nvPr/>
        </p:nvPicPr>
        <p:blipFill>
          <a:blip r:embed="rId4"/>
          <a:stretch>
            <a:fillRect/>
          </a:stretch>
        </p:blipFill>
        <p:spPr>
          <a:xfrm>
            <a:off x="6775704" y="4142232"/>
            <a:ext cx="310896" cy="310896"/>
          </a:xfrm>
          <a:prstGeom prst="rect">
            <a:avLst/>
          </a:prstGeom>
        </p:spPr>
      </p:pic>
      <p:sp>
        <p:nvSpPr>
          <p:cNvPr id="24" name="Text 17"/>
          <p:cNvSpPr/>
          <p:nvPr/>
        </p:nvSpPr>
        <p:spPr>
          <a:xfrm>
            <a:off x="7397496" y="3977640"/>
            <a:ext cx="3950208" cy="384048"/>
          </a:xfrm>
          <a:prstGeom prst="rect">
            <a:avLst/>
          </a:prstGeom>
          <a:noFill/>
          <a:ln/>
        </p:spPr>
        <p:txBody>
          <a:bodyPr wrap="square" lIns="0" tIns="0" rIns="0" bIns="0" rtlCol="0" anchor="ctr"/>
          <a:lstStyle/>
          <a:p>
            <a:pPr indent="0" marL="0">
              <a:buNone/>
            </a:pPr>
            <a:r>
              <a:rPr lang="en-US" sz="1750" b="1" dirty="0">
                <a:solidFill>
                  <a:srgbClr val="FFFFFF"/>
                </a:solidFill>
                <a:latin typeface="Calibri" pitchFamily="34" charset="0"/>
                <a:ea typeface="Calibri" pitchFamily="34" charset="-122"/>
                <a:cs typeface="Calibri" pitchFamily="34" charset="-120"/>
              </a:rPr>
              <a:t>Real-world impact in many industries</a:t>
            </a:r>
            <a:endParaRPr lang="en-US" sz="1750" dirty="0"/>
          </a:p>
        </p:txBody>
      </p:sp>
      <p:sp>
        <p:nvSpPr>
          <p:cNvPr id="25" name="Text 18"/>
          <p:cNvSpPr/>
          <p:nvPr/>
        </p:nvSpPr>
        <p:spPr>
          <a:xfrm>
            <a:off x="7397496" y="4398264"/>
            <a:ext cx="3950208" cy="749808"/>
          </a:xfrm>
          <a:prstGeom prst="rect">
            <a:avLst/>
          </a:prstGeom>
          <a:noFill/>
          <a:ln/>
        </p:spPr>
        <p:txBody>
          <a:bodyPr wrap="square" lIns="0" tIns="0" rIns="0" bIns="0" rtlCol="0" anchor="t"/>
          <a:lstStyle/>
          <a:p>
            <a:pPr indent="0" marL="0">
              <a:lnSpc>
                <a:spcPct val="112000"/>
              </a:lnSpc>
              <a:buNone/>
            </a:pPr>
            <a:r>
              <a:rPr lang="en-US" sz="1350" dirty="0">
                <a:solidFill>
                  <a:srgbClr val="C3CBE0"/>
                </a:solidFill>
                <a:latin typeface="Calibri" pitchFamily="34" charset="0"/>
                <a:ea typeface="Calibri" pitchFamily="34" charset="-122"/>
                <a:cs typeface="Calibri" pitchFamily="34" charset="-120"/>
              </a:rPr>
              <a:t>Healthcare, finance, legal, marketing</a:t>
            </a:r>
            <a:endParaRPr lang="en-US" sz="1350" dirty="0"/>
          </a:p>
        </p:txBody>
      </p:sp>
      <p:sp>
        <p:nvSpPr>
          <p:cNvPr id="26" name="Text 19"/>
          <p:cNvSpPr/>
          <p:nvPr/>
        </p:nvSpPr>
        <p:spPr>
          <a:xfrm>
            <a:off x="566928" y="5715000"/>
            <a:ext cx="11064240" cy="457200"/>
          </a:xfrm>
          <a:prstGeom prst="rect">
            <a:avLst/>
          </a:prstGeom>
          <a:noFill/>
          <a:ln/>
        </p:spPr>
        <p:txBody>
          <a:bodyPr wrap="square" lIns="0" tIns="0" rIns="0" bIns="0" rtlCol="0" anchor="ctr"/>
          <a:lstStyle/>
          <a:p>
            <a:pPr indent="0" marL="0">
              <a:buNone/>
            </a:pPr>
            <a:r>
              <a:rPr lang="en-US" sz="1900" i="1" dirty="0">
                <a:solidFill>
                  <a:srgbClr val="2EC4B6"/>
                </a:solidFill>
                <a:latin typeface="Cambria" pitchFamily="34" charset="0"/>
                <a:ea typeface="Cambria" pitchFamily="34" charset="-122"/>
                <a:cs typeface="Cambria" pitchFamily="34" charset="-120"/>
              </a:rPr>
              <a:t>NLP helps us make sense of human language at scale.</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437"/>
        </a:solidFill>
      </p:bgPr>
    </p:bg>
    <p:spTree>
      <p:nvGrpSpPr>
        <p:cNvPr id="1" name=""/>
        <p:cNvGrpSpPr/>
        <p:nvPr/>
      </p:nvGrpSpPr>
      <p:grpSpPr>
        <a:xfrm>
          <a:off x="0" y="0"/>
          <a:ext cx="0" cy="0"/>
          <a:chOff x="0" y="0"/>
          <a:chExt cx="0" cy="0"/>
        </a:xfrm>
      </p:grpSpPr>
      <p:sp>
        <p:nvSpPr>
          <p:cNvPr id="2" name="Text 0"/>
          <p:cNvSpPr/>
          <p:nvPr/>
        </p:nvSpPr>
        <p:spPr>
          <a:xfrm>
            <a:off x="566928" y="1280160"/>
            <a:ext cx="7315200" cy="310896"/>
          </a:xfrm>
          <a:prstGeom prst="rect">
            <a:avLst/>
          </a:prstGeom>
          <a:noFill/>
          <a:ln/>
        </p:spPr>
        <p:txBody>
          <a:bodyPr wrap="square" lIns="0" tIns="0" rIns="0" bIns="0" rtlCol="0" anchor="ctr"/>
          <a:lstStyle/>
          <a:p>
            <a:pPr indent="0" marL="0">
              <a:buNone/>
            </a:pPr>
            <a:r>
              <a:rPr lang="en-US" sz="1300" b="1" spc="300" kern="0" dirty="0">
                <a:solidFill>
                  <a:srgbClr val="2EC4B6"/>
                </a:solidFill>
                <a:latin typeface="Calibri" pitchFamily="34" charset="0"/>
                <a:ea typeface="Calibri" pitchFamily="34" charset="-122"/>
                <a:cs typeface="Calibri" pitchFamily="34" charset="-120"/>
              </a:rPr>
              <a:t>HANDS-ON</a:t>
            </a:r>
            <a:endParaRPr lang="en-US" sz="1300" dirty="0"/>
          </a:p>
        </p:txBody>
      </p:sp>
      <p:sp>
        <p:nvSpPr>
          <p:cNvPr id="3" name="Text 1"/>
          <p:cNvSpPr/>
          <p:nvPr/>
        </p:nvSpPr>
        <p:spPr>
          <a:xfrm>
            <a:off x="566928" y="1691640"/>
            <a:ext cx="69494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Run every example yourself</a:t>
            </a:r>
            <a:endParaRPr lang="en-US" sz="4000" dirty="0"/>
          </a:p>
        </p:txBody>
      </p:sp>
      <p:sp>
        <p:nvSpPr>
          <p:cNvPr id="4" name="Text 2"/>
          <p:cNvSpPr/>
          <p:nvPr/>
        </p:nvSpPr>
        <p:spPr>
          <a:xfrm>
            <a:off x="566928" y="2606040"/>
            <a:ext cx="6035040" cy="822960"/>
          </a:xfrm>
          <a:prstGeom prst="rect">
            <a:avLst/>
          </a:prstGeom>
          <a:noFill/>
          <a:ln/>
        </p:spPr>
        <p:txBody>
          <a:bodyPr wrap="square" lIns="0" tIns="0" rIns="0" bIns="0" rtlCol="0" anchor="ctr"/>
          <a:lstStyle/>
          <a:p>
            <a:pPr indent="0" marL="0">
              <a:buNone/>
            </a:pPr>
            <a:r>
              <a:rPr lang="en-US" sz="1600" dirty="0">
                <a:solidFill>
                  <a:srgbClr val="C3CBE0"/>
                </a:solidFill>
                <a:latin typeface="Calibri" pitchFamily="34" charset="0"/>
                <a:ea typeface="Calibri" pitchFamily="34" charset="-122"/>
                <a:cs typeface="Calibri" pitchFamily="34" charset="-120"/>
              </a:rPr>
              <a:t>nlp_examples.ipynb — a companion notebook with the full, runnable version of every snippet in this deck.</a:t>
            </a:r>
            <a:endParaRPr lang="en-US" sz="1600" dirty="0"/>
          </a:p>
        </p:txBody>
      </p:sp>
      <p:sp>
        <p:nvSpPr>
          <p:cNvPr id="5" name="Shape 3"/>
          <p:cNvSpPr/>
          <p:nvPr/>
        </p:nvSpPr>
        <p:spPr>
          <a:xfrm>
            <a:off x="6858000" y="1417320"/>
            <a:ext cx="457200" cy="457200"/>
          </a:xfrm>
          <a:prstGeom prst="ellipse">
            <a:avLst/>
          </a:prstGeom>
          <a:solidFill>
            <a:srgbClr val="2EC4B6"/>
          </a:solidFill>
          <a:ln/>
        </p:spPr>
      </p:sp>
      <p:pic>
        <p:nvPicPr>
          <p:cNvPr id="6" name="Image 0" descr="assets/icons/book_w.png">    </p:cNvPr>
          <p:cNvPicPr>
            <a:picLocks noChangeAspect="1"/>
          </p:cNvPicPr>
          <p:nvPr/>
        </p:nvPicPr>
        <p:blipFill>
          <a:blip r:embed="rId1"/>
          <a:stretch>
            <a:fillRect/>
          </a:stretch>
        </p:blipFill>
        <p:spPr>
          <a:xfrm>
            <a:off x="6958584" y="1517904"/>
            <a:ext cx="256032" cy="256032"/>
          </a:xfrm>
          <a:prstGeom prst="rect">
            <a:avLst/>
          </a:prstGeom>
        </p:spPr>
      </p:pic>
      <p:sp>
        <p:nvSpPr>
          <p:cNvPr id="7" name="Text 4"/>
          <p:cNvSpPr/>
          <p:nvPr/>
        </p:nvSpPr>
        <p:spPr>
          <a:xfrm>
            <a:off x="7498080" y="1417320"/>
            <a:ext cx="4206240" cy="457200"/>
          </a:xfrm>
          <a:prstGeom prst="rect">
            <a:avLst/>
          </a:prstGeom>
          <a:noFill/>
          <a:ln/>
        </p:spPr>
        <p:txBody>
          <a:bodyPr wrap="square" lIns="0" tIns="0" rIns="0" bIns="0" rtlCol="0" anchor="ctr"/>
          <a:lstStyle/>
          <a:p>
            <a:pPr indent="0" marL="0">
              <a:buNone/>
            </a:pPr>
            <a:r>
              <a:rPr lang="en-US" sz="1450" dirty="0">
                <a:solidFill>
                  <a:srgbClr val="E3E9F5"/>
                </a:solidFill>
                <a:latin typeface="Calibri" pitchFamily="34" charset="0"/>
                <a:ea typeface="Calibri" pitchFamily="34" charset="-122"/>
                <a:cs typeface="Calibri" pitchFamily="34" charset="-120"/>
              </a:rPr>
              <a:t>1 · Setup &amp; installation</a:t>
            </a:r>
            <a:endParaRPr lang="en-US" sz="1450" dirty="0"/>
          </a:p>
        </p:txBody>
      </p:sp>
      <p:sp>
        <p:nvSpPr>
          <p:cNvPr id="8" name="Shape 5"/>
          <p:cNvSpPr/>
          <p:nvPr/>
        </p:nvSpPr>
        <p:spPr>
          <a:xfrm>
            <a:off x="6858000" y="2084832"/>
            <a:ext cx="457200" cy="457200"/>
          </a:xfrm>
          <a:prstGeom prst="ellipse">
            <a:avLst/>
          </a:prstGeom>
          <a:solidFill>
            <a:srgbClr val="7C6BF2"/>
          </a:solidFill>
          <a:ln/>
        </p:spPr>
      </p:sp>
      <p:pic>
        <p:nvPicPr>
          <p:cNvPr id="9" name="Image 1" descr="assets/icons/layers_w.png">    </p:cNvPr>
          <p:cNvPicPr>
            <a:picLocks noChangeAspect="1"/>
          </p:cNvPicPr>
          <p:nvPr/>
        </p:nvPicPr>
        <p:blipFill>
          <a:blip r:embed="rId2"/>
          <a:stretch>
            <a:fillRect/>
          </a:stretch>
        </p:blipFill>
        <p:spPr>
          <a:xfrm>
            <a:off x="6958584" y="2185416"/>
            <a:ext cx="256032" cy="256032"/>
          </a:xfrm>
          <a:prstGeom prst="rect">
            <a:avLst/>
          </a:prstGeom>
        </p:spPr>
      </p:pic>
      <p:sp>
        <p:nvSpPr>
          <p:cNvPr id="10" name="Text 6"/>
          <p:cNvSpPr/>
          <p:nvPr/>
        </p:nvSpPr>
        <p:spPr>
          <a:xfrm>
            <a:off x="7498080" y="2084832"/>
            <a:ext cx="4206240" cy="457200"/>
          </a:xfrm>
          <a:prstGeom prst="rect">
            <a:avLst/>
          </a:prstGeom>
          <a:noFill/>
          <a:ln/>
        </p:spPr>
        <p:txBody>
          <a:bodyPr wrap="square" lIns="0" tIns="0" rIns="0" bIns="0" rtlCol="0" anchor="ctr"/>
          <a:lstStyle/>
          <a:p>
            <a:pPr indent="0" marL="0">
              <a:buNone/>
            </a:pPr>
            <a:r>
              <a:rPr lang="en-US" sz="1450" dirty="0">
                <a:solidFill>
                  <a:srgbClr val="E3E9F5"/>
                </a:solidFill>
                <a:latin typeface="Calibri" pitchFamily="34" charset="0"/>
                <a:ea typeface="Calibri" pitchFamily="34" charset="-122"/>
                <a:cs typeface="Calibri" pitchFamily="34" charset="-120"/>
              </a:rPr>
              <a:t>2 · Tokenization, stop-words, lemmatization</a:t>
            </a:r>
            <a:endParaRPr lang="en-US" sz="1450" dirty="0"/>
          </a:p>
        </p:txBody>
      </p:sp>
      <p:sp>
        <p:nvSpPr>
          <p:cNvPr id="11" name="Shape 7"/>
          <p:cNvSpPr/>
          <p:nvPr/>
        </p:nvSpPr>
        <p:spPr>
          <a:xfrm>
            <a:off x="6858000" y="2752344"/>
            <a:ext cx="457200" cy="457200"/>
          </a:xfrm>
          <a:prstGeom prst="ellipse">
            <a:avLst/>
          </a:prstGeom>
          <a:solidFill>
            <a:srgbClr val="FFB703"/>
          </a:solidFill>
          <a:ln/>
        </p:spPr>
      </p:sp>
      <p:pic>
        <p:nvPicPr>
          <p:cNvPr id="12" name="Image 2" descr="assets/icons/chart_w.png">    </p:cNvPr>
          <p:cNvPicPr>
            <a:picLocks noChangeAspect="1"/>
          </p:cNvPicPr>
          <p:nvPr/>
        </p:nvPicPr>
        <p:blipFill>
          <a:blip r:embed="rId3"/>
          <a:stretch>
            <a:fillRect/>
          </a:stretch>
        </p:blipFill>
        <p:spPr>
          <a:xfrm>
            <a:off x="6958584" y="2852928"/>
            <a:ext cx="256032" cy="256032"/>
          </a:xfrm>
          <a:prstGeom prst="rect">
            <a:avLst/>
          </a:prstGeom>
        </p:spPr>
      </p:pic>
      <p:sp>
        <p:nvSpPr>
          <p:cNvPr id="13" name="Text 8"/>
          <p:cNvSpPr/>
          <p:nvPr/>
        </p:nvSpPr>
        <p:spPr>
          <a:xfrm>
            <a:off x="7498080" y="2752344"/>
            <a:ext cx="4206240" cy="457200"/>
          </a:xfrm>
          <a:prstGeom prst="rect">
            <a:avLst/>
          </a:prstGeom>
          <a:noFill/>
          <a:ln/>
        </p:spPr>
        <p:txBody>
          <a:bodyPr wrap="square" lIns="0" tIns="0" rIns="0" bIns="0" rtlCol="0" anchor="ctr"/>
          <a:lstStyle/>
          <a:p>
            <a:pPr indent="0" marL="0">
              <a:buNone/>
            </a:pPr>
            <a:r>
              <a:rPr lang="en-US" sz="1450" dirty="0">
                <a:solidFill>
                  <a:srgbClr val="E3E9F5"/>
                </a:solidFill>
                <a:latin typeface="Calibri" pitchFamily="34" charset="0"/>
                <a:ea typeface="Calibri" pitchFamily="34" charset="-122"/>
                <a:cs typeface="Calibri" pitchFamily="34" charset="-120"/>
              </a:rPr>
              <a:t>3 · BoW and TF-IDF from scratch</a:t>
            </a:r>
            <a:endParaRPr lang="en-US" sz="1450" dirty="0"/>
          </a:p>
        </p:txBody>
      </p:sp>
      <p:sp>
        <p:nvSpPr>
          <p:cNvPr id="14" name="Shape 9"/>
          <p:cNvSpPr/>
          <p:nvPr/>
        </p:nvSpPr>
        <p:spPr>
          <a:xfrm>
            <a:off x="6858000" y="3419856"/>
            <a:ext cx="457200" cy="457200"/>
          </a:xfrm>
          <a:prstGeom prst="ellipse">
            <a:avLst/>
          </a:prstGeom>
          <a:solidFill>
            <a:srgbClr val="EF476F"/>
          </a:solidFill>
          <a:ln/>
        </p:spPr>
      </p:sp>
      <p:pic>
        <p:nvPicPr>
          <p:cNvPr id="15" name="Image 3" descr="assets/icons/smile_w.png">    </p:cNvPr>
          <p:cNvPicPr>
            <a:picLocks noChangeAspect="1"/>
          </p:cNvPicPr>
          <p:nvPr/>
        </p:nvPicPr>
        <p:blipFill>
          <a:blip r:embed="rId4"/>
          <a:stretch>
            <a:fillRect/>
          </a:stretch>
        </p:blipFill>
        <p:spPr>
          <a:xfrm>
            <a:off x="6958584" y="3520440"/>
            <a:ext cx="256032" cy="256032"/>
          </a:xfrm>
          <a:prstGeom prst="rect">
            <a:avLst/>
          </a:prstGeom>
        </p:spPr>
      </p:pic>
      <p:sp>
        <p:nvSpPr>
          <p:cNvPr id="16" name="Text 10"/>
          <p:cNvSpPr/>
          <p:nvPr/>
        </p:nvSpPr>
        <p:spPr>
          <a:xfrm>
            <a:off x="7498080" y="3419856"/>
            <a:ext cx="4206240" cy="457200"/>
          </a:xfrm>
          <a:prstGeom prst="rect">
            <a:avLst/>
          </a:prstGeom>
          <a:noFill/>
          <a:ln/>
        </p:spPr>
        <p:txBody>
          <a:bodyPr wrap="square" lIns="0" tIns="0" rIns="0" bIns="0" rtlCol="0" anchor="ctr"/>
          <a:lstStyle/>
          <a:p>
            <a:pPr indent="0" marL="0">
              <a:buNone/>
            </a:pPr>
            <a:r>
              <a:rPr lang="en-US" sz="1450" dirty="0">
                <a:solidFill>
                  <a:srgbClr val="E3E9F5"/>
                </a:solidFill>
                <a:latin typeface="Calibri" pitchFamily="34" charset="0"/>
                <a:ea typeface="Calibri" pitchFamily="34" charset="-122"/>
                <a:cs typeface="Calibri" pitchFamily="34" charset="-120"/>
              </a:rPr>
              <a:t>4 · Sentiment analysis: VADER, sklearn, transformers</a:t>
            </a:r>
            <a:endParaRPr lang="en-US" sz="1450" dirty="0"/>
          </a:p>
        </p:txBody>
      </p:sp>
      <p:sp>
        <p:nvSpPr>
          <p:cNvPr id="17" name="Shape 11"/>
          <p:cNvSpPr/>
          <p:nvPr/>
        </p:nvSpPr>
        <p:spPr>
          <a:xfrm>
            <a:off x="6858000" y="4087368"/>
            <a:ext cx="457200" cy="457200"/>
          </a:xfrm>
          <a:prstGeom prst="ellipse">
            <a:avLst/>
          </a:prstGeom>
          <a:solidFill>
            <a:srgbClr val="2EC4B6"/>
          </a:solidFill>
          <a:ln/>
        </p:spPr>
      </p:sp>
      <p:pic>
        <p:nvPicPr>
          <p:cNvPr id="18" name="Image 4" descr="assets/icons/usertag_w.png">    </p:cNvPr>
          <p:cNvPicPr>
            <a:picLocks noChangeAspect="1"/>
          </p:cNvPicPr>
          <p:nvPr/>
        </p:nvPicPr>
        <p:blipFill>
          <a:blip r:embed="rId5"/>
          <a:stretch>
            <a:fillRect/>
          </a:stretch>
        </p:blipFill>
        <p:spPr>
          <a:xfrm>
            <a:off x="6958584" y="4187952"/>
            <a:ext cx="256032" cy="256032"/>
          </a:xfrm>
          <a:prstGeom prst="rect">
            <a:avLst/>
          </a:prstGeom>
        </p:spPr>
      </p:pic>
      <p:sp>
        <p:nvSpPr>
          <p:cNvPr id="19" name="Text 12"/>
          <p:cNvSpPr/>
          <p:nvPr/>
        </p:nvSpPr>
        <p:spPr>
          <a:xfrm>
            <a:off x="7498080" y="4087368"/>
            <a:ext cx="4206240" cy="457200"/>
          </a:xfrm>
          <a:prstGeom prst="rect">
            <a:avLst/>
          </a:prstGeom>
          <a:noFill/>
          <a:ln/>
        </p:spPr>
        <p:txBody>
          <a:bodyPr wrap="square" lIns="0" tIns="0" rIns="0" bIns="0" rtlCol="0" anchor="ctr"/>
          <a:lstStyle/>
          <a:p>
            <a:pPr indent="0" marL="0">
              <a:buNone/>
            </a:pPr>
            <a:r>
              <a:rPr lang="en-US" sz="1450" dirty="0">
                <a:solidFill>
                  <a:srgbClr val="E3E9F5"/>
                </a:solidFill>
                <a:latin typeface="Calibri" pitchFamily="34" charset="0"/>
                <a:ea typeface="Calibri" pitchFamily="34" charset="-122"/>
                <a:cs typeface="Calibri" pitchFamily="34" charset="-120"/>
              </a:rPr>
              <a:t>5 · Named entity recognition with spaCy</a:t>
            </a:r>
            <a:endParaRPr lang="en-US" sz="1450" dirty="0"/>
          </a:p>
        </p:txBody>
      </p:sp>
      <p:sp>
        <p:nvSpPr>
          <p:cNvPr id="20" name="Shape 13"/>
          <p:cNvSpPr/>
          <p:nvPr/>
        </p:nvSpPr>
        <p:spPr>
          <a:xfrm>
            <a:off x="6858000" y="4754880"/>
            <a:ext cx="457200" cy="457200"/>
          </a:xfrm>
          <a:prstGeom prst="ellipse">
            <a:avLst/>
          </a:prstGeom>
          <a:solidFill>
            <a:srgbClr val="7C6BF2"/>
          </a:solidFill>
          <a:ln/>
        </p:spPr>
      </p:sp>
      <p:pic>
        <p:nvPicPr>
          <p:cNvPr id="21" name="Image 5" descr="assets/icons/bolt_w.png">    </p:cNvPr>
          <p:cNvPicPr>
            <a:picLocks noChangeAspect="1"/>
          </p:cNvPicPr>
          <p:nvPr/>
        </p:nvPicPr>
        <p:blipFill>
          <a:blip r:embed="rId6"/>
          <a:stretch>
            <a:fillRect/>
          </a:stretch>
        </p:blipFill>
        <p:spPr>
          <a:xfrm>
            <a:off x="6958584" y="4855464"/>
            <a:ext cx="256032" cy="256032"/>
          </a:xfrm>
          <a:prstGeom prst="rect">
            <a:avLst/>
          </a:prstGeom>
        </p:spPr>
      </p:pic>
      <p:sp>
        <p:nvSpPr>
          <p:cNvPr id="22" name="Text 14"/>
          <p:cNvSpPr/>
          <p:nvPr/>
        </p:nvSpPr>
        <p:spPr>
          <a:xfrm>
            <a:off x="7498080" y="4754880"/>
            <a:ext cx="4206240" cy="457200"/>
          </a:xfrm>
          <a:prstGeom prst="rect">
            <a:avLst/>
          </a:prstGeom>
          <a:noFill/>
          <a:ln/>
        </p:spPr>
        <p:txBody>
          <a:bodyPr wrap="square" lIns="0" tIns="0" rIns="0" bIns="0" rtlCol="0" anchor="ctr"/>
          <a:lstStyle/>
          <a:p>
            <a:pPr indent="0" marL="0">
              <a:buNone/>
            </a:pPr>
            <a:r>
              <a:rPr lang="en-US" sz="1450" dirty="0">
                <a:solidFill>
                  <a:srgbClr val="E3E9F5"/>
                </a:solidFill>
                <a:latin typeface="Calibri" pitchFamily="34" charset="0"/>
                <a:ea typeface="Calibri" pitchFamily="34" charset="-122"/>
                <a:cs typeface="Calibri" pitchFamily="34" charset="-120"/>
              </a:rPr>
              <a:t>6 · NLTK vs spaCy speed benchmark</a:t>
            </a:r>
            <a:endParaRPr lang="en-US" sz="1450" dirty="0"/>
          </a:p>
        </p:txBody>
      </p:sp>
      <p:sp>
        <p:nvSpPr>
          <p:cNvPr id="23" name="Shape 15"/>
          <p:cNvSpPr/>
          <p:nvPr/>
        </p:nvSpPr>
        <p:spPr>
          <a:xfrm>
            <a:off x="6858000" y="5422392"/>
            <a:ext cx="457200" cy="457200"/>
          </a:xfrm>
          <a:prstGeom prst="ellipse">
            <a:avLst/>
          </a:prstGeom>
          <a:solidFill>
            <a:srgbClr val="FFB703"/>
          </a:solidFill>
          <a:ln/>
        </p:spPr>
      </p:sp>
      <p:pic>
        <p:nvPicPr>
          <p:cNvPr id="24" name="Image 6" descr="assets/icons/brain_w.png">    </p:cNvPr>
          <p:cNvPicPr>
            <a:picLocks noChangeAspect="1"/>
          </p:cNvPicPr>
          <p:nvPr/>
        </p:nvPicPr>
        <p:blipFill>
          <a:blip r:embed="rId7"/>
          <a:stretch>
            <a:fillRect/>
          </a:stretch>
        </p:blipFill>
        <p:spPr>
          <a:xfrm>
            <a:off x="6958584" y="5522976"/>
            <a:ext cx="256032" cy="256032"/>
          </a:xfrm>
          <a:prstGeom prst="rect">
            <a:avLst/>
          </a:prstGeom>
        </p:spPr>
      </p:pic>
      <p:sp>
        <p:nvSpPr>
          <p:cNvPr id="25" name="Text 16"/>
          <p:cNvSpPr/>
          <p:nvPr/>
        </p:nvSpPr>
        <p:spPr>
          <a:xfrm>
            <a:off x="7498080" y="5422392"/>
            <a:ext cx="4206240" cy="457200"/>
          </a:xfrm>
          <a:prstGeom prst="rect">
            <a:avLst/>
          </a:prstGeom>
          <a:noFill/>
          <a:ln/>
        </p:spPr>
        <p:txBody>
          <a:bodyPr wrap="square" lIns="0" tIns="0" rIns="0" bIns="0" rtlCol="0" anchor="ctr"/>
          <a:lstStyle/>
          <a:p>
            <a:pPr indent="0" marL="0">
              <a:buNone/>
            </a:pPr>
            <a:r>
              <a:rPr lang="en-US" sz="1450" dirty="0">
                <a:solidFill>
                  <a:srgbClr val="E3E9F5"/>
                </a:solidFill>
                <a:latin typeface="Calibri" pitchFamily="34" charset="0"/>
                <a:ea typeface="Calibri" pitchFamily="34" charset="-122"/>
                <a:cs typeface="Calibri" pitchFamily="34" charset="-120"/>
              </a:rPr>
              <a:t>7 · Embeddings &amp; contextual vectors</a:t>
            </a:r>
            <a:endParaRPr lang="en-US" sz="1450" dirty="0"/>
          </a:p>
        </p:txBody>
      </p:sp>
      <p:sp>
        <p:nvSpPr>
          <p:cNvPr id="26" name="Text 17"/>
          <p:cNvSpPr/>
          <p:nvPr/>
        </p:nvSpPr>
        <p:spPr>
          <a:xfrm>
            <a:off x="566928" y="5394960"/>
            <a:ext cx="6035040" cy="548640"/>
          </a:xfrm>
          <a:prstGeom prst="rect">
            <a:avLst/>
          </a:prstGeom>
          <a:noFill/>
          <a:ln/>
        </p:spPr>
        <p:txBody>
          <a:bodyPr wrap="square" lIns="0" tIns="0" rIns="0" bIns="0" rtlCol="0" anchor="ctr"/>
          <a:lstStyle/>
          <a:p>
            <a:pPr indent="0" marL="0">
              <a:buNone/>
            </a:pPr>
            <a:r>
              <a:rPr lang="en-US" sz="2600" b="1" dirty="0">
                <a:solidFill>
                  <a:srgbClr val="2EC4B6"/>
                </a:solidFill>
                <a:latin typeface="Cambria" pitchFamily="34" charset="0"/>
                <a:ea typeface="Cambria" pitchFamily="34" charset="-122"/>
                <a:cs typeface="Cambria" pitchFamily="34" charset="-120"/>
              </a:rPr>
              <a:t>Thank you  ·  Questions?</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NLP</dc:title>
  <dc:subject>PptxGenJS Presentation</dc:subject>
  <dc:creator>Mohammad Azam</dc:creator>
  <cp:lastModifiedBy>Mohammad Azam</cp:lastModifiedBy>
  <cp:revision>1</cp:revision>
  <dcterms:created xsi:type="dcterms:W3CDTF">2026-07-22T22:01:18Z</dcterms:created>
  <dcterms:modified xsi:type="dcterms:W3CDTF">2026-07-22T22:01:18Z</dcterms:modified>
</cp:coreProperties>
</file>